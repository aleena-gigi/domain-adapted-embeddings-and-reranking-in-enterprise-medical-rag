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0:00-0:20]
Good afternoon. We're presenting a domain adaptation study on the retrieval component of a clinical retrieval-augmented generation system.
The one-sentence version: retrieval models are almost always evaluated on retrieval metrics alone. We asked whether those gains survive downstream — whether a better retriever produces a more trustworthy generated answer — with the generator deliberately frozen so it cannot account for any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0:20-0:35]
Briefly, the structure. I'll cover the introduction and the data — that's sections one and two, including the quality problems we had to solve before any training could happen.
[Name 2] takes methodology, sections three, and [Name 3] takes evaluation design, results, and our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0:35-1:10]
Here's the concrete failure mode. Our production system retrieves over clinical documentation. That text is full of abbreviations and named instruments — TEVAR, NIHSS, Clavien-Dindo grades, the Nurick scale.
An embedding model trained on general web text has no real representation for these. It falls back on surface-level lexical similarity, so it retrieves passages that look alike rather than passages that mean the same thing.
That matters because our users are clinical support staff. A near-miss passage doesn't produce a blank answer — it produces a confident, wrong one.
This is a mechanism we can test, not just assert. We'll come back to it in error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1:10-1:40]
Two parts. Part one is table stakes: fine-tuning on in-domain data should improve retrieval metrics. Prior work says it does, and we'd be worried if it didn't.
Part two is the actual contribution. Does that gain survive the trip downstream into answer quality?
The design point that makes this answerable is that we freeze the generator — gemma4, same weights, same prompt template byte-for-byte, same decoding parameters, same query subset across every configuration. The only variable in the entire system is which passages get retrieved.
So if faithfulness moves, retrieval is the only thing that could have moved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1:40-2:10]
Our data is the MedEmbed triplet set — Apache 2.0, generated by LLaMA 3.1 70B over PubMed Central clinical notes.
One correction we had to make to our own early draft: the headline number is 232,000 triplet rows, but those collapse to 21,689 unique queries against 27,590 passages. Every number we report uses the unique-query count, because treating triplets as independent examples would overstate our dataset by an order of magnitude.
The length plots drove a real engineering decision. Median passage is 23 tokens, and the tail dies well before our 320-token cap — so the base model's 8192-token window is almost entirely wasted memory. We spent that memory on batch size instead, which is what contrastive training actually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2:10-2:40]
Two things here that shaped how we read every later baseline.
Top left: this is not a natural-question dataset. Four out of five queries are keyword-style — "thyroid nodule symptoms" — with a median of five tokens. That's much closer to how our actual users search than a well-formed question benchmark would be.
Bottom left is the one I'd flag. This is how much of each query's vocabulary literally appears in its own gold passage. The mean is only a third — and that tall bar at zero is roughly four thousand queries that share no tokens at all with the passage they're supposed to retrieve. BM25 structurally cannot find those. That's the honest case for a dense retriever, and it's why BM25 is in our table as a real competitor rather than a straw man.
On the right, corpus coverage is broad across body systems, which matters for claiming this generalizes within clinical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2:40-3:20]
Three defects, and all three would have degraded training silently.
First, anaphoric queries — "what was the outcome of the patient's treatment?" No unique correct answer, so it's noise in training and invalid as an eval item. That's 2,214 queries dropped. The number I'd point at is the green bar: 1,643 queries do mention the patient but also name a clinical entity, so the second clause of our rule keeps them. Without that clause we'd have thrown away "what was the patient's NIHSS score?", which is perfectly retrievable.
Second, false negatives. The middle plot is reuse — a single generic passage serves 307 distinct queries. That's filler, not a negative.
Third, degenerate positives with essentially no content.
One thing to be straight about: the precision and recall panel on the left is still blank. Our hand validation is a hundred labels we have sampled but not yet finished, and until it is done we are reporting the filter's removal rate without its error rate. That is an open item, not a finished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3:20-3:55]
This is the part I'd want a technical reviewer to push on, so let me pre-empt it.
We scored all 198,000 query-negative pairs with the stock encoder. The distribution is smooth and unimodal — there's no natural elbow to cut on. So rather than pick a round number, we read actual samples banded by similarity.
Below about 0.66 you get a genuine mix. Between 0.70 and 0.74 it's almost entirely generic follow-up boilerplate. Above 0.78 it's unambiguous — the worst pair we found scores 0.910, where the "negative" is a near-paraphrase of the query itself.
We set the threshold at 0.71. It drops one percent of pairs.
And we report the limitation: this filter's recall is poor. A clearly relevant pair scores 0.633, sitting mid-distribution. Cosine similarity separates generic from specific much better than it separates relevant from irrelevant — which is why we report the reuse statistic alongside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3:55-4:25]
Briefly on experimental hygiene, because everything downstream depends on it.
We partition passages — not queries — 80/10/10, and each query inherits the partition of its gold passage. Then we strip every training negative that points into validation or test and re-mine replacements from train only. That re-mining is capped at the same 0.71 threshold, because top-k mining is exactly where false negatives live and we'd have quietly reintroduced what we just removed.
The subtle one is near-duplicates. A paraphrased query straddling splits is leakage. We set that cut at 0.95, which is lower than intuition suggests — one of our queries matches its own lowercase form at only 0.934, because these queries are short and casing moves the embedding.
The audit raises an exception rather than warning, and it runs both in the build and in tests.
Over to [Name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4:25-4:35]
Thanks. I'll walk through the system and the two models we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4:35-5:15]
This is the pipeline. Teal is what we trained, dark is frozen, white is existing infrastructure we didn't touch.
A query hits dense retrieval against a Milvus collection — 1024 dimensions, cosine. Top candidates go to a cross-encoder reranker. The surviving top-k becomes context for gemma4, which is frozen. BM25 runs alongside as a lexical baseline, and the NLI judge scores the output.
Two engineering points a VP of Engineering would ask about. First, we kept the output dimension and the distance metric identical, so the fine-tuned model drops straight into the existing production collection contract — no migration. Second, reranking sits inside the access-control filter, so our tenant isolation guarantees are untouched.
Training is entirely offline. It never contends with the serving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5:15-5:50]
Experiment A is the retriever itself. We fine-tune bge-m3 — about 568 million parameters — using a cached multiple-negatives ranking loss.
The caching matters more than it sounds. For contrastive retrieval training, in-batch negatives are the dominant signal, so batch size drives quality. GradCache lets our effective batch reach 256 and beyond while the physical mini-batch stays small enough to fit in memory.
We cap sequence length at 320 tokens rather than the model's 8192, because our passages top out under a thousand characters — the rest is wasted memory we can spend on batch size instead.
And we select the best checkpoint by validation nDCG@10, never by final-epoch loss. Contrastive loss keeps dropping well past the point where retrieval quality stops improving.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5:50-6:20]
A note on optimization, since a reviewer will ask whether we just got lucky.
Because the dataset is small, an epoch is a few hundred steps — minutes per run. So there was no excuse for a single configuration. We swept learning rate, epoch count, and the number of hard negatives per query, selecting on validation nDCG@10.
[PASTE the actual best config and the spread here — state the winner, and state how much it beat the worst configuration by. If the spread is small, say so; that's a legitimate and useful finding.]
Every run writes a manifest with its config snapshot, git SHA, and seed, so any number in the paper traces back to the run that produced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6:20-6:55]
Experiment B is the reranker, and the interesting decision here is where its training negatives come from.
We deliberately throw away the negatives shipped with the dataset. Instead we run our fine-tuned retriever over the training split, take its top 30 to 50 results, and use the non-positives as negatives.
The reason is that a reranker never sees a random passage. It only ever sees passages the retriever already ranked highly. If you train it on easy negatives, you've taught it a decision boundary it will never actually encounter — and you'd measure a gain that evaporates in production.
Cross-encoders converge fast and overfit faster, so we early-stop aggressively on validation nDCG@10 — mid-epoch if it turns over.
[Name 3] will tell you whether any of this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6:55-7:05]
Thanks. Now the part that decides whether any of this was worth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7:05-7:40]
Six configurations, and each one exists to isolate a single variable.
Config 1 is BM25 — a lexical baseline that on clinical text may well beat a stock neural retriever, and if it does we report that. Config 2 is the stock model, our primary baseline. Config 3 is MedEmbed, prior art trained on this same data — that's our sanity check that the pipeline works.
Config 4 is Experiment A on its own. Config 6 is the full system.
Config 5 is the one I'd point a reviewer at: fine-tuned retriever with an off-the-shelf reranker. Without it, we could never say whether training the reranker bought us anything, or whether any reranker would have done.
Everything is measured on the full corpus so the distractor pool is identical, and adjacent configs are compared with a paired bootstrap.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7:40-8:20]
Tier 1 — in-domain retrieval, on the held-out test partition against the full corpus.
[PASTE the actual reading here. Structure it as three claims:
 1. Where the fine-tune lands relative to the two reference points — BM25 and MedEmbed. Landing near MedEmbed validates the pipeline; it isn't a competition and we shouldn't frame it as one.
 2. What config 5 to 6 buys — this is the number that justifies having trained a reranker at all. If it's marginal, say so plainly.
 3. Which deltas survive the paired bootstrap. Any delta that doesn't clear significance gets described as a wash, not as a small win.]
Two guardrails we set before seeing numbers: BM25 beating the stock neural model is expected and reportable, and the fine-tune landing near MedEmbed validates the pipeline rather than losing a 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8:20-8:50]
Tier 2 asks a question we could have avoided: does clinical-note adaptation transfer to a different medical genre, or did we just make a narrow model?
NFCorpus is abstract-level consumer health — 3,600 documents, 323 test queries. Different register, different vocabulary, genuinely external.
[PASTE the result and the size of the gap.]
We decided in advance that either answer is publishable. A smaller gain out of domain is the honest transfer story. What would be dishonest is reporting only the in-domain number and letting a reader assume it generalizes.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8:50-9:25]
Before I show faithfulness numbers, I want to be upfront about the trap in this metric, because it's the thing that could have invalidated our headline claim.
Faithfulness is the fraction of generated claims entailed by the retrieved context. But a model that says "the context doesn't contain this" is trivially 100% faithful. It said nothing, so nothing was ungrounded.
So there are two readings. If abstention goes down while faithfulness goes up, the model is answering more often and grounding more of what it says — that's a clean causal story. But if abstention goes up while faithfulness goes up, we haven't improved anything; the model just got more evasive.
We tracked abstention from the first run rather than discovering it at the end. That decision is the difference between a result and an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9:25-10:00]
Here's the faithfulness suite. Four metrics, and abstention is deliberately in the rightmost column highlighted, because it's the one that decides how to read the other three.
On the judge: we use a DeBERTa MNLI model, not an LLM. That's a deliberate choice — using an LLM to score LLM output means the generator effectively grades its own homework. We validated the entailment threshold against hand-labelled pairs and report Cohen's kappa, because an unvalidated judge cannot carry a headline claim and a reviewer will go straight there.
[PASTE the result. Critically: say which direction abstention moved, and name which of the two readings applies. If it's the null-in-disguise case, say so directly — that's still a finding, and hiding it would be the actual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10:00-10:40]
This scatter is the plot the whole project points at. Each configuration is a point: retrieval gain on one axis, faithfulness gain on the other. If that relationship is flat, then retrieval improvements are real but they aren't reaching the user — which would itself be worth knowing.
[PASTE the reading of the scatter.]
On the right is a concrete case, which is what makes the mechanism legible. [PASTE a real example from error analysis.] The stock retriever returns a lexical near-miss on an abbreviation it has no representation for, and the generator confidently answers from the wrong passage. The fine-tuned retriever returns the right one, and the same frozen model — identical prompt, identical decoding — produces a grounded answer.
That's the whole thesis in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10:40-11:10]
Four limitations we'd rather state than have found.
Our false-negative filter has good precision and poor recall.
Second, and this one is subtle: because near-duplicate queries straddling splits point at different gold passages, some test queries almost certainly have a second valid answer that our scoring counts as a miss. That understates absolute recall — equally for every configuration, so the comparison is safe, but the absolute numbers should be read as a floor.
Third, our queries are synthetic. The passages are real clinical text, but the information needs were modelled by a language model, not written by clinicians.
Fourth, faithfulness rests on one judge at one threshold. We report the agreement statistic so you can discount it appropriately.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 11:10-11:40]
To close.
Improving retrieval on domain text is the easy half, and we can point to the specific vocabulary where the gain comes from.
Whether that gain reaches the person reading the answer is a genuinely separate question, and we built the experiment so that abstention tells us whether we're looking at a real effect or an evasive model.
Everything we cut, we cut on evidence from the distribution rather than a round number, and every figure traces back to a run manifest with its config and git SHA.
And the whole thing drops into the existing production system without a migration — same dimension, same metric, same collection contract.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3F"/>
        </a:solidFill>
      </p:bgPr>
    </p:bg>
    <p:spTree>
      <p:nvGrpSpPr>
        <p:cNvPr id="1" name=""/>
        <p:cNvGrpSpPr/>
        <p:nvPr/>
      </p:nvGrpSpPr>
      <p:grpSpPr>
        <a:xfrm>
          <a:off x="0" y="0"/>
          <a:ext cx="0" cy="0"/>
          <a:chOff x="0" y="0"/>
          <a:chExt cx="0" cy="0"/>
        </a:xfrm>
      </p:grpSpPr>
      <p:sp>
        <p:nvSpPr>
          <p:cNvPr id="2" name="Text 0"/>
          <p:cNvSpPr/>
          <p:nvPr/>
        </p:nvSpPr>
        <p:spPr>
          <a:xfrm>
            <a:off x="914400" y="1143000"/>
            <a:ext cx="10058400" cy="1737360"/>
          </a:xfrm>
          <a:prstGeom prst="rect">
            <a:avLst/>
          </a:prstGeom>
          <a:noFill/>
          <a:ln/>
        </p:spPr>
        <p:txBody>
          <a:bodyPr wrap="square" lIns="0" tIns="0" rIns="0" bIns="0" rtlCol="0" anchor="ctr"/>
          <a:lstStyle/>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Domain-Adapted Retrieval</a:t>
            </a:r>
            <a:endParaRPr lang="en-US" sz="4200" dirty="0"/>
          </a:p>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for Clinical-Note RAG</a:t>
            </a:r>
            <a:endParaRPr lang="en-US" sz="4200" dirty="0"/>
          </a:p>
        </p:txBody>
      </p:sp>
      <p:sp>
        <p:nvSpPr>
          <p:cNvPr id="3" name="Text 1"/>
          <p:cNvSpPr/>
          <p:nvPr/>
        </p:nvSpPr>
        <p:spPr>
          <a:xfrm>
            <a:off x="914400" y="3017520"/>
            <a:ext cx="9601200" cy="822960"/>
          </a:xfrm>
          <a:prstGeom prst="rect">
            <a:avLst/>
          </a:prstGeom>
          <a:noFill/>
          <a:ln/>
        </p:spPr>
        <p:txBody>
          <a:bodyPr wrap="square" lIns="0" tIns="0" rIns="0" bIns="0" rtlCol="0" anchor="ctr"/>
          <a:lstStyle/>
          <a:p>
            <a:pPr indent="0" marL="0">
              <a:lnSpc>
                <a:spcPts val="2500"/>
              </a:lnSpc>
              <a:buNone/>
            </a:pPr>
            <a:r>
              <a:rPr lang="en-US" sz="1600" i="1" dirty="0">
                <a:solidFill>
                  <a:srgbClr val="AFC4CC"/>
                </a:solidFill>
                <a:latin typeface="Calibri" pitchFamily="34" charset="0"/>
                <a:ea typeface="Calibri" pitchFamily="34" charset="-122"/>
                <a:cs typeface="Calibri" pitchFamily="34" charset="-120"/>
              </a:rPr>
              <a:t>Does improved retrieval produce more faithful generated answers</a:t>
            </a:r>
            <a:endParaRPr lang="en-US" sz="1600" dirty="0"/>
          </a:p>
          <a:p>
            <a:pPr indent="0" marL="0">
              <a:lnSpc>
                <a:spcPts val="2500"/>
              </a:lnSpc>
              <a:buNone/>
            </a:pPr>
            <a:r>
              <a:rPr lang="en-US" sz="1600" i="1" dirty="0">
                <a:solidFill>
                  <a:srgbClr val="AFC4CC"/>
                </a:solidFill>
                <a:latin typeface="Calibri" pitchFamily="34" charset="0"/>
                <a:ea typeface="Calibri" pitchFamily="34" charset="-122"/>
                <a:cs typeface="Calibri" pitchFamily="34" charset="-120"/>
              </a:rPr>
              <a:t>when the generator is held constant?</a:t>
            </a:r>
            <a:endParaRPr lang="en-US" sz="1600" dirty="0"/>
          </a:p>
        </p:txBody>
      </p:sp>
      <p:sp>
        <p:nvSpPr>
          <p:cNvPr id="4" name="Text 2"/>
          <p:cNvSpPr/>
          <p:nvPr/>
        </p:nvSpPr>
        <p:spPr>
          <a:xfrm>
            <a:off x="914400" y="4343400"/>
            <a:ext cx="100584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[Name 1]   ·   [Name 2]   ·   [Name 3]</a:t>
            </a:r>
            <a:endParaRPr lang="en-US" sz="1500" dirty="0"/>
          </a:p>
        </p:txBody>
      </p:sp>
      <p:sp>
        <p:nvSpPr>
          <p:cNvPr id="5" name="Text 3"/>
          <p:cNvSpPr/>
          <p:nvPr/>
        </p:nvSpPr>
        <p:spPr>
          <a:xfrm>
            <a:off x="914400" y="4773168"/>
            <a:ext cx="10058400" cy="292608"/>
          </a:xfrm>
          <a:prstGeom prst="rect">
            <a:avLst/>
          </a:prstGeom>
          <a:noFill/>
          <a:ln/>
        </p:spPr>
        <p:txBody>
          <a:bodyPr wrap="square" lIns="0" tIns="0" rIns="0" bIns="0" rtlCol="0" anchor="ctr"/>
          <a:lstStyle/>
          <a:p>
            <a:pPr indent="0" marL="0">
              <a:buNone/>
            </a:pPr>
            <a:r>
              <a:rPr lang="en-US" sz="1300" dirty="0">
                <a:solidFill>
                  <a:srgbClr val="D6EAE9"/>
                </a:solidFill>
                <a:latin typeface="Calibri" pitchFamily="34" charset="0"/>
                <a:ea typeface="Calibri" pitchFamily="34" charset="-122"/>
                <a:cs typeface="Calibri" pitchFamily="34" charset="-120"/>
              </a:rPr>
              <a:t>University of California San Diego</a:t>
            </a:r>
            <a:endParaRPr lang="en-US" sz="1300" dirty="0"/>
          </a:p>
        </p:txBody>
      </p:sp>
      <p:sp>
        <p:nvSpPr>
          <p:cNvPr id="6" name="Text 4"/>
          <p:cNvSpPr/>
          <p:nvPr/>
        </p:nvSpPr>
        <p:spPr>
          <a:xfrm>
            <a:off x="914400" y="5102352"/>
            <a:ext cx="10058400" cy="292608"/>
          </a:xfrm>
          <a:prstGeom prst="rect">
            <a:avLst/>
          </a:prstGeom>
          <a:noFill/>
          <a:ln/>
        </p:spPr>
        <p:txBody>
          <a:bodyPr wrap="square" lIns="0" tIns="0" rIns="0" bIns="0" rtlCol="0" anchor="ctr"/>
          <a:lstStyle/>
          <a:p>
            <a:pPr indent="0" marL="0">
              <a:buNone/>
            </a:pPr>
            <a:r>
              <a:rPr lang="en-US" sz="1300" dirty="0">
                <a:solidFill>
                  <a:srgbClr val="8FA8B2"/>
                </a:solidFill>
                <a:latin typeface="Calibri" pitchFamily="34" charset="0"/>
                <a:ea typeface="Calibri" pitchFamily="34" charset="-122"/>
                <a:cs typeface="Calibri" pitchFamily="34" charset="-120"/>
              </a:rPr>
              <a:t>Applied Artificial Intelligence  —  Module 7 Capstone Project</a:t>
            </a:r>
            <a:endParaRPr lang="en-US" sz="1300" dirty="0"/>
          </a:p>
        </p:txBody>
      </p:sp>
      <p:sp>
        <p:nvSpPr>
          <p:cNvPr id="7" name="Text 5"/>
          <p:cNvSpPr/>
          <p:nvPr/>
        </p:nvSpPr>
        <p:spPr>
          <a:xfrm>
            <a:off x="914400" y="5431536"/>
            <a:ext cx="10058400" cy="292608"/>
          </a:xfrm>
          <a:prstGeom prst="rect">
            <a:avLst/>
          </a:prstGeom>
          <a:noFill/>
          <a:ln/>
        </p:spPr>
        <p:txBody>
          <a:bodyPr wrap="square" lIns="0" tIns="0" rIns="0" bIns="0" rtlCol="0" anchor="ctr"/>
          <a:lstStyle/>
          <a:p>
            <a:pPr indent="0" marL="0">
              <a:buNone/>
            </a:pPr>
            <a:r>
              <a:rPr lang="en-US" sz="1300" dirty="0">
                <a:solidFill>
                  <a:srgbClr val="8FA8B2"/>
                </a:solidFill>
                <a:latin typeface="Calibri" pitchFamily="34" charset="0"/>
                <a:ea typeface="Calibri" pitchFamily="34" charset="-122"/>
                <a:cs typeface="Calibri" pitchFamily="34" charset="-120"/>
              </a:rPr>
              <a:t>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2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OVERVIEW</a:t>
            </a:r>
            <a:endParaRPr lang="en-US" sz="1100" dirty="0"/>
          </a:p>
        </p:txBody>
      </p:sp>
      <p:sp>
        <p:nvSpPr>
          <p:cNvPr id="4" name="Text 2"/>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Presentation Outline</a:t>
            </a:r>
            <a:endParaRPr lang="en-US" sz="3400" dirty="0"/>
          </a:p>
        </p:txBody>
      </p:sp>
      <p:sp>
        <p:nvSpPr>
          <p:cNvPr id="5" name="Shape 3"/>
          <p:cNvSpPr/>
          <p:nvPr/>
        </p:nvSpPr>
        <p:spPr>
          <a:xfrm>
            <a:off x="640080" y="1682496"/>
            <a:ext cx="310896" cy="274320"/>
          </a:xfrm>
          <a:prstGeom prst="roundRect">
            <a:avLst>
              <a:gd name="adj" fmla="val 33333"/>
            </a:avLst>
          </a:prstGeom>
          <a:solidFill>
            <a:srgbClr val="0E7C7B"/>
          </a:solidFill>
          <a:ln w="12700">
            <a:solidFill>
              <a:srgbClr val="0E7C7B"/>
            </a:solidFill>
            <a:prstDash val="solid"/>
          </a:ln>
        </p:spPr>
      </p:sp>
      <p:sp>
        <p:nvSpPr>
          <p:cNvPr id="6" name="Text 4"/>
          <p:cNvSpPr/>
          <p:nvPr/>
        </p:nvSpPr>
        <p:spPr>
          <a:xfrm>
            <a:off x="640080" y="1682496"/>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097280" y="1636776"/>
            <a:ext cx="3291840" cy="365760"/>
          </a:xfrm>
          <a:prstGeom prst="rect">
            <a:avLst/>
          </a:prstGeom>
          <a:noFill/>
          <a:ln/>
        </p:spPr>
        <p:txBody>
          <a:bodyPr wrap="square" lIns="0" tIns="0" rIns="0" bIns="0" rtlCol="0" anchor="ctr"/>
          <a:lstStyle/>
          <a:p>
            <a:pPr indent="0" marL="0">
              <a:buNone/>
            </a:pPr>
            <a:r>
              <a:rPr lang="en-US" sz="1500" b="1" dirty="0">
                <a:solidFill>
                  <a:srgbClr val="12303F"/>
                </a:solidFill>
                <a:latin typeface="Cambria" pitchFamily="34" charset="0"/>
                <a:ea typeface="Cambria" pitchFamily="34" charset="-122"/>
                <a:cs typeface="Cambria" pitchFamily="34" charset="-120"/>
              </a:rPr>
              <a:t>Introduction</a:t>
            </a:r>
            <a:endParaRPr lang="en-US" sz="1500" dirty="0"/>
          </a:p>
        </p:txBody>
      </p:sp>
      <p:sp>
        <p:nvSpPr>
          <p:cNvPr id="8" name="Text 6"/>
          <p:cNvSpPr/>
          <p:nvPr/>
        </p:nvSpPr>
        <p:spPr>
          <a:xfrm>
            <a:off x="4480560" y="1673352"/>
            <a:ext cx="5486400" cy="365760"/>
          </a:xfrm>
          <a:prstGeom prst="rect">
            <a:avLst/>
          </a:prstGeom>
          <a:noFill/>
          <a:ln/>
        </p:spPr>
        <p:txBody>
          <a:bodyPr wrap="square" lIns="0" tIns="0" rIns="0" bIns="0" rtlCol="0" anchor="ctr"/>
          <a:lstStyle/>
          <a:p>
            <a:pPr indent="0" marL="0">
              <a:buNone/>
            </a:pPr>
            <a:r>
              <a:rPr lang="en-US" sz="1250" dirty="0">
                <a:solidFill>
                  <a:srgbClr val="5A6B73"/>
                </a:solidFill>
                <a:latin typeface="Calibri" pitchFamily="34" charset="0"/>
                <a:ea typeface="Calibri" pitchFamily="34" charset="-122"/>
                <a:cs typeface="Calibri" pitchFamily="34" charset="-120"/>
              </a:rPr>
              <a:t>Problem statement and research hypothesis</a:t>
            </a:r>
            <a:endParaRPr lang="en-US" sz="1250" dirty="0"/>
          </a:p>
        </p:txBody>
      </p:sp>
      <p:sp>
        <p:nvSpPr>
          <p:cNvPr id="9" name="Text 7"/>
          <p:cNvSpPr/>
          <p:nvPr/>
        </p:nvSpPr>
        <p:spPr>
          <a:xfrm>
            <a:off x="9966960" y="1673352"/>
            <a:ext cx="1554480" cy="365760"/>
          </a:xfrm>
          <a:prstGeom prst="rect">
            <a:avLst/>
          </a:prstGeom>
          <a:noFill/>
          <a:ln/>
        </p:spPr>
        <p:txBody>
          <a:bodyPr wrap="square" lIns="0" tIns="0" rIns="0" bIns="0" rtlCol="0" anchor="ctr"/>
          <a:lstStyle/>
          <a:p>
            <a:pPr algn="r" indent="0" marL="0">
              <a:buNone/>
            </a:pPr>
            <a:r>
              <a:rPr lang="en-US" sz="1150" i="1" dirty="0">
                <a:solidFill>
                  <a:srgbClr val="0E7C7B"/>
                </a:solidFill>
                <a:latin typeface="Calibri" pitchFamily="34" charset="0"/>
                <a:ea typeface="Calibri" pitchFamily="34" charset="-122"/>
                <a:cs typeface="Calibri" pitchFamily="34" charset="-120"/>
              </a:rPr>
              <a:t>Speaker 1</a:t>
            </a:r>
            <a:endParaRPr lang="en-US" sz="1150" dirty="0"/>
          </a:p>
        </p:txBody>
      </p:sp>
      <p:sp>
        <p:nvSpPr>
          <p:cNvPr id="10" name="Shape 8"/>
          <p:cNvSpPr/>
          <p:nvPr/>
        </p:nvSpPr>
        <p:spPr>
          <a:xfrm>
            <a:off x="640080" y="2340864"/>
            <a:ext cx="310896" cy="274320"/>
          </a:xfrm>
          <a:prstGeom prst="roundRect">
            <a:avLst>
              <a:gd name="adj" fmla="val 33333"/>
            </a:avLst>
          </a:prstGeom>
          <a:solidFill>
            <a:srgbClr val="0E7C7B"/>
          </a:solidFill>
          <a:ln w="12700">
            <a:solidFill>
              <a:srgbClr val="0E7C7B"/>
            </a:solidFill>
            <a:prstDash val="solid"/>
          </a:ln>
        </p:spPr>
      </p:sp>
      <p:sp>
        <p:nvSpPr>
          <p:cNvPr id="11" name="Text 9"/>
          <p:cNvSpPr/>
          <p:nvPr/>
        </p:nvSpPr>
        <p:spPr>
          <a:xfrm>
            <a:off x="640080" y="2340864"/>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1097280" y="2295144"/>
            <a:ext cx="3291840" cy="365760"/>
          </a:xfrm>
          <a:prstGeom prst="rect">
            <a:avLst/>
          </a:prstGeom>
          <a:noFill/>
          <a:ln/>
        </p:spPr>
        <p:txBody>
          <a:bodyPr wrap="square" lIns="0" tIns="0" rIns="0" bIns="0" rtlCol="0" anchor="ctr"/>
          <a:lstStyle/>
          <a:p>
            <a:pPr indent="0" marL="0">
              <a:buNone/>
            </a:pPr>
            <a:r>
              <a:rPr lang="en-US" sz="1500" b="1" dirty="0">
                <a:solidFill>
                  <a:srgbClr val="12303F"/>
                </a:solidFill>
                <a:latin typeface="Cambria" pitchFamily="34" charset="0"/>
                <a:ea typeface="Cambria" pitchFamily="34" charset="-122"/>
                <a:cs typeface="Cambria" pitchFamily="34" charset="-120"/>
              </a:rPr>
              <a:t>Data and Exploratory Analysis</a:t>
            </a:r>
            <a:endParaRPr lang="en-US" sz="1500" dirty="0"/>
          </a:p>
        </p:txBody>
      </p:sp>
      <p:sp>
        <p:nvSpPr>
          <p:cNvPr id="13" name="Text 11"/>
          <p:cNvSpPr/>
          <p:nvPr/>
        </p:nvSpPr>
        <p:spPr>
          <a:xfrm>
            <a:off x="4480560" y="2331720"/>
            <a:ext cx="5486400" cy="365760"/>
          </a:xfrm>
          <a:prstGeom prst="rect">
            <a:avLst/>
          </a:prstGeom>
          <a:noFill/>
          <a:ln/>
        </p:spPr>
        <p:txBody>
          <a:bodyPr wrap="square" lIns="0" tIns="0" rIns="0" bIns="0" rtlCol="0" anchor="ctr"/>
          <a:lstStyle/>
          <a:p>
            <a:pPr indent="0" marL="0">
              <a:buNone/>
            </a:pPr>
            <a:r>
              <a:rPr lang="en-US" sz="1250" dirty="0">
                <a:solidFill>
                  <a:srgbClr val="5A6B73"/>
                </a:solidFill>
                <a:latin typeface="Calibri" pitchFamily="34" charset="0"/>
                <a:ea typeface="Calibri" pitchFamily="34" charset="-122"/>
                <a:cs typeface="Calibri" pitchFamily="34" charset="-120"/>
              </a:rPr>
              <a:t>Dataset, corpus characteristics, quality assessment, partitioning</a:t>
            </a:r>
            <a:endParaRPr lang="en-US" sz="1250" dirty="0"/>
          </a:p>
        </p:txBody>
      </p:sp>
      <p:sp>
        <p:nvSpPr>
          <p:cNvPr id="14" name="Text 12"/>
          <p:cNvSpPr/>
          <p:nvPr/>
        </p:nvSpPr>
        <p:spPr>
          <a:xfrm>
            <a:off x="9966960" y="2331720"/>
            <a:ext cx="1554480" cy="365760"/>
          </a:xfrm>
          <a:prstGeom prst="rect">
            <a:avLst/>
          </a:prstGeom>
          <a:noFill/>
          <a:ln/>
        </p:spPr>
        <p:txBody>
          <a:bodyPr wrap="square" lIns="0" tIns="0" rIns="0" bIns="0" rtlCol="0" anchor="ctr"/>
          <a:lstStyle/>
          <a:p>
            <a:pPr algn="r" indent="0" marL="0">
              <a:buNone/>
            </a:pPr>
            <a:r>
              <a:rPr lang="en-US" sz="1150" i="1" dirty="0">
                <a:solidFill>
                  <a:srgbClr val="0E7C7B"/>
                </a:solidFill>
                <a:latin typeface="Calibri" pitchFamily="34" charset="0"/>
                <a:ea typeface="Calibri" pitchFamily="34" charset="-122"/>
                <a:cs typeface="Calibri" pitchFamily="34" charset="-120"/>
              </a:rPr>
              <a:t>Speaker 1</a:t>
            </a:r>
            <a:endParaRPr lang="en-US" sz="1150" dirty="0"/>
          </a:p>
        </p:txBody>
      </p:sp>
      <p:sp>
        <p:nvSpPr>
          <p:cNvPr id="15" name="Shape 13"/>
          <p:cNvSpPr/>
          <p:nvPr/>
        </p:nvSpPr>
        <p:spPr>
          <a:xfrm>
            <a:off x="640080" y="2999232"/>
            <a:ext cx="310896" cy="274320"/>
          </a:xfrm>
          <a:prstGeom prst="roundRect">
            <a:avLst>
              <a:gd name="adj" fmla="val 33333"/>
            </a:avLst>
          </a:prstGeom>
          <a:solidFill>
            <a:srgbClr val="4E7F86"/>
          </a:solidFill>
          <a:ln w="12700">
            <a:solidFill>
              <a:srgbClr val="4E7F86"/>
            </a:solidFill>
            <a:prstDash val="solid"/>
          </a:ln>
        </p:spPr>
      </p:sp>
      <p:sp>
        <p:nvSpPr>
          <p:cNvPr id="16" name="Text 14"/>
          <p:cNvSpPr/>
          <p:nvPr/>
        </p:nvSpPr>
        <p:spPr>
          <a:xfrm>
            <a:off x="640080" y="2999232"/>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1097280" y="2953512"/>
            <a:ext cx="3291840" cy="365760"/>
          </a:xfrm>
          <a:prstGeom prst="rect">
            <a:avLst/>
          </a:prstGeom>
          <a:noFill/>
          <a:ln/>
        </p:spPr>
        <p:txBody>
          <a:bodyPr wrap="square" lIns="0" tIns="0" rIns="0" bIns="0" rtlCol="0" anchor="ctr"/>
          <a:lstStyle/>
          <a:p>
            <a:pPr indent="0" marL="0">
              <a:buNone/>
            </a:pPr>
            <a:r>
              <a:rPr lang="en-US" sz="1500" b="1" dirty="0">
                <a:solidFill>
                  <a:srgbClr val="12303F"/>
                </a:solidFill>
                <a:latin typeface="Cambria" pitchFamily="34" charset="0"/>
                <a:ea typeface="Cambria" pitchFamily="34" charset="-122"/>
                <a:cs typeface="Cambria" pitchFamily="34" charset="-120"/>
              </a:rPr>
              <a:t>Methodology</a:t>
            </a:r>
            <a:endParaRPr lang="en-US" sz="1500" dirty="0"/>
          </a:p>
        </p:txBody>
      </p:sp>
      <p:sp>
        <p:nvSpPr>
          <p:cNvPr id="18" name="Text 16"/>
          <p:cNvSpPr/>
          <p:nvPr/>
        </p:nvSpPr>
        <p:spPr>
          <a:xfrm>
            <a:off x="4480560" y="2990088"/>
            <a:ext cx="5486400" cy="365760"/>
          </a:xfrm>
          <a:prstGeom prst="rect">
            <a:avLst/>
          </a:prstGeom>
          <a:noFill/>
          <a:ln/>
        </p:spPr>
        <p:txBody>
          <a:bodyPr wrap="square" lIns="0" tIns="0" rIns="0" bIns="0" rtlCol="0" anchor="ctr"/>
          <a:lstStyle/>
          <a:p>
            <a:pPr indent="0" marL="0">
              <a:buNone/>
            </a:pPr>
            <a:r>
              <a:rPr lang="en-US" sz="1250" dirty="0">
                <a:solidFill>
                  <a:srgbClr val="5A6B73"/>
                </a:solidFill>
                <a:latin typeface="Calibri" pitchFamily="34" charset="0"/>
                <a:ea typeface="Calibri" pitchFamily="34" charset="-122"/>
                <a:cs typeface="Calibri" pitchFamily="34" charset="-120"/>
              </a:rPr>
              <a:t>Bi-encoder fine-tuning and cross-encoder reranking</a:t>
            </a:r>
            <a:endParaRPr lang="en-US" sz="1250" dirty="0"/>
          </a:p>
        </p:txBody>
      </p:sp>
      <p:sp>
        <p:nvSpPr>
          <p:cNvPr id="19" name="Text 17"/>
          <p:cNvSpPr/>
          <p:nvPr/>
        </p:nvSpPr>
        <p:spPr>
          <a:xfrm>
            <a:off x="9966960" y="2990088"/>
            <a:ext cx="1554480" cy="365760"/>
          </a:xfrm>
          <a:prstGeom prst="rect">
            <a:avLst/>
          </a:prstGeom>
          <a:noFill/>
          <a:ln/>
        </p:spPr>
        <p:txBody>
          <a:bodyPr wrap="square" lIns="0" tIns="0" rIns="0" bIns="0" rtlCol="0" anchor="ctr"/>
          <a:lstStyle/>
          <a:p>
            <a:pPr algn="r" indent="0" marL="0">
              <a:buNone/>
            </a:pPr>
            <a:r>
              <a:rPr lang="en-US" sz="1150" i="1" dirty="0">
                <a:solidFill>
                  <a:srgbClr val="0E7C7B"/>
                </a:solidFill>
                <a:latin typeface="Calibri" pitchFamily="34" charset="0"/>
                <a:ea typeface="Calibri" pitchFamily="34" charset="-122"/>
                <a:cs typeface="Calibri" pitchFamily="34" charset="-120"/>
              </a:rPr>
              <a:t>Speaker 2</a:t>
            </a:r>
            <a:endParaRPr lang="en-US" sz="1150" dirty="0"/>
          </a:p>
        </p:txBody>
      </p:sp>
      <p:sp>
        <p:nvSpPr>
          <p:cNvPr id="20" name="Shape 18"/>
          <p:cNvSpPr/>
          <p:nvPr/>
        </p:nvSpPr>
        <p:spPr>
          <a:xfrm>
            <a:off x="640080" y="3657600"/>
            <a:ext cx="310896" cy="274320"/>
          </a:xfrm>
          <a:prstGeom prst="roundRect">
            <a:avLst>
              <a:gd name="adj" fmla="val 33333"/>
            </a:avLst>
          </a:prstGeom>
          <a:solidFill>
            <a:srgbClr val="4E7F86"/>
          </a:solidFill>
          <a:ln w="12700">
            <a:solidFill>
              <a:srgbClr val="4E7F86"/>
            </a:solidFill>
            <a:prstDash val="solid"/>
          </a:ln>
        </p:spPr>
      </p:sp>
      <p:sp>
        <p:nvSpPr>
          <p:cNvPr id="21" name="Text 19"/>
          <p:cNvSpPr/>
          <p:nvPr/>
        </p:nvSpPr>
        <p:spPr>
          <a:xfrm>
            <a:off x="640080" y="3657600"/>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1097280" y="3611880"/>
            <a:ext cx="3291840" cy="365760"/>
          </a:xfrm>
          <a:prstGeom prst="rect">
            <a:avLst/>
          </a:prstGeom>
          <a:noFill/>
          <a:ln/>
        </p:spPr>
        <p:txBody>
          <a:bodyPr wrap="square" lIns="0" tIns="0" rIns="0" bIns="0" rtlCol="0" anchor="ctr"/>
          <a:lstStyle/>
          <a:p>
            <a:pPr indent="0" marL="0">
              <a:buNone/>
            </a:pPr>
            <a:r>
              <a:rPr lang="en-US" sz="1500" b="1" dirty="0">
                <a:solidFill>
                  <a:srgbClr val="12303F"/>
                </a:solidFill>
                <a:latin typeface="Cambria" pitchFamily="34" charset="0"/>
                <a:ea typeface="Cambria" pitchFamily="34" charset="-122"/>
                <a:cs typeface="Cambria" pitchFamily="34" charset="-120"/>
              </a:rPr>
              <a:t>Evaluation Design</a:t>
            </a:r>
            <a:endParaRPr lang="en-US" sz="1500" dirty="0"/>
          </a:p>
        </p:txBody>
      </p:sp>
      <p:sp>
        <p:nvSpPr>
          <p:cNvPr id="23" name="Text 21"/>
          <p:cNvSpPr/>
          <p:nvPr/>
        </p:nvSpPr>
        <p:spPr>
          <a:xfrm>
            <a:off x="4480560" y="3648456"/>
            <a:ext cx="5486400" cy="365760"/>
          </a:xfrm>
          <a:prstGeom prst="rect">
            <a:avLst/>
          </a:prstGeom>
          <a:noFill/>
          <a:ln/>
        </p:spPr>
        <p:txBody>
          <a:bodyPr wrap="square" lIns="0" tIns="0" rIns="0" bIns="0" rtlCol="0" anchor="ctr"/>
          <a:lstStyle/>
          <a:p>
            <a:pPr indent="0" marL="0">
              <a:buNone/>
            </a:pPr>
            <a:r>
              <a:rPr lang="en-US" sz="1250" dirty="0">
                <a:solidFill>
                  <a:srgbClr val="5A6B73"/>
                </a:solidFill>
                <a:latin typeface="Calibri" pitchFamily="34" charset="0"/>
                <a:ea typeface="Calibri" pitchFamily="34" charset="-122"/>
                <a:cs typeface="Calibri" pitchFamily="34" charset="-120"/>
              </a:rPr>
              <a:t>Configuration matrix, test tiers, metrics</a:t>
            </a:r>
            <a:endParaRPr lang="en-US" sz="1250" dirty="0"/>
          </a:p>
        </p:txBody>
      </p:sp>
      <p:sp>
        <p:nvSpPr>
          <p:cNvPr id="24" name="Text 22"/>
          <p:cNvSpPr/>
          <p:nvPr/>
        </p:nvSpPr>
        <p:spPr>
          <a:xfrm>
            <a:off x="9966960" y="3648456"/>
            <a:ext cx="1554480" cy="365760"/>
          </a:xfrm>
          <a:prstGeom prst="rect">
            <a:avLst/>
          </a:prstGeom>
          <a:noFill/>
          <a:ln/>
        </p:spPr>
        <p:txBody>
          <a:bodyPr wrap="square" lIns="0" tIns="0" rIns="0" bIns="0" rtlCol="0" anchor="ctr"/>
          <a:lstStyle/>
          <a:p>
            <a:pPr algn="r" indent="0" marL="0">
              <a:buNone/>
            </a:pPr>
            <a:r>
              <a:rPr lang="en-US" sz="1150" i="1" dirty="0">
                <a:solidFill>
                  <a:srgbClr val="0E7C7B"/>
                </a:solidFill>
                <a:latin typeface="Calibri" pitchFamily="34" charset="0"/>
                <a:ea typeface="Calibri" pitchFamily="34" charset="-122"/>
                <a:cs typeface="Calibri" pitchFamily="34" charset="-120"/>
              </a:rPr>
              <a:t>Speaker 3</a:t>
            </a:r>
            <a:endParaRPr lang="en-US" sz="1150" dirty="0"/>
          </a:p>
        </p:txBody>
      </p:sp>
      <p:sp>
        <p:nvSpPr>
          <p:cNvPr id="25" name="Shape 23"/>
          <p:cNvSpPr/>
          <p:nvPr/>
        </p:nvSpPr>
        <p:spPr>
          <a:xfrm>
            <a:off x="640080" y="4315968"/>
            <a:ext cx="310896" cy="274320"/>
          </a:xfrm>
          <a:prstGeom prst="roundRect">
            <a:avLst>
              <a:gd name="adj" fmla="val 33333"/>
            </a:avLst>
          </a:prstGeom>
          <a:solidFill>
            <a:srgbClr val="5A6B73"/>
          </a:solidFill>
          <a:ln w="12700">
            <a:solidFill>
              <a:srgbClr val="5A6B73"/>
            </a:solidFill>
            <a:prstDash val="solid"/>
          </a:ln>
        </p:spPr>
      </p:sp>
      <p:sp>
        <p:nvSpPr>
          <p:cNvPr id="26" name="Text 24"/>
          <p:cNvSpPr/>
          <p:nvPr/>
        </p:nvSpPr>
        <p:spPr>
          <a:xfrm>
            <a:off x="640080" y="4315968"/>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1097280" y="4270248"/>
            <a:ext cx="3291840" cy="365760"/>
          </a:xfrm>
          <a:prstGeom prst="rect">
            <a:avLst/>
          </a:prstGeom>
          <a:noFill/>
          <a:ln/>
        </p:spPr>
        <p:txBody>
          <a:bodyPr wrap="square" lIns="0" tIns="0" rIns="0" bIns="0" rtlCol="0" anchor="ctr"/>
          <a:lstStyle/>
          <a:p>
            <a:pPr indent="0" marL="0">
              <a:buNone/>
            </a:pPr>
            <a:r>
              <a:rPr lang="en-US" sz="1500" b="1" dirty="0">
                <a:solidFill>
                  <a:srgbClr val="12303F"/>
                </a:solidFill>
                <a:latin typeface="Cambria" pitchFamily="34" charset="0"/>
                <a:ea typeface="Cambria" pitchFamily="34" charset="-122"/>
                <a:cs typeface="Cambria" pitchFamily="34" charset="-120"/>
              </a:rPr>
              <a:t>Results</a:t>
            </a:r>
            <a:endParaRPr lang="en-US" sz="1500" dirty="0"/>
          </a:p>
        </p:txBody>
      </p:sp>
      <p:sp>
        <p:nvSpPr>
          <p:cNvPr id="28" name="Text 26"/>
          <p:cNvSpPr/>
          <p:nvPr/>
        </p:nvSpPr>
        <p:spPr>
          <a:xfrm>
            <a:off x="4480560" y="4306824"/>
            <a:ext cx="5486400" cy="365760"/>
          </a:xfrm>
          <a:prstGeom prst="rect">
            <a:avLst/>
          </a:prstGeom>
          <a:noFill/>
          <a:ln/>
        </p:spPr>
        <p:txBody>
          <a:bodyPr wrap="square" lIns="0" tIns="0" rIns="0" bIns="0" rtlCol="0" anchor="ctr"/>
          <a:lstStyle/>
          <a:p>
            <a:pPr indent="0" marL="0">
              <a:buNone/>
            </a:pPr>
            <a:r>
              <a:rPr lang="en-US" sz="1250" dirty="0">
                <a:solidFill>
                  <a:srgbClr val="5A6B73"/>
                </a:solidFill>
                <a:latin typeface="Calibri" pitchFamily="34" charset="0"/>
                <a:ea typeface="Calibri" pitchFamily="34" charset="-122"/>
                <a:cs typeface="Calibri" pitchFamily="34" charset="-120"/>
              </a:rPr>
              <a:t>Retrieval performance and faithfulness evaluation</a:t>
            </a:r>
            <a:endParaRPr lang="en-US" sz="1250" dirty="0"/>
          </a:p>
        </p:txBody>
      </p:sp>
      <p:sp>
        <p:nvSpPr>
          <p:cNvPr id="29" name="Text 27"/>
          <p:cNvSpPr/>
          <p:nvPr/>
        </p:nvSpPr>
        <p:spPr>
          <a:xfrm>
            <a:off x="9966960" y="4306824"/>
            <a:ext cx="1554480" cy="365760"/>
          </a:xfrm>
          <a:prstGeom prst="rect">
            <a:avLst/>
          </a:prstGeom>
          <a:noFill/>
          <a:ln/>
        </p:spPr>
        <p:txBody>
          <a:bodyPr wrap="square" lIns="0" tIns="0" rIns="0" bIns="0" rtlCol="0" anchor="ctr"/>
          <a:lstStyle/>
          <a:p>
            <a:pPr algn="r" indent="0" marL="0">
              <a:buNone/>
            </a:pPr>
            <a:r>
              <a:rPr lang="en-US" sz="1150" i="1" dirty="0">
                <a:solidFill>
                  <a:srgbClr val="0E7C7B"/>
                </a:solidFill>
                <a:latin typeface="Calibri" pitchFamily="34" charset="0"/>
                <a:ea typeface="Calibri" pitchFamily="34" charset="-122"/>
                <a:cs typeface="Calibri" pitchFamily="34" charset="-120"/>
              </a:rPr>
              <a:t>Speaker 3</a:t>
            </a:r>
            <a:endParaRPr lang="en-US" sz="1150" dirty="0"/>
          </a:p>
        </p:txBody>
      </p:sp>
      <p:sp>
        <p:nvSpPr>
          <p:cNvPr id="30" name="Shape 28"/>
          <p:cNvSpPr/>
          <p:nvPr/>
        </p:nvSpPr>
        <p:spPr>
          <a:xfrm>
            <a:off x="640080" y="4974336"/>
            <a:ext cx="310896" cy="274320"/>
          </a:xfrm>
          <a:prstGeom prst="roundRect">
            <a:avLst>
              <a:gd name="adj" fmla="val 33333"/>
            </a:avLst>
          </a:prstGeom>
          <a:solidFill>
            <a:srgbClr val="5A6B73"/>
          </a:solidFill>
          <a:ln w="12700">
            <a:solidFill>
              <a:srgbClr val="5A6B73"/>
            </a:solidFill>
            <a:prstDash val="solid"/>
          </a:ln>
        </p:spPr>
      </p:sp>
      <p:sp>
        <p:nvSpPr>
          <p:cNvPr id="31" name="Text 29"/>
          <p:cNvSpPr/>
          <p:nvPr/>
        </p:nvSpPr>
        <p:spPr>
          <a:xfrm>
            <a:off x="640080" y="4974336"/>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2" name="Text 30"/>
          <p:cNvSpPr/>
          <p:nvPr/>
        </p:nvSpPr>
        <p:spPr>
          <a:xfrm>
            <a:off x="1097280" y="4928616"/>
            <a:ext cx="3291840" cy="365760"/>
          </a:xfrm>
          <a:prstGeom prst="rect">
            <a:avLst/>
          </a:prstGeom>
          <a:noFill/>
          <a:ln/>
        </p:spPr>
        <p:txBody>
          <a:bodyPr wrap="square" lIns="0" tIns="0" rIns="0" bIns="0" rtlCol="0" anchor="ctr"/>
          <a:lstStyle/>
          <a:p>
            <a:pPr indent="0" marL="0">
              <a:buNone/>
            </a:pPr>
            <a:r>
              <a:rPr lang="en-US" sz="1500" b="1" dirty="0">
                <a:solidFill>
                  <a:srgbClr val="12303F"/>
                </a:solidFill>
                <a:latin typeface="Cambria" pitchFamily="34" charset="0"/>
                <a:ea typeface="Cambria" pitchFamily="34" charset="-122"/>
                <a:cs typeface="Cambria" pitchFamily="34" charset="-120"/>
              </a:rPr>
              <a:t>Discussion</a:t>
            </a:r>
            <a:endParaRPr lang="en-US" sz="1500" dirty="0"/>
          </a:p>
        </p:txBody>
      </p:sp>
      <p:sp>
        <p:nvSpPr>
          <p:cNvPr id="33" name="Text 31"/>
          <p:cNvSpPr/>
          <p:nvPr/>
        </p:nvSpPr>
        <p:spPr>
          <a:xfrm>
            <a:off x="4480560" y="4965192"/>
            <a:ext cx="5486400" cy="365760"/>
          </a:xfrm>
          <a:prstGeom prst="rect">
            <a:avLst/>
          </a:prstGeom>
          <a:noFill/>
          <a:ln/>
        </p:spPr>
        <p:txBody>
          <a:bodyPr wrap="square" lIns="0" tIns="0" rIns="0" bIns="0" rtlCol="0" anchor="ctr"/>
          <a:lstStyle/>
          <a:p>
            <a:pPr indent="0" marL="0">
              <a:buNone/>
            </a:pPr>
            <a:r>
              <a:rPr lang="en-US" sz="1250" dirty="0">
                <a:solidFill>
                  <a:srgbClr val="5A6B73"/>
                </a:solidFill>
                <a:latin typeface="Calibri" pitchFamily="34" charset="0"/>
                <a:ea typeface="Calibri" pitchFamily="34" charset="-122"/>
                <a:cs typeface="Calibri" pitchFamily="34" charset="-120"/>
              </a:rPr>
              <a:t>Limitations and threats to validity</a:t>
            </a:r>
            <a:endParaRPr lang="en-US" sz="1250" dirty="0"/>
          </a:p>
        </p:txBody>
      </p:sp>
      <p:sp>
        <p:nvSpPr>
          <p:cNvPr id="34" name="Text 32"/>
          <p:cNvSpPr/>
          <p:nvPr/>
        </p:nvSpPr>
        <p:spPr>
          <a:xfrm>
            <a:off x="9966960" y="4965192"/>
            <a:ext cx="1554480" cy="365760"/>
          </a:xfrm>
          <a:prstGeom prst="rect">
            <a:avLst/>
          </a:prstGeom>
          <a:noFill/>
          <a:ln/>
        </p:spPr>
        <p:txBody>
          <a:bodyPr wrap="square" lIns="0" tIns="0" rIns="0" bIns="0" rtlCol="0" anchor="ctr"/>
          <a:lstStyle/>
          <a:p>
            <a:pPr algn="r" indent="0" marL="0">
              <a:buNone/>
            </a:pPr>
            <a:r>
              <a:rPr lang="en-US" sz="1150" i="1" dirty="0">
                <a:solidFill>
                  <a:srgbClr val="0E7C7B"/>
                </a:solidFill>
                <a:latin typeface="Calibri" pitchFamily="34" charset="0"/>
                <a:ea typeface="Calibri" pitchFamily="34" charset="-122"/>
                <a:cs typeface="Calibri" pitchFamily="34" charset="-120"/>
              </a:rPr>
              <a:t>Speaker 3</a:t>
            </a:r>
            <a:endParaRPr lang="en-US" sz="1150" dirty="0"/>
          </a:p>
        </p:txBody>
      </p:sp>
      <p:sp>
        <p:nvSpPr>
          <p:cNvPr id="35" name="Shape 33"/>
          <p:cNvSpPr/>
          <p:nvPr/>
        </p:nvSpPr>
        <p:spPr>
          <a:xfrm>
            <a:off x="640080" y="5632704"/>
            <a:ext cx="310896" cy="274320"/>
          </a:xfrm>
          <a:prstGeom prst="roundRect">
            <a:avLst>
              <a:gd name="adj" fmla="val 33333"/>
            </a:avLst>
          </a:prstGeom>
          <a:solidFill>
            <a:srgbClr val="5A6B73"/>
          </a:solidFill>
          <a:ln w="12700">
            <a:solidFill>
              <a:srgbClr val="5A6B73"/>
            </a:solidFill>
            <a:prstDash val="solid"/>
          </a:ln>
        </p:spPr>
      </p:sp>
      <p:sp>
        <p:nvSpPr>
          <p:cNvPr id="36" name="Text 34"/>
          <p:cNvSpPr/>
          <p:nvPr/>
        </p:nvSpPr>
        <p:spPr>
          <a:xfrm>
            <a:off x="640080" y="5632704"/>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7" name="Text 35"/>
          <p:cNvSpPr/>
          <p:nvPr/>
        </p:nvSpPr>
        <p:spPr>
          <a:xfrm>
            <a:off x="1097280" y="5586984"/>
            <a:ext cx="3291840" cy="365760"/>
          </a:xfrm>
          <a:prstGeom prst="rect">
            <a:avLst/>
          </a:prstGeom>
          <a:noFill/>
          <a:ln/>
        </p:spPr>
        <p:txBody>
          <a:bodyPr wrap="square" lIns="0" tIns="0" rIns="0" bIns="0" rtlCol="0" anchor="ctr"/>
          <a:lstStyle/>
          <a:p>
            <a:pPr indent="0" marL="0">
              <a:buNone/>
            </a:pPr>
            <a:r>
              <a:rPr lang="en-US" sz="1500" b="1" dirty="0">
                <a:solidFill>
                  <a:srgbClr val="12303F"/>
                </a:solidFill>
                <a:latin typeface="Cambria" pitchFamily="34" charset="0"/>
                <a:ea typeface="Cambria" pitchFamily="34" charset="-122"/>
                <a:cs typeface="Cambria" pitchFamily="34" charset="-120"/>
              </a:rPr>
              <a:t>Conclusion</a:t>
            </a:r>
            <a:endParaRPr lang="en-US" sz="1500" dirty="0"/>
          </a:p>
        </p:txBody>
      </p:sp>
      <p:sp>
        <p:nvSpPr>
          <p:cNvPr id="38" name="Text 36"/>
          <p:cNvSpPr/>
          <p:nvPr/>
        </p:nvSpPr>
        <p:spPr>
          <a:xfrm>
            <a:off x="4480560" y="5623560"/>
            <a:ext cx="5486400" cy="365760"/>
          </a:xfrm>
          <a:prstGeom prst="rect">
            <a:avLst/>
          </a:prstGeom>
          <a:noFill/>
          <a:ln/>
        </p:spPr>
        <p:txBody>
          <a:bodyPr wrap="square" lIns="0" tIns="0" rIns="0" bIns="0" rtlCol="0" anchor="ctr"/>
          <a:lstStyle/>
          <a:p>
            <a:pPr indent="0" marL="0">
              <a:buNone/>
            </a:pPr>
            <a:r>
              <a:rPr lang="en-US" sz="1250" dirty="0">
                <a:solidFill>
                  <a:srgbClr val="5A6B73"/>
                </a:solidFill>
                <a:latin typeface="Calibri" pitchFamily="34" charset="0"/>
                <a:ea typeface="Calibri" pitchFamily="34" charset="-122"/>
                <a:cs typeface="Calibri" pitchFamily="34" charset="-120"/>
              </a:rPr>
              <a:t>Findings and future work</a:t>
            </a:r>
            <a:endParaRPr lang="en-US" sz="1250" dirty="0"/>
          </a:p>
        </p:txBody>
      </p:sp>
      <p:sp>
        <p:nvSpPr>
          <p:cNvPr id="39" name="Text 37"/>
          <p:cNvSpPr/>
          <p:nvPr/>
        </p:nvSpPr>
        <p:spPr>
          <a:xfrm>
            <a:off x="9966960" y="5623560"/>
            <a:ext cx="1554480" cy="365760"/>
          </a:xfrm>
          <a:prstGeom prst="rect">
            <a:avLst/>
          </a:prstGeom>
          <a:noFill/>
          <a:ln/>
        </p:spPr>
        <p:txBody>
          <a:bodyPr wrap="square" lIns="0" tIns="0" rIns="0" bIns="0" rtlCol="0" anchor="ctr"/>
          <a:lstStyle/>
          <a:p>
            <a:pPr algn="r" indent="0" marL="0">
              <a:buNone/>
            </a:pPr>
            <a:r>
              <a:rPr lang="en-US" sz="1150" i="1" dirty="0">
                <a:solidFill>
                  <a:srgbClr val="0E7C7B"/>
                </a:solidFill>
                <a:latin typeface="Calibri" pitchFamily="34" charset="0"/>
                <a:ea typeface="Calibri" pitchFamily="34" charset="-122"/>
                <a:cs typeface="Calibri" pitchFamily="34" charset="-120"/>
              </a:rPr>
              <a:t>Speaker 3</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3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1. INTRODUCTION</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1</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Problem Statement and Motivation</a:t>
            </a:r>
            <a:endParaRPr lang="en-US" sz="3400" dirty="0"/>
          </a:p>
        </p:txBody>
      </p:sp>
      <p:sp>
        <p:nvSpPr>
          <p:cNvPr id="6" name="Text 4"/>
          <p:cNvSpPr/>
          <p:nvPr/>
        </p:nvSpPr>
        <p:spPr>
          <a:xfrm>
            <a:off x="640080" y="1600200"/>
            <a:ext cx="548640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2303F"/>
                </a:solidFill>
                <a:latin typeface="Calibri" pitchFamily="34" charset="0"/>
                <a:ea typeface="Calibri" pitchFamily="34" charset="-122"/>
                <a:cs typeface="Calibri" pitchFamily="34" charset="-120"/>
              </a:rPr>
              <a:t>Our enterprise RAG system (Lyra) retrieves over clinical documentation — discharge summaries, case reports, narrative notes.</a:t>
            </a:r>
            <a:endParaRPr lang="en-US" sz="1400" dirty="0"/>
          </a:p>
          <a:p>
            <a:pPr marL="342900" indent="-342900">
              <a:spcAft>
                <a:spcPts val="800"/>
              </a:spcAft>
              <a:buSzPct val="100000"/>
              <a:buChar char="•"/>
            </a:pPr>
            <a:r>
              <a:rPr lang="en-US" sz="1400" dirty="0">
                <a:solidFill>
                  <a:srgbClr val="12303F"/>
                </a:solidFill>
                <a:latin typeface="Calibri" pitchFamily="34" charset="0"/>
                <a:ea typeface="Calibri" pitchFamily="34" charset="-122"/>
                <a:cs typeface="Calibri" pitchFamily="34" charset="-120"/>
              </a:rPr>
              <a:t>Clinical text is dense with abbreviations and named instruments that carry no meaning in general-purpose embedding space.</a:t>
            </a:r>
            <a:endParaRPr lang="en-US" sz="1400" dirty="0"/>
          </a:p>
          <a:p>
            <a:pPr marL="342900" indent="-342900">
              <a:spcAft>
                <a:spcPts val="800"/>
              </a:spcAft>
              <a:buSzPct val="100000"/>
              <a:buChar char="•"/>
            </a:pPr>
            <a:r>
              <a:rPr lang="en-US" sz="1400" dirty="0">
                <a:solidFill>
                  <a:srgbClr val="12303F"/>
                </a:solidFill>
                <a:latin typeface="Calibri" pitchFamily="34" charset="0"/>
                <a:ea typeface="Calibri" pitchFamily="34" charset="-122"/>
                <a:cs typeface="Calibri" pitchFamily="34" charset="-120"/>
              </a:rPr>
              <a:t>A model trained on web text has no representation for these terms, so lexical near-misses dominate dense retrieval.</a:t>
            </a:r>
            <a:endParaRPr lang="en-US" sz="1400" dirty="0"/>
          </a:p>
          <a:p>
            <a:pPr marL="342900" indent="-342900">
              <a:spcAft>
                <a:spcPts val="800"/>
              </a:spcAft>
              <a:buSzPct val="100000"/>
              <a:buChar char="•"/>
            </a:pPr>
            <a:r>
              <a:rPr lang="en-US" sz="1400" dirty="0">
                <a:solidFill>
                  <a:srgbClr val="12303F"/>
                </a:solidFill>
                <a:latin typeface="Calibri" pitchFamily="34" charset="0"/>
                <a:ea typeface="Calibri" pitchFamily="34" charset="-122"/>
                <a:cs typeface="Calibri" pitchFamily="34" charset="-120"/>
              </a:rPr>
              <a:t>Users are clinical support and knowledge-management staff — a wrong passage becomes a confidently wrong answer.</a:t>
            </a:r>
            <a:endParaRPr lang="en-US" sz="1400" dirty="0"/>
          </a:p>
        </p:txBody>
      </p:sp>
      <p:sp>
        <p:nvSpPr>
          <p:cNvPr id="7" name="Shape 5"/>
          <p:cNvSpPr/>
          <p:nvPr/>
        </p:nvSpPr>
        <p:spPr>
          <a:xfrm>
            <a:off x="6492240" y="1600200"/>
            <a:ext cx="5029200" cy="3108960"/>
          </a:xfrm>
          <a:prstGeom prst="roundRect">
            <a:avLst>
              <a:gd name="adj" fmla="val 1471"/>
            </a:avLst>
          </a:prstGeom>
          <a:solidFill>
            <a:srgbClr val="F4F6F7"/>
          </a:solidFill>
          <a:ln w="12700">
            <a:solidFill>
              <a:srgbClr val="D3DBDE"/>
            </a:solidFill>
            <a:prstDash val="solid"/>
          </a:ln>
        </p:spPr>
      </p:sp>
      <p:sp>
        <p:nvSpPr>
          <p:cNvPr id="8" name="Text 6"/>
          <p:cNvSpPr/>
          <p:nvPr/>
        </p:nvSpPr>
        <p:spPr>
          <a:xfrm>
            <a:off x="6720840" y="1783080"/>
            <a:ext cx="4572000" cy="274320"/>
          </a:xfrm>
          <a:prstGeom prst="rect">
            <a:avLst/>
          </a:prstGeom>
          <a:noFill/>
          <a:ln/>
        </p:spPr>
        <p:txBody>
          <a:bodyPr wrap="square" lIns="0" tIns="0" rIns="0" bIns="0" rtlCol="0" anchor="ctr"/>
          <a:lstStyle/>
          <a:p>
            <a:pPr indent="0" marL="0">
              <a:buNone/>
            </a:pPr>
            <a:r>
              <a:rPr lang="en-US" sz="1150" b="1" dirty="0">
                <a:solidFill>
                  <a:srgbClr val="5A6B73"/>
                </a:solidFill>
                <a:latin typeface="Calibri" pitchFamily="34" charset="0"/>
                <a:ea typeface="Calibri" pitchFamily="34" charset="-122"/>
                <a:cs typeface="Calibri" pitchFamily="34" charset="-120"/>
              </a:rPr>
              <a:t>Vocabulary the base model has never meaningfully seen</a:t>
            </a:r>
            <a:endParaRPr lang="en-US" sz="1150" dirty="0"/>
          </a:p>
        </p:txBody>
      </p:sp>
      <p:sp>
        <p:nvSpPr>
          <p:cNvPr id="9" name="Text 7"/>
          <p:cNvSpPr/>
          <p:nvPr/>
        </p:nvSpPr>
        <p:spPr>
          <a:xfrm>
            <a:off x="6720840" y="2194560"/>
            <a:ext cx="1828800" cy="274320"/>
          </a:xfrm>
          <a:prstGeom prst="rect">
            <a:avLst/>
          </a:prstGeom>
          <a:noFill/>
          <a:ln/>
        </p:spPr>
        <p:txBody>
          <a:bodyPr wrap="square" lIns="0" tIns="0" rIns="0" bIns="0" rtlCol="0" anchor="ctr"/>
          <a:lstStyle/>
          <a:p>
            <a:pPr indent="0" marL="0">
              <a:buNone/>
            </a:pPr>
            <a:r>
              <a:rPr lang="en-US" sz="1400" b="1" dirty="0">
                <a:solidFill>
                  <a:srgbClr val="0E7C7B"/>
                </a:solidFill>
                <a:latin typeface="Courier New" pitchFamily="34" charset="0"/>
                <a:ea typeface="Courier New" pitchFamily="34" charset="-122"/>
                <a:cs typeface="Courier New" pitchFamily="34" charset="-120"/>
              </a:rPr>
              <a:t>TEVAR</a:t>
            </a:r>
            <a:endParaRPr lang="en-US" sz="1400" dirty="0"/>
          </a:p>
        </p:txBody>
      </p:sp>
      <p:sp>
        <p:nvSpPr>
          <p:cNvPr id="10" name="Text 8"/>
          <p:cNvSpPr/>
          <p:nvPr/>
        </p:nvSpPr>
        <p:spPr>
          <a:xfrm>
            <a:off x="8549640" y="2221992"/>
            <a:ext cx="2788920" cy="274320"/>
          </a:xfrm>
          <a:prstGeom prst="rect">
            <a:avLst/>
          </a:prstGeom>
          <a:noFill/>
          <a:ln/>
        </p:spPr>
        <p:txBody>
          <a:bodyPr wrap="square" lIns="0" tIns="0" rIns="0" bIns="0" rtlCol="0" anchor="ctr"/>
          <a:lstStyle/>
          <a:p>
            <a:pPr indent="0" marL="0">
              <a:buNone/>
            </a:pPr>
            <a:r>
              <a:rPr lang="en-US" sz="1100" dirty="0">
                <a:solidFill>
                  <a:srgbClr val="5A6B73"/>
                </a:solidFill>
                <a:latin typeface="Calibri" pitchFamily="34" charset="0"/>
                <a:ea typeface="Calibri" pitchFamily="34" charset="-122"/>
                <a:cs typeface="Calibri" pitchFamily="34" charset="-120"/>
              </a:rPr>
              <a:t>thoracic endovascular aortic repair</a:t>
            </a:r>
            <a:endParaRPr lang="en-US" sz="1100" dirty="0"/>
          </a:p>
        </p:txBody>
      </p:sp>
      <p:sp>
        <p:nvSpPr>
          <p:cNvPr id="11" name="Text 9"/>
          <p:cNvSpPr/>
          <p:nvPr/>
        </p:nvSpPr>
        <p:spPr>
          <a:xfrm>
            <a:off x="6720840" y="2798064"/>
            <a:ext cx="1828800" cy="274320"/>
          </a:xfrm>
          <a:prstGeom prst="rect">
            <a:avLst/>
          </a:prstGeom>
          <a:noFill/>
          <a:ln/>
        </p:spPr>
        <p:txBody>
          <a:bodyPr wrap="square" lIns="0" tIns="0" rIns="0" bIns="0" rtlCol="0" anchor="ctr"/>
          <a:lstStyle/>
          <a:p>
            <a:pPr indent="0" marL="0">
              <a:buNone/>
            </a:pPr>
            <a:r>
              <a:rPr lang="en-US" sz="1400" b="1" dirty="0">
                <a:solidFill>
                  <a:srgbClr val="0E7C7B"/>
                </a:solidFill>
                <a:latin typeface="Courier New" pitchFamily="34" charset="0"/>
                <a:ea typeface="Courier New" pitchFamily="34" charset="-122"/>
                <a:cs typeface="Courier New" pitchFamily="34" charset="-120"/>
              </a:rPr>
              <a:t>NIHSS</a:t>
            </a:r>
            <a:endParaRPr lang="en-US" sz="1400" dirty="0"/>
          </a:p>
        </p:txBody>
      </p:sp>
      <p:sp>
        <p:nvSpPr>
          <p:cNvPr id="12" name="Text 10"/>
          <p:cNvSpPr/>
          <p:nvPr/>
        </p:nvSpPr>
        <p:spPr>
          <a:xfrm>
            <a:off x="8549640" y="2825496"/>
            <a:ext cx="2788920" cy="274320"/>
          </a:xfrm>
          <a:prstGeom prst="rect">
            <a:avLst/>
          </a:prstGeom>
          <a:noFill/>
          <a:ln/>
        </p:spPr>
        <p:txBody>
          <a:bodyPr wrap="square" lIns="0" tIns="0" rIns="0" bIns="0" rtlCol="0" anchor="ctr"/>
          <a:lstStyle/>
          <a:p>
            <a:pPr indent="0" marL="0">
              <a:buNone/>
            </a:pPr>
            <a:r>
              <a:rPr lang="en-US" sz="1100" dirty="0">
                <a:solidFill>
                  <a:srgbClr val="5A6B73"/>
                </a:solidFill>
                <a:latin typeface="Calibri" pitchFamily="34" charset="0"/>
                <a:ea typeface="Calibri" pitchFamily="34" charset="-122"/>
                <a:cs typeface="Calibri" pitchFamily="34" charset="-120"/>
              </a:rPr>
              <a:t>stroke severity scale</a:t>
            </a:r>
            <a:endParaRPr lang="en-US" sz="1100" dirty="0"/>
          </a:p>
        </p:txBody>
      </p:sp>
      <p:sp>
        <p:nvSpPr>
          <p:cNvPr id="13" name="Text 11"/>
          <p:cNvSpPr/>
          <p:nvPr/>
        </p:nvSpPr>
        <p:spPr>
          <a:xfrm>
            <a:off x="6720840" y="3401568"/>
            <a:ext cx="1828800" cy="274320"/>
          </a:xfrm>
          <a:prstGeom prst="rect">
            <a:avLst/>
          </a:prstGeom>
          <a:noFill/>
          <a:ln/>
        </p:spPr>
        <p:txBody>
          <a:bodyPr wrap="square" lIns="0" tIns="0" rIns="0" bIns="0" rtlCol="0" anchor="ctr"/>
          <a:lstStyle/>
          <a:p>
            <a:pPr indent="0" marL="0">
              <a:buNone/>
            </a:pPr>
            <a:r>
              <a:rPr lang="en-US" sz="1400" b="1" dirty="0">
                <a:solidFill>
                  <a:srgbClr val="0E7C7B"/>
                </a:solidFill>
                <a:latin typeface="Courier New" pitchFamily="34" charset="0"/>
                <a:ea typeface="Courier New" pitchFamily="34" charset="-122"/>
                <a:cs typeface="Courier New" pitchFamily="34" charset="-120"/>
              </a:rPr>
              <a:t>Clavien–Dindo</a:t>
            </a:r>
            <a:endParaRPr lang="en-US" sz="1400" dirty="0"/>
          </a:p>
        </p:txBody>
      </p:sp>
      <p:sp>
        <p:nvSpPr>
          <p:cNvPr id="14" name="Text 12"/>
          <p:cNvSpPr/>
          <p:nvPr/>
        </p:nvSpPr>
        <p:spPr>
          <a:xfrm>
            <a:off x="8549640" y="3429000"/>
            <a:ext cx="2788920" cy="274320"/>
          </a:xfrm>
          <a:prstGeom prst="rect">
            <a:avLst/>
          </a:prstGeom>
          <a:noFill/>
          <a:ln/>
        </p:spPr>
        <p:txBody>
          <a:bodyPr wrap="square" lIns="0" tIns="0" rIns="0" bIns="0" rtlCol="0" anchor="ctr"/>
          <a:lstStyle/>
          <a:p>
            <a:pPr indent="0" marL="0">
              <a:buNone/>
            </a:pPr>
            <a:r>
              <a:rPr lang="en-US" sz="1100" dirty="0">
                <a:solidFill>
                  <a:srgbClr val="5A6B73"/>
                </a:solidFill>
                <a:latin typeface="Calibri" pitchFamily="34" charset="0"/>
                <a:ea typeface="Calibri" pitchFamily="34" charset="-122"/>
                <a:cs typeface="Calibri" pitchFamily="34" charset="-120"/>
              </a:rPr>
              <a:t>surgical complication grade</a:t>
            </a:r>
            <a:endParaRPr lang="en-US" sz="1100" dirty="0"/>
          </a:p>
        </p:txBody>
      </p:sp>
      <p:sp>
        <p:nvSpPr>
          <p:cNvPr id="15" name="Text 13"/>
          <p:cNvSpPr/>
          <p:nvPr/>
        </p:nvSpPr>
        <p:spPr>
          <a:xfrm>
            <a:off x="6720840" y="4005072"/>
            <a:ext cx="1828800" cy="274320"/>
          </a:xfrm>
          <a:prstGeom prst="rect">
            <a:avLst/>
          </a:prstGeom>
          <a:noFill/>
          <a:ln/>
        </p:spPr>
        <p:txBody>
          <a:bodyPr wrap="square" lIns="0" tIns="0" rIns="0" bIns="0" rtlCol="0" anchor="ctr"/>
          <a:lstStyle/>
          <a:p>
            <a:pPr indent="0" marL="0">
              <a:buNone/>
            </a:pPr>
            <a:r>
              <a:rPr lang="en-US" sz="1400" b="1" dirty="0">
                <a:solidFill>
                  <a:srgbClr val="0E7C7B"/>
                </a:solidFill>
                <a:latin typeface="Courier New" pitchFamily="34" charset="0"/>
                <a:ea typeface="Courier New" pitchFamily="34" charset="-122"/>
                <a:cs typeface="Courier New" pitchFamily="34" charset="-120"/>
              </a:rPr>
              <a:t>Nurick scale</a:t>
            </a:r>
            <a:endParaRPr lang="en-US" sz="1400" dirty="0"/>
          </a:p>
        </p:txBody>
      </p:sp>
      <p:sp>
        <p:nvSpPr>
          <p:cNvPr id="16" name="Text 14"/>
          <p:cNvSpPr/>
          <p:nvPr/>
        </p:nvSpPr>
        <p:spPr>
          <a:xfrm>
            <a:off x="8549640" y="4032504"/>
            <a:ext cx="2788920" cy="274320"/>
          </a:xfrm>
          <a:prstGeom prst="rect">
            <a:avLst/>
          </a:prstGeom>
          <a:noFill/>
          <a:ln/>
        </p:spPr>
        <p:txBody>
          <a:bodyPr wrap="square" lIns="0" tIns="0" rIns="0" bIns="0" rtlCol="0" anchor="ctr"/>
          <a:lstStyle/>
          <a:p>
            <a:pPr indent="0" marL="0">
              <a:buNone/>
            </a:pPr>
            <a:r>
              <a:rPr lang="en-US" sz="1100" dirty="0">
                <a:solidFill>
                  <a:srgbClr val="5A6B73"/>
                </a:solidFill>
                <a:latin typeface="Calibri" pitchFamily="34" charset="0"/>
                <a:ea typeface="Calibri" pitchFamily="34" charset="-122"/>
                <a:cs typeface="Calibri" pitchFamily="34" charset="-120"/>
              </a:rPr>
              <a:t>myelopathy disability grade</a:t>
            </a:r>
            <a:endParaRPr lang="en-US" sz="1100" dirty="0"/>
          </a:p>
        </p:txBody>
      </p:sp>
      <p:sp>
        <p:nvSpPr>
          <p:cNvPr id="17" name="Shape 15"/>
          <p:cNvSpPr/>
          <p:nvPr/>
        </p:nvSpPr>
        <p:spPr>
          <a:xfrm>
            <a:off x="640080" y="4892040"/>
            <a:ext cx="10881360" cy="868680"/>
          </a:xfrm>
          <a:prstGeom prst="roundRect">
            <a:avLst>
              <a:gd name="adj" fmla="val 5263"/>
            </a:avLst>
          </a:prstGeom>
          <a:solidFill>
            <a:srgbClr val="FBEEDA"/>
          </a:solidFill>
          <a:ln w="12700">
            <a:solidFill>
              <a:srgbClr val="FBEEDA"/>
            </a:solidFill>
            <a:prstDash val="solid"/>
          </a:ln>
        </p:spPr>
      </p:sp>
      <p:sp>
        <p:nvSpPr>
          <p:cNvPr id="18" name="Text 16"/>
          <p:cNvSpPr/>
          <p:nvPr/>
        </p:nvSpPr>
        <p:spPr>
          <a:xfrm>
            <a:off x="914400" y="5138928"/>
            <a:ext cx="10332720" cy="365760"/>
          </a:xfrm>
          <a:prstGeom prst="rect">
            <a:avLst/>
          </a:prstGeom>
          <a:noFill/>
          <a:ln/>
        </p:spPr>
        <p:txBody>
          <a:bodyPr wrap="square" lIns="0" tIns="0" rIns="0" bIns="0" rtlCol="0" anchor="ctr"/>
          <a:lstStyle/>
          <a:p>
            <a:pPr indent="0" marL="0">
              <a:buNone/>
            </a:pPr>
            <a:r>
              <a:rPr lang="en-US" sz="1450" b="1" dirty="0">
                <a:solidFill>
                  <a:srgbClr val="6E4410"/>
                </a:solidFill>
                <a:latin typeface="Calibri" pitchFamily="34" charset="0"/>
                <a:ea typeface="Calibri" pitchFamily="34" charset="-122"/>
                <a:cs typeface="Calibri" pitchFamily="34" charset="-120"/>
              </a:rPr>
              <a:t>Mechanism → this is exactly what a fine-tune can fix, and it is directly observable in error analysis.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4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1. INTRODUCTION</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1</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Research Hypothesis</a:t>
            </a:r>
            <a:endParaRPr lang="en-US" sz="3400" dirty="0"/>
          </a:p>
        </p:txBody>
      </p:sp>
      <p:sp>
        <p:nvSpPr>
          <p:cNvPr id="6" name="Shape 4"/>
          <p:cNvSpPr/>
          <p:nvPr/>
        </p:nvSpPr>
        <p:spPr>
          <a:xfrm>
            <a:off x="640080" y="1645920"/>
            <a:ext cx="5349240" cy="3200400"/>
          </a:xfrm>
          <a:prstGeom prst="roundRect">
            <a:avLst>
              <a:gd name="adj" fmla="val 1429"/>
            </a:avLst>
          </a:prstGeom>
          <a:solidFill>
            <a:srgbClr val="FFFFFF"/>
          </a:solidFill>
          <a:ln w="12700">
            <a:solidFill>
              <a:srgbClr val="D3DBDE"/>
            </a:solidFill>
            <a:prstDash val="solid"/>
          </a:ln>
        </p:spPr>
      </p:sp>
      <p:sp>
        <p:nvSpPr>
          <p:cNvPr id="7" name="Shape 5"/>
          <p:cNvSpPr/>
          <p:nvPr/>
        </p:nvSpPr>
        <p:spPr>
          <a:xfrm>
            <a:off x="914400" y="1920240"/>
            <a:ext cx="384048" cy="274320"/>
          </a:xfrm>
          <a:prstGeom prst="roundRect">
            <a:avLst>
              <a:gd name="adj" fmla="val 33333"/>
            </a:avLst>
          </a:prstGeom>
          <a:solidFill>
            <a:srgbClr val="5A6B73"/>
          </a:solidFill>
          <a:ln w="12700">
            <a:solidFill>
              <a:srgbClr val="5A6B73"/>
            </a:solidFill>
            <a:prstDash val="solid"/>
          </a:ln>
        </p:spPr>
      </p:sp>
      <p:sp>
        <p:nvSpPr>
          <p:cNvPr id="8" name="Text 6"/>
          <p:cNvSpPr/>
          <p:nvPr/>
        </p:nvSpPr>
        <p:spPr>
          <a:xfrm>
            <a:off x="914400" y="1920240"/>
            <a:ext cx="3840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417320" y="1901952"/>
            <a:ext cx="4206240" cy="320040"/>
          </a:xfrm>
          <a:prstGeom prst="rect">
            <a:avLst/>
          </a:prstGeom>
          <a:noFill/>
          <a:ln/>
        </p:spPr>
        <p:txBody>
          <a:bodyPr wrap="square" lIns="0" tIns="0" rIns="0" bIns="0" rtlCol="0" anchor="ctr"/>
          <a:lstStyle/>
          <a:p>
            <a:pPr indent="0" marL="0">
              <a:buNone/>
            </a:pPr>
            <a:r>
              <a:rPr lang="en-US" sz="1900" b="1" dirty="0">
                <a:solidFill>
                  <a:srgbClr val="12303F"/>
                </a:solidFill>
                <a:latin typeface="Cambria" pitchFamily="34" charset="0"/>
                <a:ea typeface="Cambria" pitchFamily="34" charset="-122"/>
                <a:cs typeface="Cambria" pitchFamily="34" charset="-120"/>
              </a:rPr>
              <a:t>Retrieval improves</a:t>
            </a:r>
            <a:endParaRPr lang="en-US" sz="1900" dirty="0"/>
          </a:p>
        </p:txBody>
      </p:sp>
      <p:sp>
        <p:nvSpPr>
          <p:cNvPr id="10" name="Text 8"/>
          <p:cNvSpPr/>
          <p:nvPr/>
        </p:nvSpPr>
        <p:spPr>
          <a:xfrm>
            <a:off x="914400" y="2377440"/>
            <a:ext cx="4800600" cy="914400"/>
          </a:xfrm>
          <a:prstGeom prst="rect">
            <a:avLst/>
          </a:prstGeom>
          <a:noFill/>
          <a:ln/>
        </p:spPr>
        <p:txBody>
          <a:bodyPr wrap="square" lIns="0" tIns="0" rIns="0" bIns="0" rtlCol="0" anchor="ctr"/>
          <a:lstStyle/>
          <a:p>
            <a:pPr indent="0" marL="0">
              <a:buNone/>
            </a:pPr>
            <a:r>
              <a:rPr lang="en-US" sz="1350" dirty="0">
                <a:solidFill>
                  <a:srgbClr val="12303F"/>
                </a:solidFill>
                <a:latin typeface="Calibri" pitchFamily="34" charset="0"/>
                <a:ea typeface="Calibri" pitchFamily="34" charset="-122"/>
                <a:cs typeface="Calibri" pitchFamily="34" charset="-120"/>
              </a:rPr>
              <a:t>Domain adaptation lifts Recall@k, MRR and nDCG@10 over a stock bi-encoder, with a trained reranker adding further gain.</a:t>
            </a:r>
            <a:endParaRPr lang="en-US" sz="1350" dirty="0"/>
          </a:p>
        </p:txBody>
      </p:sp>
      <p:sp>
        <p:nvSpPr>
          <p:cNvPr id="11" name="Text 9"/>
          <p:cNvSpPr/>
          <p:nvPr/>
        </p:nvSpPr>
        <p:spPr>
          <a:xfrm>
            <a:off x="914400" y="4160520"/>
            <a:ext cx="4800600" cy="457200"/>
          </a:xfrm>
          <a:prstGeom prst="rect">
            <a:avLst/>
          </a:prstGeom>
          <a:noFill/>
          <a:ln/>
        </p:spPr>
        <p:txBody>
          <a:bodyPr wrap="square" lIns="0" tIns="0" rIns="0" bIns="0" rtlCol="0" anchor="ctr"/>
          <a:lstStyle/>
          <a:p>
            <a:pPr indent="0" marL="0">
              <a:buNone/>
            </a:pPr>
            <a:r>
              <a:rPr lang="en-US" sz="1250" i="1" dirty="0">
                <a:solidFill>
                  <a:srgbClr val="5A6B73"/>
                </a:solidFill>
                <a:latin typeface="Calibri" pitchFamily="34" charset="0"/>
                <a:ea typeface="Calibri" pitchFamily="34" charset="-122"/>
                <a:cs typeface="Calibri" pitchFamily="34" charset="-120"/>
              </a:rPr>
              <a:t>Table stakes. We expect this to replicate prior work.</a:t>
            </a:r>
            <a:endParaRPr lang="en-US" sz="1250" dirty="0"/>
          </a:p>
        </p:txBody>
      </p:sp>
      <p:sp>
        <p:nvSpPr>
          <p:cNvPr id="12" name="Shape 10"/>
          <p:cNvSpPr/>
          <p:nvPr/>
        </p:nvSpPr>
        <p:spPr>
          <a:xfrm>
            <a:off x="6172200" y="1645920"/>
            <a:ext cx="5349240" cy="3200400"/>
          </a:xfrm>
          <a:prstGeom prst="roundRect">
            <a:avLst>
              <a:gd name="adj" fmla="val 1429"/>
            </a:avLst>
          </a:prstGeom>
          <a:solidFill>
            <a:srgbClr val="FFFFFF"/>
          </a:solidFill>
          <a:ln w="12700">
            <a:solidFill>
              <a:srgbClr val="0E7C7B"/>
            </a:solidFill>
            <a:prstDash val="solid"/>
          </a:ln>
        </p:spPr>
      </p:sp>
      <p:sp>
        <p:nvSpPr>
          <p:cNvPr id="13" name="Shape 11"/>
          <p:cNvSpPr/>
          <p:nvPr/>
        </p:nvSpPr>
        <p:spPr>
          <a:xfrm>
            <a:off x="6446520" y="1920240"/>
            <a:ext cx="384048" cy="274320"/>
          </a:xfrm>
          <a:prstGeom prst="roundRect">
            <a:avLst>
              <a:gd name="adj" fmla="val 33333"/>
            </a:avLst>
          </a:prstGeom>
          <a:solidFill>
            <a:srgbClr val="0E7C7B"/>
          </a:solidFill>
          <a:ln w="12700">
            <a:solidFill>
              <a:srgbClr val="0E7C7B"/>
            </a:solidFill>
            <a:prstDash val="solid"/>
          </a:ln>
        </p:spPr>
      </p:sp>
      <p:sp>
        <p:nvSpPr>
          <p:cNvPr id="14" name="Text 12"/>
          <p:cNvSpPr/>
          <p:nvPr/>
        </p:nvSpPr>
        <p:spPr>
          <a:xfrm>
            <a:off x="6446520" y="1920240"/>
            <a:ext cx="3840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6949440" y="1901952"/>
            <a:ext cx="4206240" cy="320040"/>
          </a:xfrm>
          <a:prstGeom prst="rect">
            <a:avLst/>
          </a:prstGeom>
          <a:noFill/>
          <a:ln/>
        </p:spPr>
        <p:txBody>
          <a:bodyPr wrap="square" lIns="0" tIns="0" rIns="0" bIns="0" rtlCol="0" anchor="ctr"/>
          <a:lstStyle/>
          <a:p>
            <a:pPr indent="0" marL="0">
              <a:buNone/>
            </a:pPr>
            <a:r>
              <a:rPr lang="en-US" sz="1900" b="1" dirty="0">
                <a:solidFill>
                  <a:srgbClr val="0E7C7B"/>
                </a:solidFill>
                <a:latin typeface="Cambria" pitchFamily="34" charset="0"/>
                <a:ea typeface="Cambria" pitchFamily="34" charset="-122"/>
                <a:cs typeface="Cambria" pitchFamily="34" charset="-120"/>
              </a:rPr>
              <a:t>Trust improves with it</a:t>
            </a:r>
            <a:endParaRPr lang="en-US" sz="1900" dirty="0"/>
          </a:p>
        </p:txBody>
      </p:sp>
      <p:sp>
        <p:nvSpPr>
          <p:cNvPr id="16" name="Text 14"/>
          <p:cNvSpPr/>
          <p:nvPr/>
        </p:nvSpPr>
        <p:spPr>
          <a:xfrm>
            <a:off x="6446520" y="2377440"/>
            <a:ext cx="4800600" cy="1188720"/>
          </a:xfrm>
          <a:prstGeom prst="rect">
            <a:avLst/>
          </a:prstGeom>
          <a:noFill/>
          <a:ln/>
        </p:spPr>
        <p:txBody>
          <a:bodyPr wrap="square" lIns="0" tIns="0" rIns="0" bIns="0" rtlCol="0" anchor="ctr"/>
          <a:lstStyle/>
          <a:p>
            <a:pPr indent="0" marL="0">
              <a:buNone/>
            </a:pPr>
            <a:r>
              <a:rPr lang="en-US" sz="1350" dirty="0">
                <a:solidFill>
                  <a:srgbClr val="12303F"/>
                </a:solidFill>
                <a:latin typeface="Calibri" pitchFamily="34" charset="0"/>
                <a:ea typeface="Calibri" pitchFamily="34" charset="-122"/>
                <a:cs typeface="Calibri" pitchFamily="34" charset="-120"/>
              </a:rPr>
              <a:t>That retrieval gain propagates to answer faithfulness — even though the generator is frozen and the prompt is byte-identical across every configuration.</a:t>
            </a:r>
            <a:endParaRPr lang="en-US" sz="1350" dirty="0"/>
          </a:p>
        </p:txBody>
      </p:sp>
      <p:sp>
        <p:nvSpPr>
          <p:cNvPr id="17" name="Text 15"/>
          <p:cNvSpPr/>
          <p:nvPr/>
        </p:nvSpPr>
        <p:spPr>
          <a:xfrm>
            <a:off x="6446520" y="4160520"/>
            <a:ext cx="4800600" cy="457200"/>
          </a:xfrm>
          <a:prstGeom prst="rect">
            <a:avLst/>
          </a:prstGeom>
          <a:noFill/>
          <a:ln/>
        </p:spPr>
        <p:txBody>
          <a:bodyPr wrap="square" lIns="0" tIns="0" rIns="0" bIns="0" rtlCol="0" anchor="ctr"/>
          <a:lstStyle/>
          <a:p>
            <a:pPr indent="0" marL="0">
              <a:buNone/>
            </a:pPr>
            <a:r>
              <a:rPr lang="en-US" sz="1250" b="1" i="1" dirty="0">
                <a:solidFill>
                  <a:srgbClr val="0E7C7B"/>
                </a:solidFill>
                <a:latin typeface="Calibri" pitchFamily="34" charset="0"/>
                <a:ea typeface="Calibri" pitchFamily="34" charset="-122"/>
                <a:cs typeface="Calibri" pitchFamily="34" charset="-120"/>
              </a:rPr>
              <a:t>This is the contribution. Only the retrieved context differs.</a:t>
            </a:r>
            <a:endParaRPr lang="en-US" sz="1250" dirty="0"/>
          </a:p>
        </p:txBody>
      </p:sp>
      <p:sp>
        <p:nvSpPr>
          <p:cNvPr id="18" name="Shape 16"/>
          <p:cNvSpPr/>
          <p:nvPr/>
        </p:nvSpPr>
        <p:spPr>
          <a:xfrm>
            <a:off x="640080" y="5074920"/>
            <a:ext cx="10881360" cy="777240"/>
          </a:xfrm>
          <a:prstGeom prst="roundRect">
            <a:avLst>
              <a:gd name="adj" fmla="val 5882"/>
            </a:avLst>
          </a:prstGeom>
          <a:solidFill>
            <a:srgbClr val="12303F"/>
          </a:solidFill>
          <a:ln w="12700">
            <a:solidFill>
              <a:srgbClr val="12303F"/>
            </a:solidFill>
            <a:prstDash val="solid"/>
          </a:ln>
        </p:spPr>
      </p:sp>
      <p:sp>
        <p:nvSpPr>
          <p:cNvPr id="19" name="Text 17"/>
          <p:cNvSpPr/>
          <p:nvPr/>
        </p:nvSpPr>
        <p:spPr>
          <a:xfrm>
            <a:off x="914400" y="5285232"/>
            <a:ext cx="103327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Freezing the generator is the whole design: if faithfulness moves, retrieval is the only thing that could have moved it.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5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2. DATA AND EXPLORATORY ANALYSIS</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1</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Data Source and Scale</a:t>
            </a:r>
            <a:endParaRPr lang="en-US" sz="3400" dirty="0"/>
          </a:p>
        </p:txBody>
      </p:sp>
      <p:sp>
        <p:nvSpPr>
          <p:cNvPr id="6" name="Text 4"/>
          <p:cNvSpPr/>
          <p:nvPr/>
        </p:nvSpPr>
        <p:spPr>
          <a:xfrm>
            <a:off x="640080" y="1508760"/>
            <a:ext cx="1828800" cy="621792"/>
          </a:xfrm>
          <a:prstGeom prst="rect">
            <a:avLst/>
          </a:prstGeom>
          <a:noFill/>
          <a:ln/>
        </p:spPr>
        <p:txBody>
          <a:bodyPr wrap="square" lIns="0" tIns="0" rIns="0" bIns="0" rtlCol="0" anchor="ctr"/>
          <a:lstStyle/>
          <a:p>
            <a:pPr algn="l" indent="0" marL="0">
              <a:buNone/>
            </a:pPr>
            <a:r>
              <a:rPr lang="en-US" sz="4000" b="1" dirty="0">
                <a:solidFill>
                  <a:srgbClr val="12303F"/>
                </a:solidFill>
                <a:latin typeface="Cambria" pitchFamily="34" charset="0"/>
                <a:ea typeface="Cambria" pitchFamily="34" charset="-122"/>
                <a:cs typeface="Cambria" pitchFamily="34" charset="-120"/>
              </a:rPr>
              <a:t>21,689</a:t>
            </a:r>
            <a:endParaRPr lang="en-US" sz="4000" dirty="0"/>
          </a:p>
        </p:txBody>
      </p:sp>
      <p:sp>
        <p:nvSpPr>
          <p:cNvPr id="7" name="Text 5"/>
          <p:cNvSpPr/>
          <p:nvPr/>
        </p:nvSpPr>
        <p:spPr>
          <a:xfrm>
            <a:off x="640080" y="2112264"/>
            <a:ext cx="1828800" cy="411480"/>
          </a:xfrm>
          <a:prstGeom prst="rect">
            <a:avLst/>
          </a:prstGeom>
          <a:noFill/>
          <a:ln/>
        </p:spPr>
        <p:txBody>
          <a:bodyPr wrap="square" lIns="0" tIns="0" rIns="0" bIns="0" rtlCol="0" anchor="ctr"/>
          <a:lstStyle/>
          <a:p>
            <a:pPr algn="l" indent="0" marL="0">
              <a:buNone/>
            </a:pPr>
            <a:r>
              <a:rPr lang="en-US" sz="1150" dirty="0">
                <a:solidFill>
                  <a:srgbClr val="5A6B73"/>
                </a:solidFill>
                <a:latin typeface="Calibri" pitchFamily="34" charset="0"/>
                <a:ea typeface="Calibri" pitchFamily="34" charset="-122"/>
                <a:cs typeface="Calibri" pitchFamily="34" charset="-120"/>
              </a:rPr>
              <a:t>unique queries</a:t>
            </a:r>
            <a:endParaRPr lang="en-US" sz="1150" dirty="0"/>
          </a:p>
        </p:txBody>
      </p:sp>
      <p:sp>
        <p:nvSpPr>
          <p:cNvPr id="8" name="Text 6"/>
          <p:cNvSpPr/>
          <p:nvPr/>
        </p:nvSpPr>
        <p:spPr>
          <a:xfrm>
            <a:off x="2514600" y="1508760"/>
            <a:ext cx="1828800" cy="621792"/>
          </a:xfrm>
          <a:prstGeom prst="rect">
            <a:avLst/>
          </a:prstGeom>
          <a:noFill/>
          <a:ln/>
        </p:spPr>
        <p:txBody>
          <a:bodyPr wrap="square" lIns="0" tIns="0" rIns="0" bIns="0" rtlCol="0" anchor="ctr"/>
          <a:lstStyle/>
          <a:p>
            <a:pPr algn="l" indent="0" marL="0">
              <a:buNone/>
            </a:pPr>
            <a:r>
              <a:rPr lang="en-US" sz="4000" b="1" dirty="0">
                <a:solidFill>
                  <a:srgbClr val="12303F"/>
                </a:solidFill>
                <a:latin typeface="Cambria" pitchFamily="34" charset="0"/>
                <a:ea typeface="Cambria" pitchFamily="34" charset="-122"/>
                <a:cs typeface="Cambria" pitchFamily="34" charset="-120"/>
              </a:rPr>
              <a:t>27,590</a:t>
            </a:r>
            <a:endParaRPr lang="en-US" sz="4000" dirty="0"/>
          </a:p>
        </p:txBody>
      </p:sp>
      <p:sp>
        <p:nvSpPr>
          <p:cNvPr id="9" name="Text 7"/>
          <p:cNvSpPr/>
          <p:nvPr/>
        </p:nvSpPr>
        <p:spPr>
          <a:xfrm>
            <a:off x="2514600" y="2112264"/>
            <a:ext cx="1828800" cy="411480"/>
          </a:xfrm>
          <a:prstGeom prst="rect">
            <a:avLst/>
          </a:prstGeom>
          <a:noFill/>
          <a:ln/>
        </p:spPr>
        <p:txBody>
          <a:bodyPr wrap="square" lIns="0" tIns="0" rIns="0" bIns="0" rtlCol="0" anchor="ctr"/>
          <a:lstStyle/>
          <a:p>
            <a:pPr algn="l" indent="0" marL="0">
              <a:buNone/>
            </a:pPr>
            <a:r>
              <a:rPr lang="en-US" sz="1150" dirty="0">
                <a:solidFill>
                  <a:srgbClr val="5A6B73"/>
                </a:solidFill>
                <a:latin typeface="Calibri" pitchFamily="34" charset="0"/>
                <a:ea typeface="Calibri" pitchFamily="34" charset="-122"/>
                <a:cs typeface="Calibri" pitchFamily="34" charset="-120"/>
              </a:rPr>
              <a:t>corpus passages</a:t>
            </a:r>
            <a:endParaRPr lang="en-US" sz="1150" dirty="0"/>
          </a:p>
        </p:txBody>
      </p:sp>
      <p:sp>
        <p:nvSpPr>
          <p:cNvPr id="10" name="Text 8"/>
          <p:cNvSpPr/>
          <p:nvPr/>
        </p:nvSpPr>
        <p:spPr>
          <a:xfrm>
            <a:off x="4389120" y="1508760"/>
            <a:ext cx="1828800" cy="621792"/>
          </a:xfrm>
          <a:prstGeom prst="rect">
            <a:avLst/>
          </a:prstGeom>
          <a:noFill/>
          <a:ln/>
        </p:spPr>
        <p:txBody>
          <a:bodyPr wrap="square" lIns="0" tIns="0" rIns="0" bIns="0" rtlCol="0" anchor="ctr"/>
          <a:lstStyle/>
          <a:p>
            <a:pPr algn="l" indent="0" marL="0">
              <a:buNone/>
            </a:pPr>
            <a:r>
              <a:rPr lang="en-US" sz="4000" b="1" dirty="0">
                <a:solidFill>
                  <a:srgbClr val="5A6B73"/>
                </a:solidFill>
                <a:latin typeface="Cambria" pitchFamily="34" charset="0"/>
                <a:ea typeface="Cambria" pitchFamily="34" charset="-122"/>
                <a:cs typeface="Cambria" pitchFamily="34" charset="-120"/>
              </a:rPr>
              <a:t>232,684</a:t>
            </a:r>
            <a:endParaRPr lang="en-US" sz="4000" dirty="0"/>
          </a:p>
        </p:txBody>
      </p:sp>
      <p:sp>
        <p:nvSpPr>
          <p:cNvPr id="11" name="Text 9"/>
          <p:cNvSpPr/>
          <p:nvPr/>
        </p:nvSpPr>
        <p:spPr>
          <a:xfrm>
            <a:off x="4389120" y="2112264"/>
            <a:ext cx="1828800" cy="411480"/>
          </a:xfrm>
          <a:prstGeom prst="rect">
            <a:avLst/>
          </a:prstGeom>
          <a:noFill/>
          <a:ln/>
        </p:spPr>
        <p:txBody>
          <a:bodyPr wrap="square" lIns="0" tIns="0" rIns="0" bIns="0" rtlCol="0" anchor="ctr"/>
          <a:lstStyle/>
          <a:p>
            <a:pPr algn="l" indent="0" marL="0">
              <a:buNone/>
            </a:pPr>
            <a:r>
              <a:rPr lang="en-US" sz="1150" dirty="0">
                <a:solidFill>
                  <a:srgbClr val="5A6B73"/>
                </a:solidFill>
                <a:latin typeface="Calibri" pitchFamily="34" charset="0"/>
                <a:ea typeface="Calibri" pitchFamily="34" charset="-122"/>
                <a:cs typeface="Calibri" pitchFamily="34" charset="-120"/>
              </a:rPr>
              <a:t>triplet rows</a:t>
            </a:r>
            <a:endParaRPr lang="en-US" sz="1150" dirty="0"/>
          </a:p>
        </p:txBody>
      </p:sp>
      <p:sp>
        <p:nvSpPr>
          <p:cNvPr id="12" name="Shape 10"/>
          <p:cNvSpPr/>
          <p:nvPr/>
        </p:nvSpPr>
        <p:spPr>
          <a:xfrm>
            <a:off x="640080" y="2880360"/>
            <a:ext cx="5577840" cy="1097280"/>
          </a:xfrm>
          <a:prstGeom prst="roundRect">
            <a:avLst>
              <a:gd name="adj" fmla="val 4167"/>
            </a:avLst>
          </a:prstGeom>
          <a:solidFill>
            <a:srgbClr val="FBEEDA"/>
          </a:solidFill>
          <a:ln w="12700">
            <a:solidFill>
              <a:srgbClr val="FBEEDA"/>
            </a:solidFill>
            <a:prstDash val="solid"/>
          </a:ln>
        </p:spPr>
      </p:sp>
      <p:sp>
        <p:nvSpPr>
          <p:cNvPr id="13" name="Text 11"/>
          <p:cNvSpPr/>
          <p:nvPr/>
        </p:nvSpPr>
        <p:spPr>
          <a:xfrm>
            <a:off x="868680" y="3063240"/>
            <a:ext cx="5120640" cy="777240"/>
          </a:xfrm>
          <a:prstGeom prst="rect">
            <a:avLst/>
          </a:prstGeom>
          <a:noFill/>
          <a:ln/>
        </p:spPr>
        <p:txBody>
          <a:bodyPr wrap="square" lIns="0" tIns="0" rIns="0" bIns="0" rtlCol="0" anchor="ctr"/>
          <a:lstStyle/>
          <a:p>
            <a:pPr indent="0" marL="0">
              <a:buNone/>
            </a:pPr>
            <a:r>
              <a:rPr lang="en-US" sz="1250" b="1" dirty="0">
                <a:solidFill>
                  <a:srgbClr val="6E4410"/>
                </a:solidFill>
                <a:latin typeface="Calibri" pitchFamily="34" charset="0"/>
                <a:ea typeface="Calibri" pitchFamily="34" charset="-122"/>
                <a:cs typeface="Calibri" pitchFamily="34" charset="-120"/>
              </a:rPr>
              <a:t>The effective dataset is ~21.7k queries — not 230k independent examples. Every figure we report uses the unique-query count.</a:t>
            </a:r>
            <a:endParaRPr lang="en-US" sz="1250" dirty="0"/>
          </a:p>
        </p:txBody>
      </p:sp>
      <p:sp>
        <p:nvSpPr>
          <p:cNvPr id="14" name="Text 12"/>
          <p:cNvSpPr/>
          <p:nvPr/>
        </p:nvSpPr>
        <p:spPr>
          <a:xfrm>
            <a:off x="640080" y="4160520"/>
            <a:ext cx="5577840" cy="18288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2303F"/>
                </a:solidFill>
                <a:latin typeface="Calibri" pitchFamily="34" charset="0"/>
                <a:ea typeface="Calibri" pitchFamily="34" charset="-122"/>
                <a:cs typeface="Calibri" pitchFamily="34" charset="-120"/>
              </a:rPr>
              <a:t>abhinand/MedEmbed-training-triplets-v1 — Apache 2.0</a:t>
            </a:r>
            <a:endParaRPr lang="en-US" sz="1300" dirty="0"/>
          </a:p>
          <a:p>
            <a:pPr marL="342900" indent="-342900">
              <a:spcAft>
                <a:spcPts val="800"/>
              </a:spcAft>
              <a:buSzPct val="100000"/>
              <a:buChar char="•"/>
            </a:pPr>
            <a:r>
              <a:rPr lang="en-US" sz="1300" dirty="0">
                <a:solidFill>
                  <a:srgbClr val="12303F"/>
                </a:solidFill>
                <a:latin typeface="Calibri" pitchFamily="34" charset="0"/>
                <a:ea typeface="Calibri" pitchFamily="34" charset="-122"/>
                <a:cs typeface="Calibri" pitchFamily="34" charset="-120"/>
              </a:rPr>
              <a:t>Generated by LLaMA 3.1 70B over PMC clinical notes</a:t>
            </a:r>
            <a:endParaRPr lang="en-US" sz="1300" dirty="0"/>
          </a:p>
          <a:p>
            <a:pPr marL="342900" indent="-342900">
              <a:spcAft>
                <a:spcPts val="800"/>
              </a:spcAft>
              <a:buSzPct val="100000"/>
              <a:buChar char="•"/>
            </a:pPr>
            <a:r>
              <a:rPr lang="en-US" sz="1300" dirty="0">
                <a:solidFill>
                  <a:srgbClr val="12303F"/>
                </a:solidFill>
                <a:latin typeface="Calibri" pitchFamily="34" charset="0"/>
                <a:ea typeface="Calibri" pitchFamily="34" charset="-122"/>
                <a:cs typeface="Calibri" pitchFamily="34" charset="-120"/>
              </a:rPr>
              <a:t>Median query 6 tokens; median passage 23 tokens</a:t>
            </a:r>
            <a:endParaRPr lang="en-US" sz="1300" dirty="0"/>
          </a:p>
          <a:p>
            <a:pPr marL="342900" indent="-342900">
              <a:spcAft>
                <a:spcPts val="800"/>
              </a:spcAft>
              <a:buSzPct val="100000"/>
              <a:buChar char="•"/>
            </a:pPr>
            <a:r>
              <a:rPr lang="en-US" sz="1300" dirty="0">
                <a:solidFill>
                  <a:srgbClr val="12303F"/>
                </a:solidFill>
                <a:latin typeface="Calibri" pitchFamily="34" charset="0"/>
                <a:ea typeface="Calibri" pitchFamily="34" charset="-122"/>
                <a:cs typeface="Calibri" pitchFamily="34" charset="-120"/>
              </a:rPr>
              <a:t>~10.7 negatives per query before filtering</a:t>
            </a:r>
            <a:endParaRPr lang="en-US" sz="1300" dirty="0"/>
          </a:p>
        </p:txBody>
      </p:sp>
      <p:pic>
        <p:nvPicPr>
          <p:cNvPr id="15" name="Image 0" descr="/mnt/user-data/uploads/eda_lengths.png">    </p:cNvPr>
          <p:cNvPicPr>
            <a:picLocks noChangeAspect="1"/>
          </p:cNvPicPr>
          <p:nvPr/>
        </p:nvPicPr>
        <p:blipFill>
          <a:blip r:embed="rId1"/>
          <a:stretch>
            <a:fillRect/>
          </a:stretch>
        </p:blipFill>
        <p:spPr>
          <a:xfrm>
            <a:off x="6400800" y="1508760"/>
            <a:ext cx="5120640" cy="3483864"/>
          </a:xfrm>
          <a:prstGeom prst="rect">
            <a:avLst/>
          </a:prstGeom>
        </p:spPr>
      </p:pic>
      <p:sp>
        <p:nvSpPr>
          <p:cNvPr id="16" name="Text 13"/>
          <p:cNvSpPr/>
          <p:nvPr/>
        </p:nvSpPr>
        <p:spPr>
          <a:xfrm>
            <a:off x="6400800" y="5047488"/>
            <a:ext cx="5120640" cy="237744"/>
          </a:xfrm>
          <a:prstGeom prst="rect">
            <a:avLst/>
          </a:prstGeom>
          <a:noFill/>
          <a:ln/>
        </p:spPr>
        <p:txBody>
          <a:bodyPr wrap="square" lIns="0" tIns="0" rIns="0" bIns="0" rtlCol="0" anchor="ctr"/>
          <a:lstStyle/>
          <a:p>
            <a:pPr algn="l" indent="0" marL="0">
              <a:buNone/>
            </a:pPr>
            <a:r>
              <a:rPr lang="en-US" sz="950" i="1" dirty="0">
                <a:solidFill>
                  <a:srgbClr val="5A6B73"/>
                </a:solidFill>
                <a:latin typeface="Calibri" pitchFamily="34" charset="0"/>
                <a:ea typeface="Calibri" pitchFamily="34" charset="-122"/>
                <a:cs typeface="Calibri" pitchFamily="34" charset="-120"/>
              </a:rPr>
              <a:t>Passages sit far below the 320-token cap — the tail never reaches it.</a:t>
            </a:r>
            <a:endParaRPr lang="en-US" sz="950" dirty="0"/>
          </a:p>
        </p:txBody>
      </p:sp>
      <p:sp>
        <p:nvSpPr>
          <p:cNvPr id="17" name="Text 14"/>
          <p:cNvSpPr/>
          <p:nvPr/>
        </p:nvSpPr>
        <p:spPr>
          <a:xfrm>
            <a:off x="640080" y="6327648"/>
            <a:ext cx="9692640" cy="274320"/>
          </a:xfrm>
          <a:prstGeom prst="rect">
            <a:avLst/>
          </a:prstGeom>
          <a:noFill/>
          <a:ln/>
        </p:spPr>
        <p:txBody>
          <a:bodyPr wrap="square" lIns="0" tIns="0" rIns="0" bIns="0" rtlCol="0" anchor="ctr"/>
          <a:lstStyle/>
          <a:p>
            <a:pPr algn="l" indent="0" marL="0">
              <a:buNone/>
            </a:pPr>
            <a:r>
              <a:rPr lang="en-US" sz="950" i="1" dirty="0">
                <a:solidFill>
                  <a:srgbClr val="5A6B73"/>
                </a:solidFill>
                <a:latin typeface="Calibri" pitchFamily="34" charset="0"/>
                <a:ea typeface="Calibri" pitchFamily="34" charset="-122"/>
                <a:cs typeface="Calibri" pitchFamily="34" charset="-120"/>
              </a:rPr>
              <a:t>Capping max_seq_length at 320 rather than 8192 spends the freed memory on batch size instead, which is what contrastive training actually needs.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6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2. DATA AND EXPLORATORY ANALYSIS</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1</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Corpus and Query Characteristics</a:t>
            </a:r>
            <a:endParaRPr lang="en-US" sz="3400" dirty="0"/>
          </a:p>
        </p:txBody>
      </p:sp>
      <p:pic>
        <p:nvPicPr>
          <p:cNvPr id="6" name="Image 0" descr="/mnt/user-data/uploads/eda_query_types.png">    </p:cNvPr>
          <p:cNvPicPr>
            <a:picLocks noChangeAspect="1"/>
          </p:cNvPicPr>
          <p:nvPr/>
        </p:nvPicPr>
        <p:blipFill>
          <a:blip r:embed="rId1"/>
          <a:stretch>
            <a:fillRect/>
          </a:stretch>
        </p:blipFill>
        <p:spPr>
          <a:xfrm>
            <a:off x="640080" y="1463040"/>
            <a:ext cx="5120640" cy="2258568"/>
          </a:xfrm>
          <a:prstGeom prst="rect">
            <a:avLst/>
          </a:prstGeom>
        </p:spPr>
      </p:pic>
      <p:pic>
        <p:nvPicPr>
          <p:cNvPr id="7" name="Image 1" descr="/mnt/user-data/uploads/eda_lexical_overlap.png">    </p:cNvPr>
          <p:cNvPicPr>
            <a:picLocks noChangeAspect="1"/>
          </p:cNvPicPr>
          <p:nvPr/>
        </p:nvPicPr>
        <p:blipFill>
          <a:blip r:embed="rId2"/>
          <a:stretch>
            <a:fillRect/>
          </a:stretch>
        </p:blipFill>
        <p:spPr>
          <a:xfrm>
            <a:off x="640080" y="3977640"/>
            <a:ext cx="5120640" cy="2258568"/>
          </a:xfrm>
          <a:prstGeom prst="rect">
            <a:avLst/>
          </a:prstGeom>
        </p:spPr>
      </p:pic>
      <p:pic>
        <p:nvPicPr>
          <p:cNvPr id="8" name="Image 2" descr="/mnt/user-data/uploads/eda_specialty.png">    </p:cNvPr>
          <p:cNvPicPr>
            <a:picLocks noChangeAspect="1"/>
          </p:cNvPicPr>
          <p:nvPr/>
        </p:nvPicPr>
        <p:blipFill>
          <a:blip r:embed="rId3"/>
          <a:stretch>
            <a:fillRect/>
          </a:stretch>
        </p:blipFill>
        <p:spPr>
          <a:xfrm>
            <a:off x="6080760" y="1463040"/>
            <a:ext cx="5440680" cy="3721608"/>
          </a:xfrm>
          <a:prstGeom prst="rect">
            <a:avLst/>
          </a:prstGeom>
        </p:spPr>
      </p:pic>
      <p:sp>
        <p:nvSpPr>
          <p:cNvPr id="9" name="Shape 4"/>
          <p:cNvSpPr/>
          <p:nvPr/>
        </p:nvSpPr>
        <p:spPr>
          <a:xfrm>
            <a:off x="6080760" y="5349240"/>
            <a:ext cx="5440680" cy="886968"/>
          </a:xfrm>
          <a:prstGeom prst="roundRect">
            <a:avLst>
              <a:gd name="adj" fmla="val 5155"/>
            </a:avLst>
          </a:prstGeom>
          <a:solidFill>
            <a:srgbClr val="F4F6F7"/>
          </a:solidFill>
          <a:ln w="12700">
            <a:solidFill>
              <a:srgbClr val="D3DBDE"/>
            </a:solidFill>
            <a:prstDash val="solid"/>
          </a:ln>
        </p:spPr>
      </p:sp>
      <p:sp>
        <p:nvSpPr>
          <p:cNvPr id="10" name="Text 5"/>
          <p:cNvSpPr/>
          <p:nvPr/>
        </p:nvSpPr>
        <p:spPr>
          <a:xfrm>
            <a:off x="6309360" y="5504688"/>
            <a:ext cx="5029200" cy="640080"/>
          </a:xfrm>
          <a:prstGeom prst="rect">
            <a:avLst/>
          </a:prstGeom>
          <a:noFill/>
          <a:ln/>
        </p:spPr>
        <p:txBody>
          <a:bodyPr wrap="square" lIns="0" tIns="0" rIns="0" bIns="0" rtlCol="0" anchor="ctr"/>
          <a:lstStyle/>
          <a:p>
            <a:pPr indent="0" marL="0">
              <a:buNone/>
            </a:pPr>
            <a:r>
              <a:rPr lang="en-US" sz="1150" dirty="0">
                <a:solidFill>
                  <a:srgbClr val="12303F"/>
                </a:solidFill>
                <a:latin typeface="Calibri" pitchFamily="34" charset="0"/>
                <a:ea typeface="Calibri" pitchFamily="34" charset="-122"/>
                <a:cs typeface="Calibri" pitchFamily="34" charset="-120"/>
              </a:rPr>
              <a:t>Broad coverage, but 9,613 passages match no MeSH disease category at all — a vocabulary-coverage ceiling, not a gap in the corpus.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7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2. DATA AND EXPLORATORY ANALYSIS</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1</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Data Quality Assessment</a:t>
            </a:r>
            <a:endParaRPr lang="en-US" sz="3400" dirty="0"/>
          </a:p>
        </p:txBody>
      </p:sp>
      <p:sp>
        <p:nvSpPr>
          <p:cNvPr id="6" name="Shape 4"/>
          <p:cNvSpPr/>
          <p:nvPr/>
        </p:nvSpPr>
        <p:spPr>
          <a:xfrm>
            <a:off x="640080" y="1600200"/>
            <a:ext cx="3383280" cy="2331720"/>
          </a:xfrm>
          <a:prstGeom prst="roundRect">
            <a:avLst>
              <a:gd name="adj" fmla="val 1961"/>
            </a:avLst>
          </a:prstGeom>
          <a:solidFill>
            <a:srgbClr val="FFFFFF"/>
          </a:solidFill>
          <a:ln w="12700">
            <a:solidFill>
              <a:srgbClr val="D3DBDE"/>
            </a:solidFill>
            <a:prstDash val="solid"/>
          </a:ln>
        </p:spPr>
      </p:sp>
      <p:sp>
        <p:nvSpPr>
          <p:cNvPr id="7" name="Shape 5"/>
          <p:cNvSpPr/>
          <p:nvPr/>
        </p:nvSpPr>
        <p:spPr>
          <a:xfrm>
            <a:off x="896112" y="1810512"/>
            <a:ext cx="384048" cy="274320"/>
          </a:xfrm>
          <a:prstGeom prst="roundRect">
            <a:avLst>
              <a:gd name="adj" fmla="val 33333"/>
            </a:avLst>
          </a:prstGeom>
          <a:solidFill>
            <a:srgbClr val="0E7C7B"/>
          </a:solidFill>
          <a:ln w="12700">
            <a:solidFill>
              <a:srgbClr val="0E7C7B"/>
            </a:solidFill>
            <a:prstDash val="solid"/>
          </a:ln>
        </p:spPr>
      </p:sp>
      <p:sp>
        <p:nvSpPr>
          <p:cNvPr id="8" name="Text 6"/>
          <p:cNvSpPr/>
          <p:nvPr/>
        </p:nvSpPr>
        <p:spPr>
          <a:xfrm>
            <a:off x="896112" y="1810512"/>
            <a:ext cx="3840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896112" y="2194560"/>
            <a:ext cx="2880360" cy="292608"/>
          </a:xfrm>
          <a:prstGeom prst="rect">
            <a:avLst/>
          </a:prstGeom>
          <a:noFill/>
          <a:ln/>
        </p:spPr>
        <p:txBody>
          <a:bodyPr wrap="square" lIns="0" tIns="0" rIns="0" bIns="0" rtlCol="0" anchor="ctr"/>
          <a:lstStyle/>
          <a:p>
            <a:pPr indent="0" marL="0">
              <a:buNone/>
            </a:pPr>
            <a:r>
              <a:rPr lang="en-US" sz="1600" b="1" dirty="0">
                <a:solidFill>
                  <a:srgbClr val="12303F"/>
                </a:solidFill>
                <a:latin typeface="Cambria" pitchFamily="34" charset="0"/>
                <a:ea typeface="Cambria" pitchFamily="34" charset="-122"/>
                <a:cs typeface="Cambria" pitchFamily="34" charset="-120"/>
              </a:rPr>
              <a:t>Anaphoric queries</a:t>
            </a:r>
            <a:endParaRPr lang="en-US" sz="1600" dirty="0"/>
          </a:p>
        </p:txBody>
      </p:sp>
      <p:sp>
        <p:nvSpPr>
          <p:cNvPr id="10" name="Text 8"/>
          <p:cNvSpPr/>
          <p:nvPr/>
        </p:nvSpPr>
        <p:spPr>
          <a:xfrm>
            <a:off x="896112" y="2542032"/>
            <a:ext cx="2880360" cy="1051560"/>
          </a:xfrm>
          <a:prstGeom prst="rect">
            <a:avLst/>
          </a:prstGeom>
          <a:noFill/>
          <a:ln/>
        </p:spPr>
        <p:txBody>
          <a:bodyPr wrap="square" lIns="0" tIns="0" rIns="0" bIns="0" rtlCol="0" anchor="ctr"/>
          <a:lstStyle/>
          <a:p>
            <a:pPr indent="0" marL="0">
              <a:buNone/>
            </a:pPr>
            <a:r>
              <a:rPr lang="en-US" sz="1150" dirty="0">
                <a:solidFill>
                  <a:srgbClr val="5A6B73"/>
                </a:solidFill>
                <a:latin typeface="Calibri" pitchFamily="34" charset="0"/>
                <a:ea typeface="Calibri" pitchFamily="34" charset="-122"/>
                <a:cs typeface="Calibri" pitchFamily="34" charset="-120"/>
              </a:rPr>
              <a:t>“What was the outcome of the patient’s treatment?” has no unique correct answer — thousands of near-identical queries point at different passages.</a:t>
            </a:r>
            <a:endParaRPr lang="en-US" sz="1150" dirty="0"/>
          </a:p>
        </p:txBody>
      </p:sp>
      <p:sp>
        <p:nvSpPr>
          <p:cNvPr id="11" name="Text 9"/>
          <p:cNvSpPr/>
          <p:nvPr/>
        </p:nvSpPr>
        <p:spPr>
          <a:xfrm>
            <a:off x="896112" y="3584448"/>
            <a:ext cx="2880360" cy="256032"/>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2,214 dropped (10.2%) · 1,643 saved by the clinical-entity clause</a:t>
            </a:r>
            <a:endParaRPr lang="en-US" sz="1100" dirty="0"/>
          </a:p>
        </p:txBody>
      </p:sp>
      <p:sp>
        <p:nvSpPr>
          <p:cNvPr id="12" name="Shape 10"/>
          <p:cNvSpPr/>
          <p:nvPr/>
        </p:nvSpPr>
        <p:spPr>
          <a:xfrm>
            <a:off x="4297680" y="1600200"/>
            <a:ext cx="3383280" cy="2331720"/>
          </a:xfrm>
          <a:prstGeom prst="roundRect">
            <a:avLst>
              <a:gd name="adj" fmla="val 1961"/>
            </a:avLst>
          </a:prstGeom>
          <a:solidFill>
            <a:srgbClr val="FFFFFF"/>
          </a:solidFill>
          <a:ln w="12700">
            <a:solidFill>
              <a:srgbClr val="D3DBDE"/>
            </a:solidFill>
            <a:prstDash val="solid"/>
          </a:ln>
        </p:spPr>
      </p:sp>
      <p:sp>
        <p:nvSpPr>
          <p:cNvPr id="13" name="Shape 11"/>
          <p:cNvSpPr/>
          <p:nvPr/>
        </p:nvSpPr>
        <p:spPr>
          <a:xfrm>
            <a:off x="4553712" y="1810512"/>
            <a:ext cx="384048" cy="274320"/>
          </a:xfrm>
          <a:prstGeom prst="roundRect">
            <a:avLst>
              <a:gd name="adj" fmla="val 33333"/>
            </a:avLst>
          </a:prstGeom>
          <a:solidFill>
            <a:srgbClr val="0E7C7B"/>
          </a:solidFill>
          <a:ln w="12700">
            <a:solidFill>
              <a:srgbClr val="0E7C7B"/>
            </a:solidFill>
            <a:prstDash val="solid"/>
          </a:ln>
        </p:spPr>
      </p:sp>
      <p:sp>
        <p:nvSpPr>
          <p:cNvPr id="14" name="Text 12"/>
          <p:cNvSpPr/>
          <p:nvPr/>
        </p:nvSpPr>
        <p:spPr>
          <a:xfrm>
            <a:off x="4553712" y="1810512"/>
            <a:ext cx="3840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4553712" y="2194560"/>
            <a:ext cx="2880360" cy="292608"/>
          </a:xfrm>
          <a:prstGeom prst="rect">
            <a:avLst/>
          </a:prstGeom>
          <a:noFill/>
          <a:ln/>
        </p:spPr>
        <p:txBody>
          <a:bodyPr wrap="square" lIns="0" tIns="0" rIns="0" bIns="0" rtlCol="0" anchor="ctr"/>
          <a:lstStyle/>
          <a:p>
            <a:pPr indent="0" marL="0">
              <a:buNone/>
            </a:pPr>
            <a:r>
              <a:rPr lang="en-US" sz="1600" b="1" dirty="0">
                <a:solidFill>
                  <a:srgbClr val="12303F"/>
                </a:solidFill>
                <a:latin typeface="Cambria" pitchFamily="34" charset="0"/>
                <a:ea typeface="Cambria" pitchFamily="34" charset="-122"/>
                <a:cs typeface="Cambria" pitchFamily="34" charset="-120"/>
              </a:rPr>
              <a:t>False negatives</a:t>
            </a:r>
            <a:endParaRPr lang="en-US" sz="1600" dirty="0"/>
          </a:p>
        </p:txBody>
      </p:sp>
      <p:sp>
        <p:nvSpPr>
          <p:cNvPr id="16" name="Text 14"/>
          <p:cNvSpPr/>
          <p:nvPr/>
        </p:nvSpPr>
        <p:spPr>
          <a:xfrm>
            <a:off x="4553712" y="2542032"/>
            <a:ext cx="2880360" cy="1051560"/>
          </a:xfrm>
          <a:prstGeom prst="rect">
            <a:avLst/>
          </a:prstGeom>
          <a:noFill/>
          <a:ln/>
        </p:spPr>
        <p:txBody>
          <a:bodyPr wrap="square" lIns="0" tIns="0" rIns="0" bIns="0" rtlCol="0" anchor="ctr"/>
          <a:lstStyle/>
          <a:p>
            <a:pPr indent="0" marL="0">
              <a:buNone/>
            </a:pPr>
            <a:r>
              <a:rPr lang="en-US" sz="1150" dirty="0">
                <a:solidFill>
                  <a:srgbClr val="5A6B73"/>
                </a:solidFill>
                <a:latin typeface="Calibri" pitchFamily="34" charset="0"/>
                <a:ea typeface="Calibri" pitchFamily="34" charset="-122"/>
                <a:cs typeface="Calibri" pitchFamily="34" charset="-120"/>
              </a:rPr>
              <a:t>Generic passages recur as negatives across unrelated queries. One passage serves 307 distinct queries. Some are as relevant as their paired positive.</a:t>
            </a:r>
            <a:endParaRPr lang="en-US" sz="1150" dirty="0"/>
          </a:p>
        </p:txBody>
      </p:sp>
      <p:sp>
        <p:nvSpPr>
          <p:cNvPr id="17" name="Text 15"/>
          <p:cNvSpPr/>
          <p:nvPr/>
        </p:nvSpPr>
        <p:spPr>
          <a:xfrm>
            <a:off x="4553712" y="3584448"/>
            <a:ext cx="2880360" cy="256032"/>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1,962 pairs dropped at cosine 0.71 (0.99%)</a:t>
            </a:r>
            <a:endParaRPr lang="en-US" sz="1100" dirty="0"/>
          </a:p>
        </p:txBody>
      </p:sp>
      <p:sp>
        <p:nvSpPr>
          <p:cNvPr id="18" name="Shape 16"/>
          <p:cNvSpPr/>
          <p:nvPr/>
        </p:nvSpPr>
        <p:spPr>
          <a:xfrm>
            <a:off x="7955280" y="1600200"/>
            <a:ext cx="3383280" cy="2331720"/>
          </a:xfrm>
          <a:prstGeom prst="roundRect">
            <a:avLst>
              <a:gd name="adj" fmla="val 1961"/>
            </a:avLst>
          </a:prstGeom>
          <a:solidFill>
            <a:srgbClr val="FFFFFF"/>
          </a:solidFill>
          <a:ln w="12700">
            <a:solidFill>
              <a:srgbClr val="D3DBDE"/>
            </a:solidFill>
            <a:prstDash val="solid"/>
          </a:ln>
        </p:spPr>
      </p:sp>
      <p:sp>
        <p:nvSpPr>
          <p:cNvPr id="19" name="Shape 17"/>
          <p:cNvSpPr/>
          <p:nvPr/>
        </p:nvSpPr>
        <p:spPr>
          <a:xfrm>
            <a:off x="8211312" y="1810512"/>
            <a:ext cx="384048" cy="274320"/>
          </a:xfrm>
          <a:prstGeom prst="roundRect">
            <a:avLst>
              <a:gd name="adj" fmla="val 33333"/>
            </a:avLst>
          </a:prstGeom>
          <a:solidFill>
            <a:srgbClr val="0E7C7B"/>
          </a:solidFill>
          <a:ln w="12700">
            <a:solidFill>
              <a:srgbClr val="0E7C7B"/>
            </a:solidFill>
            <a:prstDash val="solid"/>
          </a:ln>
        </p:spPr>
      </p:sp>
      <p:sp>
        <p:nvSpPr>
          <p:cNvPr id="20" name="Text 18"/>
          <p:cNvSpPr/>
          <p:nvPr/>
        </p:nvSpPr>
        <p:spPr>
          <a:xfrm>
            <a:off x="8211312" y="1810512"/>
            <a:ext cx="3840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8211312" y="2194560"/>
            <a:ext cx="2880360" cy="292608"/>
          </a:xfrm>
          <a:prstGeom prst="rect">
            <a:avLst/>
          </a:prstGeom>
          <a:noFill/>
          <a:ln/>
        </p:spPr>
        <p:txBody>
          <a:bodyPr wrap="square" lIns="0" tIns="0" rIns="0" bIns="0" rtlCol="0" anchor="ctr"/>
          <a:lstStyle/>
          <a:p>
            <a:pPr indent="0" marL="0">
              <a:buNone/>
            </a:pPr>
            <a:r>
              <a:rPr lang="en-US" sz="1600" b="1" dirty="0">
                <a:solidFill>
                  <a:srgbClr val="12303F"/>
                </a:solidFill>
                <a:latin typeface="Cambria" pitchFamily="34" charset="0"/>
                <a:ea typeface="Cambria" pitchFamily="34" charset="-122"/>
                <a:cs typeface="Cambria" pitchFamily="34" charset="-120"/>
              </a:rPr>
              <a:t>Degenerate positives</a:t>
            </a:r>
            <a:endParaRPr lang="en-US" sz="1600" dirty="0"/>
          </a:p>
        </p:txBody>
      </p:sp>
      <p:sp>
        <p:nvSpPr>
          <p:cNvPr id="22" name="Text 20"/>
          <p:cNvSpPr/>
          <p:nvPr/>
        </p:nvSpPr>
        <p:spPr>
          <a:xfrm>
            <a:off x="8211312" y="2542032"/>
            <a:ext cx="2880360" cy="1051560"/>
          </a:xfrm>
          <a:prstGeom prst="rect">
            <a:avLst/>
          </a:prstGeom>
          <a:noFill/>
          <a:ln/>
        </p:spPr>
        <p:txBody>
          <a:bodyPr wrap="square" lIns="0" tIns="0" rIns="0" bIns="0" rtlCol="0" anchor="ctr"/>
          <a:lstStyle/>
          <a:p>
            <a:pPr indent="0" marL="0">
              <a:buNone/>
            </a:pPr>
            <a:r>
              <a:rPr lang="en-US" sz="1150" dirty="0">
                <a:solidFill>
                  <a:srgbClr val="5A6B73"/>
                </a:solidFill>
                <a:latin typeface="Calibri" pitchFamily="34" charset="0"/>
                <a:ea typeface="Calibri" pitchFamily="34" charset="-122"/>
                <a:cs typeface="Calibri" pitchFamily="34" charset="-120"/>
              </a:rPr>
              <a:t>Near-contentless retrieval targets — “Nurick scale 1.” — are unusable as gold passages.</a:t>
            </a:r>
            <a:endParaRPr lang="en-US" sz="1150" dirty="0"/>
          </a:p>
        </p:txBody>
      </p:sp>
      <p:sp>
        <p:nvSpPr>
          <p:cNvPr id="23" name="Text 21"/>
          <p:cNvSpPr/>
          <p:nvPr/>
        </p:nvSpPr>
        <p:spPr>
          <a:xfrm>
            <a:off x="8211312" y="3584448"/>
            <a:ext cx="2880360" cy="256032"/>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Filtered on minimum token count</a:t>
            </a:r>
            <a:endParaRPr lang="en-US" sz="1100" dirty="0"/>
          </a:p>
        </p:txBody>
      </p:sp>
      <p:pic>
        <p:nvPicPr>
          <p:cNvPr id="24" name="Image 0" descr="/mnt/user-data/uploads/eda_anaphoric.png">    </p:cNvPr>
          <p:cNvPicPr>
            <a:picLocks noChangeAspect="1"/>
          </p:cNvPicPr>
          <p:nvPr/>
        </p:nvPicPr>
        <p:blipFill>
          <a:blip r:embed="rId1"/>
          <a:stretch>
            <a:fillRect/>
          </a:stretch>
        </p:blipFill>
        <p:spPr>
          <a:xfrm>
            <a:off x="640080" y="4114800"/>
            <a:ext cx="5349240" cy="1755648"/>
          </a:xfrm>
          <a:prstGeom prst="rect">
            <a:avLst/>
          </a:prstGeom>
        </p:spPr>
      </p:pic>
      <p:pic>
        <p:nvPicPr>
          <p:cNvPr id="25" name="Image 1" descr="/mnt/user-data/uploads/eda_negatives.png">    </p:cNvPr>
          <p:cNvPicPr>
            <a:picLocks noChangeAspect="1"/>
          </p:cNvPicPr>
          <p:nvPr/>
        </p:nvPicPr>
        <p:blipFill>
          <a:blip r:embed="rId2"/>
          <a:stretch>
            <a:fillRect/>
          </a:stretch>
        </p:blipFill>
        <p:spPr>
          <a:xfrm>
            <a:off x="6172200" y="4114800"/>
            <a:ext cx="5349240" cy="1764792"/>
          </a:xfrm>
          <a:prstGeom prst="rect">
            <a:avLst/>
          </a:prstGeom>
        </p:spPr>
      </p:pic>
      <p:sp>
        <p:nvSpPr>
          <p:cNvPr id="26" name="Text 22"/>
          <p:cNvSpPr/>
          <p:nvPr/>
        </p:nvSpPr>
        <p:spPr>
          <a:xfrm>
            <a:off x="640080" y="5989320"/>
            <a:ext cx="10881360" cy="320040"/>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19,141 queries survive filtering</a:t>
            </a:r>
            <a:pPr indent="0" marL="0">
              <a:buNone/>
            </a:pPr>
            <a:r>
              <a:rPr lang="en-US" sz="1200" dirty="0">
                <a:solidFill>
                  <a:srgbClr val="5A6B73"/>
                </a:solidFill>
                <a:latin typeface="Calibri" pitchFamily="34" charset="0"/>
                <a:ea typeface="Calibri" pitchFamily="34" charset="-122"/>
                <a:cs typeface="Calibri" pitchFamily="34" charset="-120"/>
              </a:rPr>
              <a:t>  — 88.2% of the raw set, and well clear of the 8,000-query floor we set in advance as an abort threshold.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8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2. DATA AND EXPLORATORY ANALYSIS</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1</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Threshold Selection Methodology</a:t>
            </a:r>
            <a:endParaRPr lang="en-US" sz="3400" dirty="0"/>
          </a:p>
        </p:txBody>
      </p:sp>
      <p:sp>
        <p:nvSpPr>
          <p:cNvPr id="6" name="Text 4"/>
          <p:cNvSpPr/>
          <p:nvPr/>
        </p:nvSpPr>
        <p:spPr>
          <a:xfrm>
            <a:off x="640080" y="1536192"/>
            <a:ext cx="6858000" cy="685800"/>
          </a:xfrm>
          <a:prstGeom prst="rect">
            <a:avLst/>
          </a:prstGeom>
          <a:noFill/>
          <a:ln/>
        </p:spPr>
        <p:txBody>
          <a:bodyPr wrap="square" lIns="0" tIns="0" rIns="0" bIns="0" rtlCol="0" anchor="ctr"/>
          <a:lstStyle/>
          <a:p>
            <a:pPr indent="0" marL="0">
              <a:buNone/>
            </a:pPr>
            <a:r>
              <a:rPr lang="en-US" sz="1350" dirty="0">
                <a:solidFill>
                  <a:srgbClr val="12303F"/>
                </a:solidFill>
                <a:latin typeface="Calibri" pitchFamily="34" charset="0"/>
                <a:ea typeface="Calibri" pitchFamily="34" charset="-122"/>
                <a:cs typeface="Calibri" pitchFamily="34" charset="-120"/>
              </a:rPr>
              <a:t>198,257 (query, negative) pairs scored with the stock encoder. The histogram is smooth and unimodal — no elbow to cut on — so we read samples banded by similarity. p95 sits at 0.650; we cut at p99.</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331720"/>
          <a:ext cx="6858000" cy="914400"/>
        </p:xfrm>
        <a:graphic>
          <a:graphicData uri="http://schemas.openxmlformats.org/drawingml/2006/table">
            <a:tbl>
              <a:tblPr/>
              <a:tblGrid>
                <a:gridCol w="1828800"/>
                <a:gridCol w="5029200"/>
              </a:tblGrid>
              <a:tr h="34747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Similarity band</a:t>
                      </a:r>
                      <a:endParaRPr lang="en-US" sz="12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is actually in it</a:t>
                      </a:r>
                      <a:endParaRPr lang="en-US" sz="12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r>
              <a:tr h="347472">
                <a:tc>
                  <a:txBody>
                    <a:bodyPr/>
                    <a:lstStyle/>
                    <a:p>
                      <a:pPr indent="0" marL="0">
                        <a:buNone/>
                      </a:pPr>
                      <a:r>
                        <a:rPr lang="en-US" sz="1250" dirty="0">
                          <a:solidFill>
                            <a:srgbClr val="12303F"/>
                          </a:solidFill>
                          <a:latin typeface="Calibri" pitchFamily="34" charset="0"/>
                          <a:ea typeface="Calibri" pitchFamily="34" charset="-122"/>
                          <a:cs typeface="Calibri" pitchFamily="34" charset="-120"/>
                        </a:rPr>
                        <a:t>0.62 – 0.66</a:t>
                      </a:r>
                      <a:endParaRPr lang="en-US" sz="12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50" dirty="0">
                          <a:solidFill>
                            <a:srgbClr val="12303F"/>
                          </a:solidFill>
                          <a:latin typeface="Calibri" pitchFamily="34" charset="0"/>
                          <a:ea typeface="Calibri" pitchFamily="34" charset="-122"/>
                          <a:cs typeface="Calibri" pitchFamily="34" charset="-120"/>
                        </a:rPr>
                        <a:t>Mixed — genuine false negatives and fair negatives</a:t>
                      </a:r>
                      <a:endParaRPr lang="en-US" sz="12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47472">
                <a:tc>
                  <a:txBody>
                    <a:bodyPr/>
                    <a:lstStyle/>
                    <a:p>
                      <a:pPr indent="0" marL="0">
                        <a:buNone/>
                      </a:pPr>
                      <a:r>
                        <a:rPr lang="en-US" sz="1250" dirty="0">
                          <a:solidFill>
                            <a:srgbClr val="12303F"/>
                          </a:solidFill>
                          <a:latin typeface="Calibri" pitchFamily="34" charset="0"/>
                          <a:ea typeface="Calibri" pitchFamily="34" charset="-122"/>
                          <a:cs typeface="Calibri" pitchFamily="34" charset="-120"/>
                        </a:rPr>
                        <a:t>0.70 – 0.74</a:t>
                      </a:r>
                      <a:endParaRPr lang="en-US" sz="12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50" dirty="0">
                          <a:solidFill>
                            <a:srgbClr val="12303F"/>
                          </a:solidFill>
                          <a:latin typeface="Calibri" pitchFamily="34" charset="0"/>
                          <a:ea typeface="Calibri" pitchFamily="34" charset="-122"/>
                          <a:cs typeface="Calibri" pitchFamily="34" charset="-120"/>
                        </a:rPr>
                        <a:t>Near-uniformly generic follow-up boilerplate</a:t>
                      </a:r>
                      <a:endParaRPr lang="en-US" sz="12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47472">
                <a:tc>
                  <a:txBody>
                    <a:bodyPr/>
                    <a:lstStyle/>
                    <a:p>
                      <a:pPr indent="0" marL="0">
                        <a:buNone/>
                      </a:pPr>
                      <a:r>
                        <a:rPr lang="en-US" sz="1250" dirty="0">
                          <a:solidFill>
                            <a:srgbClr val="12303F"/>
                          </a:solidFill>
                          <a:latin typeface="Calibri" pitchFamily="34" charset="0"/>
                          <a:ea typeface="Calibri" pitchFamily="34" charset="-122"/>
                          <a:cs typeface="Calibri" pitchFamily="34" charset="-120"/>
                        </a:rPr>
                        <a:t>0.78 +</a:t>
                      </a:r>
                      <a:endParaRPr lang="en-US" sz="12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50" dirty="0">
                          <a:solidFill>
                            <a:srgbClr val="12303F"/>
                          </a:solidFill>
                          <a:latin typeface="Calibri" pitchFamily="34" charset="0"/>
                          <a:ea typeface="Calibri" pitchFamily="34" charset="-122"/>
                          <a:cs typeface="Calibri" pitchFamily="34" charset="-120"/>
                        </a:rPr>
                        <a:t>Unambiguous false negatives</a:t>
                      </a:r>
                      <a:endParaRPr lang="en-US" sz="12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bl>
          </a:graphicData>
        </a:graphic>
      </p:graphicFrame>
      <p:sp>
        <p:nvSpPr>
          <p:cNvPr id="8" name="Shape 5"/>
          <p:cNvSpPr/>
          <p:nvPr/>
        </p:nvSpPr>
        <p:spPr>
          <a:xfrm>
            <a:off x="640080" y="3977640"/>
            <a:ext cx="6858000" cy="960120"/>
          </a:xfrm>
          <a:prstGeom prst="roundRect">
            <a:avLst>
              <a:gd name="adj" fmla="val 4762"/>
            </a:avLst>
          </a:prstGeom>
          <a:solidFill>
            <a:srgbClr val="F4F6F7"/>
          </a:solidFill>
          <a:ln w="12700">
            <a:solidFill>
              <a:srgbClr val="D3DBDE"/>
            </a:solidFill>
            <a:prstDash val="solid"/>
          </a:ln>
        </p:spPr>
      </p:sp>
      <p:sp>
        <p:nvSpPr>
          <p:cNvPr id="9" name="Text 6"/>
          <p:cNvSpPr/>
          <p:nvPr/>
        </p:nvSpPr>
        <p:spPr>
          <a:xfrm>
            <a:off x="868680" y="4114800"/>
            <a:ext cx="6400800" cy="731520"/>
          </a:xfrm>
          <a:prstGeom prst="rect">
            <a:avLst/>
          </a:prstGeom>
          <a:noFill/>
          <a:ln/>
        </p:spPr>
        <p:txBody>
          <a:bodyPr wrap="square" lIns="0" tIns="0" rIns="0" bIns="0" rtlCol="0" anchor="ctr"/>
          <a:lstStyle/>
          <a:p>
            <a:pPr indent="0" marL="0">
              <a:buNone/>
            </a:pPr>
            <a:r>
              <a:rPr lang="en-US" sz="1150" b="1" dirty="0">
                <a:solidFill>
                  <a:srgbClr val="12303F"/>
                </a:solidFill>
                <a:latin typeface="Calibri" pitchFamily="34" charset="0"/>
                <a:ea typeface="Calibri" pitchFamily="34" charset="-122"/>
                <a:cs typeface="Calibri" pitchFamily="34" charset="-120"/>
              </a:rPr>
              <a:t>Worst case at 0.910:  </a:t>
            </a:r>
            <a:pPr indent="0" marL="0">
              <a:buNone/>
            </a:pPr>
            <a:r>
              <a:rPr lang="en-US" sz="1150" i="1" dirty="0">
                <a:solidFill>
                  <a:srgbClr val="5A6B73"/>
                </a:solidFill>
                <a:latin typeface="Calibri" pitchFamily="34" charset="0"/>
                <a:ea typeface="Calibri" pitchFamily="34" charset="-122"/>
                <a:cs typeface="Calibri" pitchFamily="34" charset="-120"/>
              </a:rPr>
              <a:t>a query asking why the patient was advised to follow up with her primary care physician, paired against a “negative” saying she was advised to follow up with her primary care provider.</a:t>
            </a:r>
            <a:endParaRPr lang="en-US" sz="1150" dirty="0"/>
          </a:p>
        </p:txBody>
      </p:sp>
      <p:sp>
        <p:nvSpPr>
          <p:cNvPr id="10" name="Shape 7"/>
          <p:cNvSpPr/>
          <p:nvPr/>
        </p:nvSpPr>
        <p:spPr>
          <a:xfrm>
            <a:off x="7863840" y="1536192"/>
            <a:ext cx="3657600" cy="3401568"/>
          </a:xfrm>
          <a:prstGeom prst="roundRect">
            <a:avLst>
              <a:gd name="adj" fmla="val 1344"/>
            </a:avLst>
          </a:prstGeom>
          <a:solidFill>
            <a:srgbClr val="FFFFFF"/>
          </a:solidFill>
          <a:ln w="12700">
            <a:solidFill>
              <a:srgbClr val="0E7C7B"/>
            </a:solidFill>
            <a:prstDash val="solid"/>
          </a:ln>
        </p:spPr>
      </p:sp>
      <p:sp>
        <p:nvSpPr>
          <p:cNvPr id="11" name="Text 8"/>
          <p:cNvSpPr/>
          <p:nvPr/>
        </p:nvSpPr>
        <p:spPr>
          <a:xfrm>
            <a:off x="7863840" y="1783080"/>
            <a:ext cx="3657600" cy="822960"/>
          </a:xfrm>
          <a:prstGeom prst="rect">
            <a:avLst/>
          </a:prstGeom>
          <a:noFill/>
          <a:ln/>
        </p:spPr>
        <p:txBody>
          <a:bodyPr wrap="square" lIns="0" tIns="0" rIns="0" bIns="0" rtlCol="0" anchor="ctr"/>
          <a:lstStyle/>
          <a:p>
            <a:pPr algn="ctr" indent="0" marL="0">
              <a:buNone/>
            </a:pPr>
            <a:r>
              <a:rPr lang="en-US" sz="5200" b="1" dirty="0">
                <a:solidFill>
                  <a:srgbClr val="0E7C7B"/>
                </a:solidFill>
                <a:latin typeface="Cambria" pitchFamily="34" charset="0"/>
                <a:ea typeface="Cambria" pitchFamily="34" charset="-122"/>
                <a:cs typeface="Cambria" pitchFamily="34" charset="-120"/>
              </a:rPr>
              <a:t>0.71</a:t>
            </a:r>
            <a:endParaRPr lang="en-US" sz="5200" dirty="0"/>
          </a:p>
        </p:txBody>
      </p:sp>
      <p:sp>
        <p:nvSpPr>
          <p:cNvPr id="12" name="Text 9"/>
          <p:cNvSpPr/>
          <p:nvPr/>
        </p:nvSpPr>
        <p:spPr>
          <a:xfrm>
            <a:off x="7863840" y="2578608"/>
            <a:ext cx="3657600" cy="274320"/>
          </a:xfrm>
          <a:prstGeom prst="rect">
            <a:avLst/>
          </a:prstGeom>
          <a:noFill/>
          <a:ln/>
        </p:spPr>
        <p:txBody>
          <a:bodyPr wrap="square" lIns="0" tIns="0" rIns="0" bIns="0" rtlCol="0" anchor="ctr"/>
          <a:lstStyle/>
          <a:p>
            <a:pPr algn="ctr" indent="0" marL="0">
              <a:buNone/>
            </a:pPr>
            <a:r>
              <a:rPr lang="en-US" sz="1200" dirty="0">
                <a:solidFill>
                  <a:srgbClr val="5A6B73"/>
                </a:solidFill>
                <a:latin typeface="Calibri" pitchFamily="34" charset="0"/>
                <a:ea typeface="Calibri" pitchFamily="34" charset="-122"/>
                <a:cs typeface="Calibri" pitchFamily="34" charset="-120"/>
              </a:rPr>
              <a:t>chosen threshold (p99)</a:t>
            </a:r>
            <a:endParaRPr lang="en-US" sz="1200" dirty="0"/>
          </a:p>
        </p:txBody>
      </p:sp>
      <p:sp>
        <p:nvSpPr>
          <p:cNvPr id="13" name="Text 10"/>
          <p:cNvSpPr/>
          <p:nvPr/>
        </p:nvSpPr>
        <p:spPr>
          <a:xfrm>
            <a:off x="8138160" y="3017520"/>
            <a:ext cx="3108960" cy="18288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2303F"/>
                </a:solidFill>
                <a:latin typeface="Calibri" pitchFamily="34" charset="0"/>
                <a:ea typeface="Calibri" pitchFamily="34" charset="-122"/>
                <a:cs typeface="Calibri" pitchFamily="34" charset="-120"/>
              </a:rPr>
              <a:t>1,962 pairs dropped (0.99%)</a:t>
            </a:r>
            <a:endParaRPr lang="en-US" sz="1200" dirty="0"/>
          </a:p>
          <a:p>
            <a:pPr marL="342900" indent="-342900">
              <a:spcAft>
                <a:spcPts val="800"/>
              </a:spcAft>
              <a:buSzPct val="100000"/>
              <a:buChar char="•"/>
            </a:pPr>
            <a:r>
              <a:rPr lang="en-US" sz="1200" dirty="0">
                <a:solidFill>
                  <a:srgbClr val="12303F"/>
                </a:solidFill>
                <a:latin typeface="Calibri" pitchFamily="34" charset="0"/>
                <a:ea typeface="Calibri" pitchFamily="34" charset="-122"/>
                <a:cs typeface="Calibri" pitchFamily="34" charset="-120"/>
              </a:rPr>
              <a:t>766 queries affected</a:t>
            </a:r>
            <a:endParaRPr lang="en-US" sz="1200" dirty="0"/>
          </a:p>
          <a:p>
            <a:pPr marL="342900" indent="-342900">
              <a:spcAft>
                <a:spcPts val="800"/>
              </a:spcAft>
              <a:buSzPct val="100000"/>
              <a:buChar char="•"/>
            </a:pPr>
            <a:r>
              <a:rPr lang="en-US" sz="1200" dirty="0">
                <a:solidFill>
                  <a:srgbClr val="12303F"/>
                </a:solidFill>
                <a:latin typeface="Calibri" pitchFamily="34" charset="0"/>
                <a:ea typeface="Calibri" pitchFamily="34" charset="-122"/>
                <a:cs typeface="Calibri" pitchFamily="34" charset="-120"/>
              </a:rPr>
              <a:t>10.36 → 10.26 negatives/query</a:t>
            </a:r>
            <a:endParaRPr lang="en-US" sz="1200" dirty="0"/>
          </a:p>
          <a:p>
            <a:pPr marL="342900" indent="-342900">
              <a:spcAft>
                <a:spcPts val="800"/>
              </a:spcAft>
              <a:buSzPct val="100000"/>
              <a:buChar char="•"/>
            </a:pPr>
            <a:r>
              <a:rPr lang="en-US" sz="1200" dirty="0">
                <a:solidFill>
                  <a:srgbClr val="12303F"/>
                </a:solidFill>
                <a:latin typeface="Calibri" pitchFamily="34" charset="0"/>
                <a:ea typeface="Calibri" pitchFamily="34" charset="-122"/>
                <a:cs typeface="Calibri" pitchFamily="34" charset="-120"/>
              </a:rPr>
              <a:t>Recorded in config, not hardcoded</a:t>
            </a:r>
            <a:endParaRPr lang="en-US" sz="1200" dirty="0"/>
          </a:p>
        </p:txBody>
      </p:sp>
      <p:sp>
        <p:nvSpPr>
          <p:cNvPr id="14" name="Shape 11"/>
          <p:cNvSpPr/>
          <p:nvPr/>
        </p:nvSpPr>
        <p:spPr>
          <a:xfrm>
            <a:off x="640080" y="5120640"/>
            <a:ext cx="10881360" cy="868680"/>
          </a:xfrm>
          <a:prstGeom prst="roundRect">
            <a:avLst>
              <a:gd name="adj" fmla="val 5263"/>
            </a:avLst>
          </a:prstGeom>
          <a:solidFill>
            <a:srgbClr val="FBEEDA"/>
          </a:solidFill>
          <a:ln w="12700">
            <a:solidFill>
              <a:srgbClr val="FBEEDA"/>
            </a:solidFill>
            <a:prstDash val="solid"/>
          </a:ln>
        </p:spPr>
      </p:sp>
      <p:sp>
        <p:nvSpPr>
          <p:cNvPr id="15" name="Text 12"/>
          <p:cNvSpPr/>
          <p:nvPr/>
        </p:nvSpPr>
        <p:spPr>
          <a:xfrm>
            <a:off x="914400" y="5285232"/>
            <a:ext cx="10332720" cy="594360"/>
          </a:xfrm>
          <a:prstGeom prst="rect">
            <a:avLst/>
          </a:prstGeom>
          <a:noFill/>
          <a:ln/>
        </p:spPr>
        <p:txBody>
          <a:bodyPr wrap="square" lIns="0" tIns="0" rIns="0" bIns="0" rtlCol="0" anchor="ctr"/>
          <a:lstStyle/>
          <a:p>
            <a:pPr indent="0" marL="0">
              <a:buNone/>
            </a:pPr>
            <a:r>
              <a:rPr lang="en-US" sz="1250" dirty="0">
                <a:solidFill>
                  <a:srgbClr val="6E4410"/>
                </a:solidFill>
                <a:latin typeface="Calibri" pitchFamily="34" charset="0"/>
                <a:ea typeface="Calibri" pitchFamily="34" charset="-122"/>
                <a:cs typeface="Calibri" pitchFamily="34" charset="-120"/>
              </a:rPr>
              <a:t>Honest caveat we report: this filter's recall is limited. A plainly relevant heart-failure / polyneuropathy pair scores only 0.633 — mid-distribution. Cosine separates generic from specific better than relevant from irrelevant.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9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2. DATA AND EXPLORATORY ANALYSIS</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1</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Partitioning and Leakage Control</a:t>
            </a:r>
            <a:endParaRPr lang="en-US" sz="3400" dirty="0"/>
          </a:p>
        </p:txBody>
      </p:sp>
      <p:sp>
        <p:nvSpPr>
          <p:cNvPr id="6" name="Shape 4"/>
          <p:cNvSpPr/>
          <p:nvPr/>
        </p:nvSpPr>
        <p:spPr>
          <a:xfrm>
            <a:off x="640080" y="1691640"/>
            <a:ext cx="2834640" cy="1051560"/>
          </a:xfrm>
          <a:prstGeom prst="roundRect">
            <a:avLst>
              <a:gd name="adj" fmla="val 4348"/>
            </a:avLst>
          </a:prstGeom>
          <a:solidFill>
            <a:srgbClr val="12303F"/>
          </a:solidFill>
          <a:ln w="12700">
            <a:solidFill>
              <a:srgbClr val="12303F"/>
            </a:solidFill>
            <a:prstDash val="solid"/>
          </a:ln>
        </p:spPr>
      </p:sp>
      <p:sp>
        <p:nvSpPr>
          <p:cNvPr id="7" name="Text 5"/>
          <p:cNvSpPr/>
          <p:nvPr/>
        </p:nvSpPr>
        <p:spPr>
          <a:xfrm>
            <a:off x="640080" y="1874520"/>
            <a:ext cx="2834640"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27,590 passages</a:t>
            </a:r>
            <a:endParaRPr lang="en-US" sz="1500" dirty="0"/>
          </a:p>
        </p:txBody>
      </p:sp>
      <p:sp>
        <p:nvSpPr>
          <p:cNvPr id="8" name="Text 6"/>
          <p:cNvSpPr/>
          <p:nvPr/>
        </p:nvSpPr>
        <p:spPr>
          <a:xfrm>
            <a:off x="640080" y="2221992"/>
            <a:ext cx="2834640" cy="274320"/>
          </a:xfrm>
          <a:prstGeom prst="rect">
            <a:avLst/>
          </a:prstGeom>
          <a:noFill/>
          <a:ln/>
        </p:spPr>
        <p:txBody>
          <a:bodyPr wrap="square" lIns="0" tIns="0" rIns="0" bIns="0" rtlCol="0" anchor="ctr"/>
          <a:lstStyle/>
          <a:p>
            <a:pPr algn="ctr" indent="0" marL="0">
              <a:buNone/>
            </a:pPr>
            <a:r>
              <a:rPr lang="en-US" sz="1150" dirty="0">
                <a:solidFill>
                  <a:srgbClr val="AFC4CC"/>
                </a:solidFill>
                <a:latin typeface="Calibri" pitchFamily="34" charset="0"/>
                <a:ea typeface="Calibri" pitchFamily="34" charset="-122"/>
                <a:cs typeface="Calibri" pitchFamily="34" charset="-120"/>
              </a:rPr>
              <a:t>partitioned 80 / 10 / 10</a:t>
            </a:r>
            <a:endParaRPr lang="en-US" sz="1150" dirty="0"/>
          </a:p>
        </p:txBody>
      </p:sp>
      <p:sp>
        <p:nvSpPr>
          <p:cNvPr id="9" name="Shape 7"/>
          <p:cNvSpPr/>
          <p:nvPr/>
        </p:nvSpPr>
        <p:spPr>
          <a:xfrm>
            <a:off x="3675888" y="2075688"/>
            <a:ext cx="384048" cy="274320"/>
          </a:xfrm>
          <a:prstGeom prst="rightArrow">
            <a:avLst/>
          </a:prstGeom>
          <a:solidFill>
            <a:srgbClr val="0E7C7B"/>
          </a:solidFill>
          <a:ln w="12700">
            <a:solidFill>
              <a:srgbClr val="0E7C7B"/>
            </a:solidFill>
            <a:prstDash val="solid"/>
          </a:ln>
        </p:spPr>
      </p:sp>
      <p:sp>
        <p:nvSpPr>
          <p:cNvPr id="10" name="Shape 8"/>
          <p:cNvSpPr/>
          <p:nvPr/>
        </p:nvSpPr>
        <p:spPr>
          <a:xfrm>
            <a:off x="4206240" y="1691640"/>
            <a:ext cx="3291840" cy="1051560"/>
          </a:xfrm>
          <a:prstGeom prst="roundRect">
            <a:avLst>
              <a:gd name="adj" fmla="val 4348"/>
            </a:avLst>
          </a:prstGeom>
          <a:solidFill>
            <a:srgbClr val="FFFFFF"/>
          </a:solidFill>
          <a:ln w="12700">
            <a:solidFill>
              <a:srgbClr val="0E7C7B"/>
            </a:solidFill>
            <a:prstDash val="solid"/>
          </a:ln>
        </p:spPr>
      </p:sp>
      <p:sp>
        <p:nvSpPr>
          <p:cNvPr id="11" name="Text 9"/>
          <p:cNvSpPr/>
          <p:nvPr/>
        </p:nvSpPr>
        <p:spPr>
          <a:xfrm>
            <a:off x="4206240" y="1874520"/>
            <a:ext cx="3291840" cy="292608"/>
          </a:xfrm>
          <a:prstGeom prst="rect">
            <a:avLst/>
          </a:prstGeom>
          <a:noFill/>
          <a:ln/>
        </p:spPr>
        <p:txBody>
          <a:bodyPr wrap="square" lIns="0" tIns="0" rIns="0" bIns="0" rtlCol="0" anchor="ctr"/>
          <a:lstStyle/>
          <a:p>
            <a:pPr algn="ctr" indent="0" marL="0">
              <a:buNone/>
            </a:pPr>
            <a:r>
              <a:rPr lang="en-US" sz="1500" b="1" dirty="0">
                <a:solidFill>
                  <a:srgbClr val="12303F"/>
                </a:solidFill>
                <a:latin typeface="Cambria" pitchFamily="34" charset="0"/>
                <a:ea typeface="Cambria" pitchFamily="34" charset="-122"/>
                <a:cs typeface="Cambria" pitchFamily="34" charset="-120"/>
              </a:rPr>
              <a:t>Each query inherits</a:t>
            </a:r>
            <a:endParaRPr lang="en-US" sz="1500" dirty="0"/>
          </a:p>
        </p:txBody>
      </p:sp>
      <p:sp>
        <p:nvSpPr>
          <p:cNvPr id="12" name="Text 10"/>
          <p:cNvSpPr/>
          <p:nvPr/>
        </p:nvSpPr>
        <p:spPr>
          <a:xfrm>
            <a:off x="4206240" y="2221992"/>
            <a:ext cx="3291840" cy="274320"/>
          </a:xfrm>
          <a:prstGeom prst="rect">
            <a:avLst/>
          </a:prstGeom>
          <a:noFill/>
          <a:ln/>
        </p:spPr>
        <p:txBody>
          <a:bodyPr wrap="square" lIns="0" tIns="0" rIns="0" bIns="0" rtlCol="0" anchor="ctr"/>
          <a:lstStyle/>
          <a:p>
            <a:pPr algn="ctr" indent="0" marL="0">
              <a:buNone/>
            </a:pPr>
            <a:r>
              <a:rPr lang="en-US" sz="1150" dirty="0">
                <a:solidFill>
                  <a:srgbClr val="5A6B73"/>
                </a:solidFill>
                <a:latin typeface="Calibri" pitchFamily="34" charset="0"/>
                <a:ea typeface="Calibri" pitchFamily="34" charset="-122"/>
                <a:cs typeface="Calibri" pitchFamily="34" charset="-120"/>
              </a:rPr>
              <a:t>the partition of its gold passage</a:t>
            </a:r>
            <a:endParaRPr lang="en-US" sz="1150" dirty="0"/>
          </a:p>
        </p:txBody>
      </p:sp>
      <p:sp>
        <p:nvSpPr>
          <p:cNvPr id="13" name="Shape 11"/>
          <p:cNvSpPr/>
          <p:nvPr/>
        </p:nvSpPr>
        <p:spPr>
          <a:xfrm>
            <a:off x="7699248" y="2075688"/>
            <a:ext cx="384048" cy="274320"/>
          </a:xfrm>
          <a:prstGeom prst="rightArrow">
            <a:avLst/>
          </a:prstGeom>
          <a:solidFill>
            <a:srgbClr val="0E7C7B"/>
          </a:solidFill>
          <a:ln w="12700">
            <a:solidFill>
              <a:srgbClr val="0E7C7B"/>
            </a:solidFill>
            <a:prstDash val="solid"/>
          </a:ln>
        </p:spPr>
      </p:sp>
      <p:sp>
        <p:nvSpPr>
          <p:cNvPr id="14" name="Shape 12"/>
          <p:cNvSpPr/>
          <p:nvPr/>
        </p:nvSpPr>
        <p:spPr>
          <a:xfrm>
            <a:off x="8229600" y="1691640"/>
            <a:ext cx="3291840" cy="1051560"/>
          </a:xfrm>
          <a:prstGeom prst="roundRect">
            <a:avLst>
              <a:gd name="adj" fmla="val 4348"/>
            </a:avLst>
          </a:prstGeom>
          <a:solidFill>
            <a:srgbClr val="FFFFFF"/>
          </a:solidFill>
          <a:ln w="12700">
            <a:solidFill>
              <a:srgbClr val="0E7C7B"/>
            </a:solidFill>
            <a:prstDash val="solid"/>
          </a:ln>
        </p:spPr>
      </p:sp>
      <p:sp>
        <p:nvSpPr>
          <p:cNvPr id="15" name="Text 13"/>
          <p:cNvSpPr/>
          <p:nvPr/>
        </p:nvSpPr>
        <p:spPr>
          <a:xfrm>
            <a:off x="8229600" y="1874520"/>
            <a:ext cx="3291840" cy="292608"/>
          </a:xfrm>
          <a:prstGeom prst="rect">
            <a:avLst/>
          </a:prstGeom>
          <a:noFill/>
          <a:ln/>
        </p:spPr>
        <p:txBody>
          <a:bodyPr wrap="square" lIns="0" tIns="0" rIns="0" bIns="0" rtlCol="0" anchor="ctr"/>
          <a:lstStyle/>
          <a:p>
            <a:pPr algn="ctr" indent="0" marL="0">
              <a:buNone/>
            </a:pPr>
            <a:r>
              <a:rPr lang="en-US" sz="1500" b="1" dirty="0">
                <a:solidFill>
                  <a:srgbClr val="12303F"/>
                </a:solidFill>
                <a:latin typeface="Cambria" pitchFamily="34" charset="0"/>
                <a:ea typeface="Cambria" pitchFamily="34" charset="-122"/>
                <a:cs typeface="Cambria" pitchFamily="34" charset="-120"/>
              </a:rPr>
              <a:t>Negatives sanitized</a:t>
            </a:r>
            <a:endParaRPr lang="en-US" sz="1500" dirty="0"/>
          </a:p>
        </p:txBody>
      </p:sp>
      <p:sp>
        <p:nvSpPr>
          <p:cNvPr id="16" name="Text 14"/>
          <p:cNvSpPr/>
          <p:nvPr/>
        </p:nvSpPr>
        <p:spPr>
          <a:xfrm>
            <a:off x="8229600" y="2221992"/>
            <a:ext cx="3291840" cy="274320"/>
          </a:xfrm>
          <a:prstGeom prst="rect">
            <a:avLst/>
          </a:prstGeom>
          <a:noFill/>
          <a:ln/>
        </p:spPr>
        <p:txBody>
          <a:bodyPr wrap="square" lIns="0" tIns="0" rIns="0" bIns="0" rtlCol="0" anchor="ctr"/>
          <a:lstStyle/>
          <a:p>
            <a:pPr algn="ctr" indent="0" marL="0">
              <a:buNone/>
            </a:pPr>
            <a:r>
              <a:rPr lang="en-US" sz="1150" dirty="0">
                <a:solidFill>
                  <a:srgbClr val="5A6B73"/>
                </a:solidFill>
                <a:latin typeface="Calibri" pitchFamily="34" charset="0"/>
                <a:ea typeface="Calibri" pitchFamily="34" charset="-122"/>
                <a:cs typeface="Calibri" pitchFamily="34" charset="-120"/>
              </a:rPr>
              <a:t>30,217 removed and re-mined</a:t>
            </a:r>
            <a:endParaRPr lang="en-US" sz="1150" dirty="0"/>
          </a:p>
        </p:txBody>
      </p:sp>
      <p:sp>
        <p:nvSpPr>
          <p:cNvPr id="17" name="Text 15"/>
          <p:cNvSpPr/>
          <p:nvPr/>
        </p:nvSpPr>
        <p:spPr>
          <a:xfrm>
            <a:off x="640080" y="3017520"/>
            <a:ext cx="5486400" cy="23774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2303F"/>
                </a:solidFill>
                <a:latin typeface="Calibri" pitchFamily="34" charset="0"/>
                <a:ea typeface="Calibri" pitchFamily="34" charset="-122"/>
                <a:cs typeface="Calibri" pitchFamily="34" charset="-120"/>
              </a:rPr>
              <a:t>No test-partition passage is ever seen in training — in any role, positive or negative.</a:t>
            </a:r>
            <a:endParaRPr lang="en-US" sz="1350" dirty="0"/>
          </a:p>
          <a:p>
            <a:pPr marL="342900" indent="-342900">
              <a:spcAft>
                <a:spcPts val="800"/>
              </a:spcAft>
              <a:buSzPct val="100000"/>
              <a:buChar char="•"/>
            </a:pPr>
            <a:r>
              <a:rPr lang="en-US" sz="1350" dirty="0">
                <a:solidFill>
                  <a:srgbClr val="12303F"/>
                </a:solidFill>
                <a:latin typeface="Calibri" pitchFamily="34" charset="0"/>
                <a:ea typeface="Calibri" pitchFamily="34" charset="-122"/>
                <a:cs typeface="Calibri" pitchFamily="34" charset="-120"/>
              </a:rPr>
              <a:t>Re-mining is capped at the same 0.71 threshold, or top-k mining would silently reinstate the false negatives we just removed.</a:t>
            </a:r>
            <a:endParaRPr lang="en-US" sz="1350" dirty="0"/>
          </a:p>
          <a:p>
            <a:pPr marL="342900" indent="-342900">
              <a:spcAft>
                <a:spcPts val="800"/>
              </a:spcAft>
              <a:buSzPct val="100000"/>
              <a:buChar char="•"/>
            </a:pPr>
            <a:r>
              <a:rPr lang="en-US" sz="1350" dirty="0">
                <a:solidFill>
                  <a:srgbClr val="12303F"/>
                </a:solidFill>
                <a:latin typeface="Calibri" pitchFamily="34" charset="0"/>
                <a:ea typeface="Calibri" pitchFamily="34" charset="-122"/>
                <a:cs typeface="Calibri" pitchFamily="34" charset="-120"/>
              </a:rPr>
              <a:t>audit_leakage raises rather than warns; it runs in the build script and again in pytest against the written artifacts.</a:t>
            </a:r>
            <a:endParaRPr lang="en-US" sz="1350" dirty="0"/>
          </a:p>
        </p:txBody>
      </p:sp>
      <p:sp>
        <p:nvSpPr>
          <p:cNvPr id="18" name="Shape 16"/>
          <p:cNvSpPr/>
          <p:nvPr/>
        </p:nvSpPr>
        <p:spPr>
          <a:xfrm>
            <a:off x="6492240" y="3017520"/>
            <a:ext cx="5029200" cy="2377440"/>
          </a:xfrm>
          <a:prstGeom prst="roundRect">
            <a:avLst>
              <a:gd name="adj" fmla="val 1923"/>
            </a:avLst>
          </a:prstGeom>
          <a:solidFill>
            <a:srgbClr val="F4F6F7"/>
          </a:solidFill>
          <a:ln w="12700">
            <a:solidFill>
              <a:srgbClr val="D3DBDE"/>
            </a:solidFill>
            <a:prstDash val="solid"/>
          </a:ln>
        </p:spPr>
      </p:sp>
      <p:sp>
        <p:nvSpPr>
          <p:cNvPr id="19" name="Text 17"/>
          <p:cNvSpPr/>
          <p:nvPr/>
        </p:nvSpPr>
        <p:spPr>
          <a:xfrm>
            <a:off x="6766560" y="3200400"/>
            <a:ext cx="4572000" cy="292608"/>
          </a:xfrm>
          <a:prstGeom prst="rect">
            <a:avLst/>
          </a:prstGeom>
          <a:noFill/>
          <a:ln/>
        </p:spPr>
        <p:txBody>
          <a:bodyPr wrap="square" lIns="0" tIns="0" rIns="0" bIns="0" rtlCol="0" anchor="ctr"/>
          <a:lstStyle/>
          <a:p>
            <a:pPr indent="0" marL="0">
              <a:buNone/>
            </a:pPr>
            <a:r>
              <a:rPr lang="en-US" sz="1600" b="1" dirty="0">
                <a:solidFill>
                  <a:srgbClr val="12303F"/>
                </a:solidFill>
                <a:latin typeface="Cambria" pitchFamily="34" charset="0"/>
                <a:ea typeface="Cambria" pitchFamily="34" charset="-122"/>
                <a:cs typeface="Cambria" pitchFamily="34" charset="-120"/>
              </a:rPr>
              <a:t>The near-duplicate problem</a:t>
            </a:r>
            <a:endParaRPr lang="en-US" sz="1600" dirty="0"/>
          </a:p>
        </p:txBody>
      </p:sp>
      <p:sp>
        <p:nvSpPr>
          <p:cNvPr id="20" name="Text 18"/>
          <p:cNvSpPr/>
          <p:nvPr/>
        </p:nvSpPr>
        <p:spPr>
          <a:xfrm>
            <a:off x="6766560" y="3566160"/>
            <a:ext cx="4572000" cy="914400"/>
          </a:xfrm>
          <a:prstGeom prst="rect">
            <a:avLst/>
          </a:prstGeom>
          <a:noFill/>
          <a:ln/>
        </p:spPr>
        <p:txBody>
          <a:bodyPr wrap="square" lIns="0" tIns="0" rIns="0" bIns="0" rtlCol="0" anchor="ctr"/>
          <a:lstStyle/>
          <a:p>
            <a:pPr indent="0" marL="0">
              <a:buNone/>
            </a:pPr>
            <a:r>
              <a:rPr lang="en-US" sz="1250" dirty="0">
                <a:solidFill>
                  <a:srgbClr val="5A6B73"/>
                </a:solidFill>
                <a:latin typeface="Calibri" pitchFamily="34" charset="0"/>
                <a:ea typeface="Calibri" pitchFamily="34" charset="-122"/>
                <a:cs typeface="Calibri" pitchFamily="34" charset="-120"/>
              </a:rPr>
              <a:t>Paraphrased queries straddling splits are leakage too. Cut set at 0.95 cosine — lower than intuition suggests, because one query matches its own lowercase form at only 0.934.</a:t>
            </a:r>
            <a:endParaRPr lang="en-US" sz="1250" dirty="0"/>
          </a:p>
        </p:txBody>
      </p:sp>
      <p:sp>
        <p:nvSpPr>
          <p:cNvPr id="21" name="Text 19"/>
          <p:cNvSpPr/>
          <p:nvPr/>
        </p:nvSpPr>
        <p:spPr>
          <a:xfrm>
            <a:off x="6766560" y="4572000"/>
            <a:ext cx="4572000" cy="640080"/>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503 pairs flagged  ·  resolved by precedence: test &gt; val &gt; train  ·  zero test queries dropped, by construction</a:t>
            </a:r>
            <a:endParaRPr lang="en-US" sz="1200" dirty="0"/>
          </a:p>
        </p:txBody>
      </p:sp>
      <p:sp>
        <p:nvSpPr>
          <p:cNvPr id="22" name="Text 20"/>
          <p:cNvSpPr/>
          <p:nvPr/>
        </p:nvSpPr>
        <p:spPr>
          <a:xfrm>
            <a:off x="640080" y="6327648"/>
            <a:ext cx="9692640" cy="274320"/>
          </a:xfrm>
          <a:prstGeom prst="rect">
            <a:avLst/>
          </a:prstGeom>
          <a:noFill/>
          <a:ln/>
        </p:spPr>
        <p:txBody>
          <a:bodyPr wrap="square" lIns="0" tIns="0" rIns="0" bIns="0" rtlCol="0" anchor="ctr"/>
          <a:lstStyle/>
          <a:p>
            <a:pPr algn="l" indent="0" marL="0">
              <a:buNone/>
            </a:pPr>
            <a:r>
              <a:rPr lang="en-US" sz="950" i="1" dirty="0">
                <a:solidFill>
                  <a:srgbClr val="5A6B73"/>
                </a:solidFill>
                <a:latin typeface="Calibri" pitchFamily="34" charset="0"/>
                <a:ea typeface="Calibri" pitchFamily="34" charset="-122"/>
                <a:cs typeface="Calibri" pitchFamily="34" charset="-120"/>
              </a:rPr>
              <a:t>At evaluation, the full 27,590-passage corpus is indexed for every configuration — identical distractor pool across the entire results table.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303F"/>
        </a:solidFill>
      </p:bgPr>
    </p:bg>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6F8894"/>
                </a:solidFill>
                <a:latin typeface="Calibri" pitchFamily="34" charset="0"/>
                <a:ea typeface="Calibri" pitchFamily="34" charset="-122"/>
                <a:cs typeface="Calibri" pitchFamily="34" charset="-120"/>
              </a:rPr>
              <a:t>10 / 23</a:t>
            </a:r>
            <a:endParaRPr lang="en-US" sz="950" dirty="0"/>
          </a:p>
        </p:txBody>
      </p:sp>
      <p:sp>
        <p:nvSpPr>
          <p:cNvPr id="3" name="Text 1"/>
          <p:cNvSpPr/>
          <p:nvPr/>
        </p:nvSpPr>
        <p:spPr>
          <a:xfrm>
            <a:off x="1005840" y="2514600"/>
            <a:ext cx="9144000" cy="274320"/>
          </a:xfrm>
          <a:prstGeom prst="rect">
            <a:avLst/>
          </a:prstGeom>
          <a:noFill/>
          <a:ln/>
        </p:spPr>
        <p:txBody>
          <a:bodyPr wrap="square" lIns="0" tIns="0" rIns="0" bIns="0" rtlCol="0" anchor="ctr"/>
          <a:lstStyle/>
          <a:p>
            <a:pPr indent="0" marL="0">
              <a:buNone/>
            </a:pPr>
            <a:r>
              <a:rPr lang="en-US" sz="1200" b="1" spc="250" kern="0" dirty="0">
                <a:solidFill>
                  <a:srgbClr val="D6EAE9"/>
                </a:solidFill>
                <a:latin typeface="Calibri" pitchFamily="34" charset="0"/>
                <a:ea typeface="Calibri" pitchFamily="34" charset="-122"/>
                <a:cs typeface="Calibri" pitchFamily="34" charset="-120"/>
              </a:rPr>
              <a:t>SECTION 3</a:t>
            </a:r>
            <a:endParaRPr lang="en-US" sz="1200" dirty="0"/>
          </a:p>
        </p:txBody>
      </p:sp>
      <p:sp>
        <p:nvSpPr>
          <p:cNvPr id="4" name="Text 2"/>
          <p:cNvSpPr/>
          <p:nvPr/>
        </p:nvSpPr>
        <p:spPr>
          <a:xfrm>
            <a:off x="1005840" y="2880360"/>
            <a:ext cx="96012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Methodology</a:t>
            </a:r>
            <a:endParaRPr lang="en-US" sz="4000" dirty="0"/>
          </a:p>
        </p:txBody>
      </p:sp>
      <p:sp>
        <p:nvSpPr>
          <p:cNvPr id="5" name="Text 3"/>
          <p:cNvSpPr/>
          <p:nvPr/>
        </p:nvSpPr>
        <p:spPr>
          <a:xfrm>
            <a:off x="1005840" y="3794760"/>
            <a:ext cx="8686800" cy="457200"/>
          </a:xfrm>
          <a:prstGeom prst="rect">
            <a:avLst/>
          </a:prstGeom>
          <a:noFill/>
          <a:ln/>
        </p:spPr>
        <p:txBody>
          <a:bodyPr wrap="square" lIns="0" tIns="0" rIns="0" bIns="0" rtlCol="0" anchor="ctr"/>
          <a:lstStyle/>
          <a:p>
            <a:pPr indent="0" marL="0">
              <a:buNone/>
            </a:pPr>
            <a:r>
              <a:rPr lang="en-US" sz="1500" dirty="0">
                <a:solidFill>
                  <a:srgbClr val="AFC4CC"/>
                </a:solidFill>
                <a:latin typeface="Calibri" pitchFamily="34" charset="0"/>
                <a:ea typeface="Calibri" pitchFamily="34" charset="-122"/>
                <a:cs typeface="Calibri" pitchFamily="34" charset="-120"/>
              </a:rPr>
              <a:t>Two trained components: a domain-adapted bi-encoder and a cross-encoder reranker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11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3. METHODOLOGY</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2</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System Architecture</a:t>
            </a:r>
            <a:endParaRPr lang="en-US" sz="3400" dirty="0"/>
          </a:p>
        </p:txBody>
      </p:sp>
      <p:sp>
        <p:nvSpPr>
          <p:cNvPr id="6" name="Shape 4"/>
          <p:cNvSpPr/>
          <p:nvPr/>
        </p:nvSpPr>
        <p:spPr>
          <a:xfrm>
            <a:off x="640080" y="1965960"/>
            <a:ext cx="1417320" cy="1143000"/>
          </a:xfrm>
          <a:prstGeom prst="roundRect">
            <a:avLst>
              <a:gd name="adj" fmla="val 4000"/>
            </a:avLst>
          </a:prstGeom>
          <a:solidFill>
            <a:srgbClr val="FFFFFF"/>
          </a:solidFill>
          <a:ln w="12700">
            <a:solidFill>
              <a:srgbClr val="D3DBDE"/>
            </a:solidFill>
            <a:prstDash val="solid"/>
          </a:ln>
        </p:spPr>
      </p:sp>
      <p:sp>
        <p:nvSpPr>
          <p:cNvPr id="7" name="Text 5"/>
          <p:cNvSpPr/>
          <p:nvPr/>
        </p:nvSpPr>
        <p:spPr>
          <a:xfrm>
            <a:off x="640080" y="2212848"/>
            <a:ext cx="1417320" cy="292608"/>
          </a:xfrm>
          <a:prstGeom prst="rect">
            <a:avLst/>
          </a:prstGeom>
          <a:noFill/>
          <a:ln/>
        </p:spPr>
        <p:txBody>
          <a:bodyPr wrap="square" lIns="0" tIns="0" rIns="0" bIns="0" rtlCol="0" anchor="ctr"/>
          <a:lstStyle/>
          <a:p>
            <a:pPr algn="ctr" indent="0" marL="0">
              <a:buNone/>
            </a:pPr>
            <a:r>
              <a:rPr lang="en-US" sz="1350" b="1" dirty="0">
                <a:solidFill>
                  <a:srgbClr val="12303F"/>
                </a:solidFill>
                <a:latin typeface="Cambria" pitchFamily="34" charset="0"/>
                <a:ea typeface="Cambria" pitchFamily="34" charset="-122"/>
                <a:cs typeface="Cambria" pitchFamily="34" charset="-120"/>
              </a:rPr>
              <a:t>Query</a:t>
            </a:r>
            <a:endParaRPr lang="en-US" sz="1350" dirty="0"/>
          </a:p>
        </p:txBody>
      </p:sp>
      <p:sp>
        <p:nvSpPr>
          <p:cNvPr id="8" name="Text 6"/>
          <p:cNvSpPr/>
          <p:nvPr/>
        </p:nvSpPr>
        <p:spPr>
          <a:xfrm>
            <a:off x="685800" y="2523744"/>
            <a:ext cx="1325880" cy="457200"/>
          </a:xfrm>
          <a:prstGeom prst="rect">
            <a:avLst/>
          </a:prstGeom>
          <a:noFill/>
          <a:ln/>
        </p:spPr>
        <p:txBody>
          <a:bodyPr wrap="square" lIns="0" tIns="0" rIns="0" bIns="0" rtlCol="0" anchor="ctr"/>
          <a:lstStyle/>
          <a:p>
            <a:pPr algn="ctr" indent="0" marL="0">
              <a:buNone/>
            </a:pPr>
            <a:r>
              <a:rPr lang="en-US" sz="950" dirty="0">
                <a:solidFill>
                  <a:srgbClr val="5A6B73"/>
                </a:solidFill>
                <a:latin typeface="Calibri" pitchFamily="34" charset="0"/>
                <a:ea typeface="Calibri" pitchFamily="34" charset="-122"/>
                <a:cs typeface="Calibri" pitchFamily="34" charset="-120"/>
              </a:rPr>
              <a:t>clinical staff</a:t>
            </a:r>
            <a:endParaRPr lang="en-US" sz="950" dirty="0"/>
          </a:p>
        </p:txBody>
      </p:sp>
      <p:sp>
        <p:nvSpPr>
          <p:cNvPr id="9" name="Shape 7"/>
          <p:cNvSpPr/>
          <p:nvPr/>
        </p:nvSpPr>
        <p:spPr>
          <a:xfrm>
            <a:off x="2084832" y="2432304"/>
            <a:ext cx="182880" cy="201168"/>
          </a:xfrm>
          <a:prstGeom prst="rightArrow">
            <a:avLst/>
          </a:prstGeom>
          <a:solidFill>
            <a:srgbClr val="5A6B73"/>
          </a:solidFill>
          <a:ln w="12700">
            <a:solidFill>
              <a:srgbClr val="5A6B73"/>
            </a:solidFill>
            <a:prstDash val="solid"/>
          </a:ln>
        </p:spPr>
      </p:sp>
      <p:sp>
        <p:nvSpPr>
          <p:cNvPr id="10" name="Shape 8"/>
          <p:cNvSpPr/>
          <p:nvPr/>
        </p:nvSpPr>
        <p:spPr>
          <a:xfrm>
            <a:off x="2286000" y="1965960"/>
            <a:ext cx="2194560" cy="1143000"/>
          </a:xfrm>
          <a:prstGeom prst="roundRect">
            <a:avLst>
              <a:gd name="adj" fmla="val 4000"/>
            </a:avLst>
          </a:prstGeom>
          <a:solidFill>
            <a:srgbClr val="0E7C7B"/>
          </a:solidFill>
          <a:ln w="12700">
            <a:solidFill>
              <a:srgbClr val="0E7C7B"/>
            </a:solidFill>
            <a:prstDash val="solid"/>
          </a:ln>
        </p:spPr>
      </p:sp>
      <p:sp>
        <p:nvSpPr>
          <p:cNvPr id="11" name="Text 9"/>
          <p:cNvSpPr/>
          <p:nvPr/>
        </p:nvSpPr>
        <p:spPr>
          <a:xfrm>
            <a:off x="2286000" y="2212848"/>
            <a:ext cx="2194560" cy="292608"/>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Dense retrieval</a:t>
            </a:r>
            <a:endParaRPr lang="en-US" sz="1350" dirty="0"/>
          </a:p>
        </p:txBody>
      </p:sp>
      <p:sp>
        <p:nvSpPr>
          <p:cNvPr id="12" name="Text 10"/>
          <p:cNvSpPr/>
          <p:nvPr/>
        </p:nvSpPr>
        <p:spPr>
          <a:xfrm>
            <a:off x="2331720" y="2523744"/>
            <a:ext cx="2103120" cy="457200"/>
          </a:xfrm>
          <a:prstGeom prst="rect">
            <a:avLst/>
          </a:prstGeom>
          <a:noFill/>
          <a:ln/>
        </p:spPr>
        <p:txBody>
          <a:bodyPr wrap="square" lIns="0" tIns="0" rIns="0" bIns="0" rtlCol="0" anchor="ctr"/>
          <a:lstStyle/>
          <a:p>
            <a:pPr algn="ctr" indent="0" marL="0">
              <a:buNone/>
            </a:pPr>
            <a:r>
              <a:rPr lang="en-US" sz="950" dirty="0">
                <a:solidFill>
                  <a:srgbClr val="CFE3E2"/>
                </a:solidFill>
                <a:latin typeface="Calibri" pitchFamily="34" charset="0"/>
                <a:ea typeface="Calibri" pitchFamily="34" charset="-122"/>
                <a:cs typeface="Calibri" pitchFamily="34" charset="-120"/>
              </a:rPr>
              <a:t>Milvus · 1024-d COSINE</a:t>
            </a:r>
            <a:endParaRPr lang="en-US" sz="950" dirty="0"/>
          </a:p>
        </p:txBody>
      </p:sp>
      <p:sp>
        <p:nvSpPr>
          <p:cNvPr id="13" name="Shape 11"/>
          <p:cNvSpPr/>
          <p:nvPr/>
        </p:nvSpPr>
        <p:spPr>
          <a:xfrm>
            <a:off x="4507992" y="2432304"/>
            <a:ext cx="182880" cy="201168"/>
          </a:xfrm>
          <a:prstGeom prst="rightArrow">
            <a:avLst/>
          </a:prstGeom>
          <a:solidFill>
            <a:srgbClr val="5A6B73"/>
          </a:solidFill>
          <a:ln w="12700">
            <a:solidFill>
              <a:srgbClr val="5A6B73"/>
            </a:solidFill>
            <a:prstDash val="solid"/>
          </a:ln>
        </p:spPr>
      </p:sp>
      <p:sp>
        <p:nvSpPr>
          <p:cNvPr id="14" name="Shape 12"/>
          <p:cNvSpPr/>
          <p:nvPr/>
        </p:nvSpPr>
        <p:spPr>
          <a:xfrm>
            <a:off x="4709160" y="1965960"/>
            <a:ext cx="2011680" cy="1143000"/>
          </a:xfrm>
          <a:prstGeom prst="roundRect">
            <a:avLst>
              <a:gd name="adj" fmla="val 4000"/>
            </a:avLst>
          </a:prstGeom>
          <a:solidFill>
            <a:srgbClr val="0E7C7B"/>
          </a:solidFill>
          <a:ln w="12700">
            <a:solidFill>
              <a:srgbClr val="0E7C7B"/>
            </a:solidFill>
            <a:prstDash val="solid"/>
          </a:ln>
        </p:spPr>
      </p:sp>
      <p:sp>
        <p:nvSpPr>
          <p:cNvPr id="15" name="Text 13"/>
          <p:cNvSpPr/>
          <p:nvPr/>
        </p:nvSpPr>
        <p:spPr>
          <a:xfrm>
            <a:off x="4709160" y="2212848"/>
            <a:ext cx="2011680" cy="292608"/>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Rerank</a:t>
            </a:r>
            <a:endParaRPr lang="en-US" sz="1350" dirty="0"/>
          </a:p>
        </p:txBody>
      </p:sp>
      <p:sp>
        <p:nvSpPr>
          <p:cNvPr id="16" name="Text 14"/>
          <p:cNvSpPr/>
          <p:nvPr/>
        </p:nvSpPr>
        <p:spPr>
          <a:xfrm>
            <a:off x="4754880" y="2523744"/>
            <a:ext cx="1920240" cy="457200"/>
          </a:xfrm>
          <a:prstGeom prst="rect">
            <a:avLst/>
          </a:prstGeom>
          <a:noFill/>
          <a:ln/>
        </p:spPr>
        <p:txBody>
          <a:bodyPr wrap="square" lIns="0" tIns="0" rIns="0" bIns="0" rtlCol="0" anchor="ctr"/>
          <a:lstStyle/>
          <a:p>
            <a:pPr algn="ctr" indent="0" marL="0">
              <a:buNone/>
            </a:pPr>
            <a:r>
              <a:rPr lang="en-US" sz="950" dirty="0">
                <a:solidFill>
                  <a:srgbClr val="CFE3E2"/>
                </a:solidFill>
                <a:latin typeface="Calibri" pitchFamily="34" charset="0"/>
                <a:ea typeface="Calibri" pitchFamily="34" charset="-122"/>
                <a:cs typeface="Calibri" pitchFamily="34" charset="-120"/>
              </a:rPr>
              <a:t>cross-encoder · top 30–50</a:t>
            </a:r>
            <a:endParaRPr lang="en-US" sz="950" dirty="0"/>
          </a:p>
        </p:txBody>
      </p:sp>
      <p:sp>
        <p:nvSpPr>
          <p:cNvPr id="17" name="Shape 15"/>
          <p:cNvSpPr/>
          <p:nvPr/>
        </p:nvSpPr>
        <p:spPr>
          <a:xfrm>
            <a:off x="6748272" y="2432304"/>
            <a:ext cx="182880" cy="201168"/>
          </a:xfrm>
          <a:prstGeom prst="rightArrow">
            <a:avLst/>
          </a:prstGeom>
          <a:solidFill>
            <a:srgbClr val="5A6B73"/>
          </a:solidFill>
          <a:ln w="12700">
            <a:solidFill>
              <a:srgbClr val="5A6B73"/>
            </a:solidFill>
            <a:prstDash val="solid"/>
          </a:ln>
        </p:spPr>
      </p:sp>
      <p:sp>
        <p:nvSpPr>
          <p:cNvPr id="18" name="Shape 16"/>
          <p:cNvSpPr/>
          <p:nvPr/>
        </p:nvSpPr>
        <p:spPr>
          <a:xfrm>
            <a:off x="6949440" y="1965960"/>
            <a:ext cx="1920240" cy="1143000"/>
          </a:xfrm>
          <a:prstGeom prst="roundRect">
            <a:avLst>
              <a:gd name="adj" fmla="val 4000"/>
            </a:avLst>
          </a:prstGeom>
          <a:solidFill>
            <a:srgbClr val="FFFFFF"/>
          </a:solidFill>
          <a:ln w="12700">
            <a:solidFill>
              <a:srgbClr val="D3DBDE"/>
            </a:solidFill>
            <a:prstDash val="solid"/>
          </a:ln>
        </p:spPr>
      </p:sp>
      <p:sp>
        <p:nvSpPr>
          <p:cNvPr id="19" name="Text 17"/>
          <p:cNvSpPr/>
          <p:nvPr/>
        </p:nvSpPr>
        <p:spPr>
          <a:xfrm>
            <a:off x="6949440" y="2212848"/>
            <a:ext cx="1920240" cy="292608"/>
          </a:xfrm>
          <a:prstGeom prst="rect">
            <a:avLst/>
          </a:prstGeom>
          <a:noFill/>
          <a:ln/>
        </p:spPr>
        <p:txBody>
          <a:bodyPr wrap="square" lIns="0" tIns="0" rIns="0" bIns="0" rtlCol="0" anchor="ctr"/>
          <a:lstStyle/>
          <a:p>
            <a:pPr algn="ctr" indent="0" marL="0">
              <a:buNone/>
            </a:pPr>
            <a:r>
              <a:rPr lang="en-US" sz="1350" b="1" dirty="0">
                <a:solidFill>
                  <a:srgbClr val="12303F"/>
                </a:solidFill>
                <a:latin typeface="Cambria" pitchFamily="34" charset="0"/>
                <a:ea typeface="Cambria" pitchFamily="34" charset="-122"/>
                <a:cs typeface="Cambria" pitchFamily="34" charset="-120"/>
              </a:rPr>
              <a:t>Top-k context</a:t>
            </a:r>
            <a:endParaRPr lang="en-US" sz="1350" dirty="0"/>
          </a:p>
        </p:txBody>
      </p:sp>
      <p:sp>
        <p:nvSpPr>
          <p:cNvPr id="20" name="Text 18"/>
          <p:cNvSpPr/>
          <p:nvPr/>
        </p:nvSpPr>
        <p:spPr>
          <a:xfrm>
            <a:off x="6995160" y="2523744"/>
            <a:ext cx="1828800" cy="457200"/>
          </a:xfrm>
          <a:prstGeom prst="rect">
            <a:avLst/>
          </a:prstGeom>
          <a:noFill/>
          <a:ln/>
        </p:spPr>
        <p:txBody>
          <a:bodyPr wrap="square" lIns="0" tIns="0" rIns="0" bIns="0" rtlCol="0" anchor="ctr"/>
          <a:lstStyle/>
          <a:p>
            <a:pPr algn="ctr" indent="0" marL="0">
              <a:buNone/>
            </a:pPr>
            <a:r>
              <a:rPr lang="en-US" sz="950" dirty="0">
                <a:solidFill>
                  <a:srgbClr val="5A6B73"/>
                </a:solidFill>
                <a:latin typeface="Calibri" pitchFamily="34" charset="0"/>
                <a:ea typeface="Calibri" pitchFamily="34" charset="-122"/>
                <a:cs typeface="Calibri" pitchFamily="34" charset="-120"/>
              </a:rPr>
              <a:t>identical k everywhere</a:t>
            </a:r>
            <a:endParaRPr lang="en-US" sz="950" dirty="0"/>
          </a:p>
        </p:txBody>
      </p:sp>
      <p:sp>
        <p:nvSpPr>
          <p:cNvPr id="21" name="Shape 19"/>
          <p:cNvSpPr/>
          <p:nvPr/>
        </p:nvSpPr>
        <p:spPr>
          <a:xfrm>
            <a:off x="8897112" y="2432304"/>
            <a:ext cx="182880" cy="201168"/>
          </a:xfrm>
          <a:prstGeom prst="rightArrow">
            <a:avLst/>
          </a:prstGeom>
          <a:solidFill>
            <a:srgbClr val="5A6B73"/>
          </a:solidFill>
          <a:ln w="12700">
            <a:solidFill>
              <a:srgbClr val="5A6B73"/>
            </a:solidFill>
            <a:prstDash val="solid"/>
          </a:ln>
        </p:spPr>
      </p:sp>
      <p:sp>
        <p:nvSpPr>
          <p:cNvPr id="22" name="Shape 20"/>
          <p:cNvSpPr/>
          <p:nvPr/>
        </p:nvSpPr>
        <p:spPr>
          <a:xfrm>
            <a:off x="9098280" y="1965960"/>
            <a:ext cx="1463040" cy="1143000"/>
          </a:xfrm>
          <a:prstGeom prst="roundRect">
            <a:avLst>
              <a:gd name="adj" fmla="val 4000"/>
            </a:avLst>
          </a:prstGeom>
          <a:solidFill>
            <a:srgbClr val="12303F"/>
          </a:solidFill>
          <a:ln w="12700">
            <a:solidFill>
              <a:srgbClr val="12303F"/>
            </a:solidFill>
            <a:prstDash val="solid"/>
          </a:ln>
        </p:spPr>
      </p:sp>
      <p:sp>
        <p:nvSpPr>
          <p:cNvPr id="23" name="Text 21"/>
          <p:cNvSpPr/>
          <p:nvPr/>
        </p:nvSpPr>
        <p:spPr>
          <a:xfrm>
            <a:off x="9098280" y="2212848"/>
            <a:ext cx="1463040" cy="292608"/>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gemma4</a:t>
            </a:r>
            <a:endParaRPr lang="en-US" sz="1350" dirty="0"/>
          </a:p>
        </p:txBody>
      </p:sp>
      <p:sp>
        <p:nvSpPr>
          <p:cNvPr id="24" name="Text 22"/>
          <p:cNvSpPr/>
          <p:nvPr/>
        </p:nvSpPr>
        <p:spPr>
          <a:xfrm>
            <a:off x="9144000" y="2523744"/>
            <a:ext cx="1371600" cy="457200"/>
          </a:xfrm>
          <a:prstGeom prst="rect">
            <a:avLst/>
          </a:prstGeom>
          <a:noFill/>
          <a:ln/>
        </p:spPr>
        <p:txBody>
          <a:bodyPr wrap="square" lIns="0" tIns="0" rIns="0" bIns="0" rtlCol="0" anchor="ctr"/>
          <a:lstStyle/>
          <a:p>
            <a:pPr algn="ctr" indent="0" marL="0">
              <a:buNone/>
            </a:pPr>
            <a:r>
              <a:rPr lang="en-US" sz="950" dirty="0">
                <a:solidFill>
                  <a:srgbClr val="CFE3E2"/>
                </a:solidFill>
                <a:latin typeface="Calibri" pitchFamily="34" charset="0"/>
                <a:ea typeface="Calibri" pitchFamily="34" charset="-122"/>
                <a:cs typeface="Calibri" pitchFamily="34" charset="-120"/>
              </a:rPr>
              <a:t>FROZEN</a:t>
            </a:r>
            <a:endParaRPr lang="en-US" sz="950" dirty="0"/>
          </a:p>
        </p:txBody>
      </p:sp>
      <p:sp>
        <p:nvSpPr>
          <p:cNvPr id="25" name="Shape 23"/>
          <p:cNvSpPr/>
          <p:nvPr/>
        </p:nvSpPr>
        <p:spPr>
          <a:xfrm>
            <a:off x="10588752" y="2432304"/>
            <a:ext cx="182880" cy="201168"/>
          </a:xfrm>
          <a:prstGeom prst="rightArrow">
            <a:avLst/>
          </a:prstGeom>
          <a:solidFill>
            <a:srgbClr val="5A6B73"/>
          </a:solidFill>
          <a:ln w="12700">
            <a:solidFill>
              <a:srgbClr val="5A6B73"/>
            </a:solidFill>
            <a:prstDash val="solid"/>
          </a:ln>
        </p:spPr>
      </p:sp>
      <p:sp>
        <p:nvSpPr>
          <p:cNvPr id="26" name="Shape 24"/>
          <p:cNvSpPr/>
          <p:nvPr/>
        </p:nvSpPr>
        <p:spPr>
          <a:xfrm>
            <a:off x="10789920" y="1965960"/>
            <a:ext cx="731520" cy="1143000"/>
          </a:xfrm>
          <a:prstGeom prst="roundRect">
            <a:avLst>
              <a:gd name="adj" fmla="val 6250"/>
            </a:avLst>
          </a:prstGeom>
          <a:solidFill>
            <a:srgbClr val="FFFFFF"/>
          </a:solidFill>
          <a:ln w="12700">
            <a:solidFill>
              <a:srgbClr val="D3DBDE"/>
            </a:solidFill>
            <a:prstDash val="solid"/>
          </a:ln>
        </p:spPr>
      </p:sp>
      <p:sp>
        <p:nvSpPr>
          <p:cNvPr id="27" name="Text 25"/>
          <p:cNvSpPr/>
          <p:nvPr/>
        </p:nvSpPr>
        <p:spPr>
          <a:xfrm>
            <a:off x="10789920" y="2212848"/>
            <a:ext cx="731520" cy="292608"/>
          </a:xfrm>
          <a:prstGeom prst="rect">
            <a:avLst/>
          </a:prstGeom>
          <a:noFill/>
          <a:ln/>
        </p:spPr>
        <p:txBody>
          <a:bodyPr wrap="square" lIns="0" tIns="0" rIns="0" bIns="0" rtlCol="0" anchor="ctr"/>
          <a:lstStyle/>
          <a:p>
            <a:pPr algn="ctr" indent="0" marL="0">
              <a:buNone/>
            </a:pPr>
            <a:r>
              <a:rPr lang="en-US" sz="1350" b="1" dirty="0">
                <a:solidFill>
                  <a:srgbClr val="12303F"/>
                </a:solidFill>
                <a:latin typeface="Cambria" pitchFamily="34" charset="0"/>
                <a:ea typeface="Cambria" pitchFamily="34" charset="-122"/>
                <a:cs typeface="Cambria" pitchFamily="34" charset="-120"/>
              </a:rPr>
              <a:t>Answer</a:t>
            </a:r>
            <a:endParaRPr lang="en-US" sz="1350" dirty="0"/>
          </a:p>
        </p:txBody>
      </p:sp>
      <p:sp>
        <p:nvSpPr>
          <p:cNvPr id="28" name="Shape 26"/>
          <p:cNvSpPr/>
          <p:nvPr/>
        </p:nvSpPr>
        <p:spPr>
          <a:xfrm>
            <a:off x="2286000" y="3429000"/>
            <a:ext cx="2194560" cy="548640"/>
          </a:xfrm>
          <a:prstGeom prst="roundRect">
            <a:avLst>
              <a:gd name="adj" fmla="val 8333"/>
            </a:avLst>
          </a:prstGeom>
          <a:solidFill>
            <a:srgbClr val="F4F6F7"/>
          </a:solidFill>
          <a:ln w="12700">
            <a:solidFill>
              <a:srgbClr val="D3DBDE"/>
            </a:solidFill>
            <a:prstDash val="solid"/>
          </a:ln>
        </p:spPr>
      </p:sp>
      <p:sp>
        <p:nvSpPr>
          <p:cNvPr id="29" name="Text 27"/>
          <p:cNvSpPr/>
          <p:nvPr/>
        </p:nvSpPr>
        <p:spPr>
          <a:xfrm>
            <a:off x="2286000" y="3547872"/>
            <a:ext cx="2194560" cy="320040"/>
          </a:xfrm>
          <a:prstGeom prst="rect">
            <a:avLst/>
          </a:prstGeom>
          <a:noFill/>
          <a:ln/>
        </p:spPr>
        <p:txBody>
          <a:bodyPr wrap="square" lIns="0" tIns="0" rIns="0" bIns="0" rtlCol="0" anchor="ctr"/>
          <a:lstStyle/>
          <a:p>
            <a:pPr algn="ctr" indent="0" marL="0">
              <a:buNone/>
            </a:pPr>
            <a:r>
              <a:rPr lang="en-US" sz="1050" dirty="0">
                <a:solidFill>
                  <a:srgbClr val="5A6B73"/>
                </a:solidFill>
                <a:latin typeface="Calibri" pitchFamily="34" charset="0"/>
                <a:ea typeface="Calibri" pitchFamily="34" charset="-122"/>
                <a:cs typeface="Calibri" pitchFamily="34" charset="-120"/>
              </a:rPr>
              <a:t>BM25 lexical baseline (CPU)</a:t>
            </a:r>
            <a:endParaRPr lang="en-US" sz="1050" dirty="0"/>
          </a:p>
        </p:txBody>
      </p:sp>
      <p:sp>
        <p:nvSpPr>
          <p:cNvPr id="30" name="Shape 28"/>
          <p:cNvSpPr/>
          <p:nvPr/>
        </p:nvSpPr>
        <p:spPr>
          <a:xfrm>
            <a:off x="9098280" y="3429000"/>
            <a:ext cx="2423160" cy="548640"/>
          </a:xfrm>
          <a:prstGeom prst="roundRect">
            <a:avLst>
              <a:gd name="adj" fmla="val 8333"/>
            </a:avLst>
          </a:prstGeom>
          <a:solidFill>
            <a:srgbClr val="FFFFFF"/>
          </a:solidFill>
          <a:ln w="12700">
            <a:solidFill>
              <a:srgbClr val="C87F1E"/>
            </a:solidFill>
            <a:prstDash val="solid"/>
          </a:ln>
        </p:spPr>
      </p:sp>
      <p:sp>
        <p:nvSpPr>
          <p:cNvPr id="31" name="Text 29"/>
          <p:cNvSpPr/>
          <p:nvPr/>
        </p:nvSpPr>
        <p:spPr>
          <a:xfrm>
            <a:off x="9098280" y="3547872"/>
            <a:ext cx="2423160" cy="320040"/>
          </a:xfrm>
          <a:prstGeom prst="rect">
            <a:avLst/>
          </a:prstGeom>
          <a:noFill/>
          <a:ln/>
        </p:spPr>
        <p:txBody>
          <a:bodyPr wrap="square" lIns="0" tIns="0" rIns="0" bIns="0" rtlCol="0" anchor="ctr"/>
          <a:lstStyle/>
          <a:p>
            <a:pPr algn="ctr" indent="0" marL="0">
              <a:buNone/>
            </a:pPr>
            <a:r>
              <a:rPr lang="en-US" sz="1050" b="1" dirty="0">
                <a:solidFill>
                  <a:srgbClr val="C87F1E"/>
                </a:solidFill>
                <a:latin typeface="Calibri" pitchFamily="34" charset="0"/>
                <a:ea typeface="Calibri" pitchFamily="34" charset="-122"/>
                <a:cs typeface="Calibri" pitchFamily="34" charset="-120"/>
              </a:rPr>
              <a:t>NLI judge → faithfulness</a:t>
            </a:r>
            <a:endParaRPr lang="en-US" sz="1050" dirty="0"/>
          </a:p>
        </p:txBody>
      </p:sp>
      <p:sp>
        <p:nvSpPr>
          <p:cNvPr id="32" name="Shape 30"/>
          <p:cNvSpPr/>
          <p:nvPr/>
        </p:nvSpPr>
        <p:spPr>
          <a:xfrm>
            <a:off x="640080" y="4343400"/>
            <a:ext cx="256032" cy="274320"/>
          </a:xfrm>
          <a:prstGeom prst="roundRect">
            <a:avLst>
              <a:gd name="adj" fmla="val 35714"/>
            </a:avLst>
          </a:prstGeom>
          <a:solidFill>
            <a:srgbClr val="0E7C7B"/>
          </a:solidFill>
          <a:ln w="12700">
            <a:solidFill>
              <a:srgbClr val="0E7C7B"/>
            </a:solidFill>
            <a:prstDash val="solid"/>
          </a:ln>
        </p:spPr>
      </p:sp>
      <p:sp>
        <p:nvSpPr>
          <p:cNvPr id="33" name="Text 31"/>
          <p:cNvSpPr/>
          <p:nvPr/>
        </p:nvSpPr>
        <p:spPr>
          <a:xfrm>
            <a:off x="640080" y="4343400"/>
            <a:ext cx="256032" cy="274320"/>
          </a:xfrm>
          <a:prstGeom prst="rect">
            <a:avLst/>
          </a:prstGeom>
          <a:noFill/>
          <a:ln/>
        </p:spPr>
        <p:txBody>
          <a:bodyPr wrap="square" lIns="0" tIns="0" rIns="0" bIns="0" rtlCol="0" anchor="ctr"/>
          <a:lstStyle/>
          <a:p>
            <a:pPr algn="ctr" indent="0" marL="0">
              <a:buNone/>
            </a:pPr>
            <a:endParaRPr lang="en-US" sz="1100" dirty="0"/>
          </a:p>
        </p:txBody>
      </p:sp>
      <p:sp>
        <p:nvSpPr>
          <p:cNvPr id="34" name="Text 32"/>
          <p:cNvSpPr/>
          <p:nvPr/>
        </p:nvSpPr>
        <p:spPr>
          <a:xfrm>
            <a:off x="960120" y="4343400"/>
            <a:ext cx="1554480" cy="274320"/>
          </a:xfrm>
          <a:prstGeom prst="rect">
            <a:avLst/>
          </a:prstGeom>
          <a:noFill/>
          <a:ln/>
        </p:spPr>
        <p:txBody>
          <a:bodyPr wrap="square" lIns="0" tIns="0" rIns="0" bIns="0" rtlCol="0" anchor="ctr"/>
          <a:lstStyle/>
          <a:p>
            <a:pPr indent="0" marL="0">
              <a:buNone/>
            </a:pPr>
            <a:r>
              <a:rPr lang="en-US" sz="1150" dirty="0">
                <a:solidFill>
                  <a:srgbClr val="12303F"/>
                </a:solidFill>
                <a:latin typeface="Calibri" pitchFamily="34" charset="0"/>
                <a:ea typeface="Calibri" pitchFamily="34" charset="-122"/>
                <a:cs typeface="Calibri" pitchFamily="34" charset="-120"/>
              </a:rPr>
              <a:t>trained by us</a:t>
            </a:r>
            <a:endParaRPr lang="en-US" sz="1150" dirty="0"/>
          </a:p>
        </p:txBody>
      </p:sp>
      <p:sp>
        <p:nvSpPr>
          <p:cNvPr id="35" name="Shape 33"/>
          <p:cNvSpPr/>
          <p:nvPr/>
        </p:nvSpPr>
        <p:spPr>
          <a:xfrm>
            <a:off x="2606040" y="4343400"/>
            <a:ext cx="256032" cy="274320"/>
          </a:xfrm>
          <a:prstGeom prst="roundRect">
            <a:avLst>
              <a:gd name="adj" fmla="val 35714"/>
            </a:avLst>
          </a:prstGeom>
          <a:solidFill>
            <a:srgbClr val="12303F"/>
          </a:solidFill>
          <a:ln w="12700">
            <a:solidFill>
              <a:srgbClr val="12303F"/>
            </a:solidFill>
            <a:prstDash val="solid"/>
          </a:ln>
        </p:spPr>
      </p:sp>
      <p:sp>
        <p:nvSpPr>
          <p:cNvPr id="36" name="Text 34"/>
          <p:cNvSpPr/>
          <p:nvPr/>
        </p:nvSpPr>
        <p:spPr>
          <a:xfrm>
            <a:off x="2606040" y="4343400"/>
            <a:ext cx="256032" cy="274320"/>
          </a:xfrm>
          <a:prstGeom prst="rect">
            <a:avLst/>
          </a:prstGeom>
          <a:noFill/>
          <a:ln/>
        </p:spPr>
        <p:txBody>
          <a:bodyPr wrap="square" lIns="0" tIns="0" rIns="0" bIns="0" rtlCol="0" anchor="ctr"/>
          <a:lstStyle/>
          <a:p>
            <a:pPr algn="ctr" indent="0" marL="0">
              <a:buNone/>
            </a:pPr>
            <a:endParaRPr lang="en-US" sz="1100" dirty="0"/>
          </a:p>
        </p:txBody>
      </p:sp>
      <p:sp>
        <p:nvSpPr>
          <p:cNvPr id="37" name="Text 35"/>
          <p:cNvSpPr/>
          <p:nvPr/>
        </p:nvSpPr>
        <p:spPr>
          <a:xfrm>
            <a:off x="2926080" y="4343400"/>
            <a:ext cx="1097280" cy="274320"/>
          </a:xfrm>
          <a:prstGeom prst="rect">
            <a:avLst/>
          </a:prstGeom>
          <a:noFill/>
          <a:ln/>
        </p:spPr>
        <p:txBody>
          <a:bodyPr wrap="square" lIns="0" tIns="0" rIns="0" bIns="0" rtlCol="0" anchor="ctr"/>
          <a:lstStyle/>
          <a:p>
            <a:pPr indent="0" marL="0">
              <a:buNone/>
            </a:pPr>
            <a:r>
              <a:rPr lang="en-US" sz="1150" dirty="0">
                <a:solidFill>
                  <a:srgbClr val="12303F"/>
                </a:solidFill>
                <a:latin typeface="Calibri" pitchFamily="34" charset="0"/>
                <a:ea typeface="Calibri" pitchFamily="34" charset="-122"/>
                <a:cs typeface="Calibri" pitchFamily="34" charset="-120"/>
              </a:rPr>
              <a:t>frozen</a:t>
            </a:r>
            <a:endParaRPr lang="en-US" sz="1150" dirty="0"/>
          </a:p>
        </p:txBody>
      </p:sp>
      <p:sp>
        <p:nvSpPr>
          <p:cNvPr id="38" name="Shape 36"/>
          <p:cNvSpPr/>
          <p:nvPr/>
        </p:nvSpPr>
        <p:spPr>
          <a:xfrm>
            <a:off x="4023360" y="4343400"/>
            <a:ext cx="256032" cy="274320"/>
          </a:xfrm>
          <a:prstGeom prst="roundRect">
            <a:avLst>
              <a:gd name="adj" fmla="val 35714"/>
            </a:avLst>
          </a:prstGeom>
          <a:solidFill>
            <a:srgbClr val="FFFFFF"/>
          </a:solidFill>
          <a:ln w="15875">
            <a:solidFill>
              <a:srgbClr val="5A6B73"/>
            </a:solidFill>
            <a:prstDash val="solid"/>
          </a:ln>
        </p:spPr>
      </p:sp>
      <p:sp>
        <p:nvSpPr>
          <p:cNvPr id="39" name="Text 37"/>
          <p:cNvSpPr/>
          <p:nvPr/>
        </p:nvSpPr>
        <p:spPr>
          <a:xfrm>
            <a:off x="4023360" y="4343400"/>
            <a:ext cx="256032" cy="274320"/>
          </a:xfrm>
          <a:prstGeom prst="rect">
            <a:avLst/>
          </a:prstGeom>
          <a:noFill/>
          <a:ln/>
        </p:spPr>
        <p:txBody>
          <a:bodyPr wrap="square" lIns="0" tIns="0" rIns="0" bIns="0" rtlCol="0" anchor="ctr"/>
          <a:lstStyle/>
          <a:p>
            <a:pPr algn="ctr" indent="0" marL="0">
              <a:buNone/>
            </a:pPr>
            <a:endParaRPr lang="en-US" sz="1100" dirty="0"/>
          </a:p>
        </p:txBody>
      </p:sp>
      <p:sp>
        <p:nvSpPr>
          <p:cNvPr id="40" name="Text 38"/>
          <p:cNvSpPr/>
          <p:nvPr/>
        </p:nvSpPr>
        <p:spPr>
          <a:xfrm>
            <a:off x="4343400" y="4343400"/>
            <a:ext cx="2377440" cy="274320"/>
          </a:xfrm>
          <a:prstGeom prst="rect">
            <a:avLst/>
          </a:prstGeom>
          <a:noFill/>
          <a:ln/>
        </p:spPr>
        <p:txBody>
          <a:bodyPr wrap="square" lIns="0" tIns="0" rIns="0" bIns="0" rtlCol="0" anchor="ctr"/>
          <a:lstStyle/>
          <a:p>
            <a:pPr indent="0" marL="0">
              <a:buNone/>
            </a:pPr>
            <a:r>
              <a:rPr lang="en-US" sz="1150" dirty="0">
                <a:solidFill>
                  <a:srgbClr val="12303F"/>
                </a:solidFill>
                <a:latin typeface="Calibri" pitchFamily="34" charset="0"/>
                <a:ea typeface="Calibri" pitchFamily="34" charset="-122"/>
                <a:cs typeface="Calibri" pitchFamily="34" charset="-120"/>
              </a:rPr>
              <a:t>unchanged infrastructure</a:t>
            </a:r>
            <a:endParaRPr lang="en-US" sz="1150" dirty="0"/>
          </a:p>
        </p:txBody>
      </p:sp>
      <p:sp>
        <p:nvSpPr>
          <p:cNvPr id="41" name="Shape 39"/>
          <p:cNvSpPr/>
          <p:nvPr/>
        </p:nvSpPr>
        <p:spPr>
          <a:xfrm>
            <a:off x="640080" y="4937760"/>
            <a:ext cx="10881360" cy="1005840"/>
          </a:xfrm>
          <a:prstGeom prst="roundRect">
            <a:avLst>
              <a:gd name="adj" fmla="val 4545"/>
            </a:avLst>
          </a:prstGeom>
          <a:solidFill>
            <a:srgbClr val="F4F6F7"/>
          </a:solidFill>
          <a:ln w="12700">
            <a:solidFill>
              <a:srgbClr val="D3DBDE"/>
            </a:solidFill>
            <a:prstDash val="solid"/>
          </a:ln>
        </p:spPr>
      </p:sp>
      <p:sp>
        <p:nvSpPr>
          <p:cNvPr id="42" name="Text 40"/>
          <p:cNvSpPr/>
          <p:nvPr/>
        </p:nvSpPr>
        <p:spPr>
          <a:xfrm>
            <a:off x="914400" y="5120640"/>
            <a:ext cx="10332720" cy="685800"/>
          </a:xfrm>
          <a:prstGeom prst="rect">
            <a:avLst/>
          </a:prstGeom>
          <a:noFill/>
          <a:ln/>
        </p:spPr>
        <p:txBody>
          <a:bodyPr wrap="square" lIns="0" tIns="0" rIns="0" bIns="0" rtlCol="0" anchor="ctr"/>
          <a:lstStyle/>
          <a:p>
            <a:pPr indent="0" marL="0">
              <a:buNone/>
            </a:pPr>
            <a:r>
              <a:rPr lang="en-US" sz="1250" dirty="0">
                <a:solidFill>
                  <a:srgbClr val="12303F"/>
                </a:solidFill>
                <a:latin typeface="Calibri" pitchFamily="34" charset="0"/>
                <a:ea typeface="Calibri" pitchFamily="34" charset="-122"/>
                <a:cs typeface="Calibri" pitchFamily="34" charset="-120"/>
              </a:rPr>
              <a:t>Output dimension and the COSINE metric are unchanged, so the fine-tuned model drops into the existing production collection contract. Reranking sits inside the access filter, so isolation guarantees are untouched. Training is fully offline and never contends with the serving GPU.</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12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3. METHODOLOGY</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2</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Experiment A: Bi-Encoder Fine-Tuning</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6583680" cy="914400"/>
        </p:xfrm>
        <a:graphic>
          <a:graphicData uri="http://schemas.openxmlformats.org/drawingml/2006/table">
            <a:tbl>
              <a:tblPr/>
              <a:tblGrid>
                <a:gridCol w="1737360"/>
                <a:gridCol w="4846320"/>
              </a:tblGrid>
              <a:tr h="384048">
                <a:tc>
                  <a:txBody>
                    <a:bodyPr/>
                    <a:lstStyle/>
                    <a:p>
                      <a:pPr indent="0" marL="0">
                        <a:buNone/>
                      </a:pPr>
                      <a:r>
                        <a:rPr lang="en-US" sz="1200" b="1" dirty="0">
                          <a:solidFill>
                            <a:srgbClr val="12303F"/>
                          </a:solidFill>
                          <a:latin typeface="Calibri" pitchFamily="34" charset="0"/>
                          <a:ea typeface="Calibri" pitchFamily="34" charset="-122"/>
                          <a:cs typeface="Calibri" pitchFamily="34" charset="-120"/>
                        </a:rPr>
                        <a:t>Base model</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BAAI/bge-m3 — XLM-R-large scale, ~568M params, 1024-d</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2303F"/>
                          </a:solidFill>
                          <a:latin typeface="Calibri" pitchFamily="34" charset="0"/>
                          <a:ea typeface="Calibri" pitchFamily="34" charset="-122"/>
                          <a:cs typeface="Calibri" pitchFamily="34" charset="-120"/>
                        </a:rPr>
                        <a:t>Objective</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CachedMultipleNegativesRankingLoss (GradCache)</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2303F"/>
                          </a:solidFill>
                          <a:latin typeface="Calibri" pitchFamily="34" charset="0"/>
                          <a:ea typeface="Calibri" pitchFamily="34" charset="-122"/>
                          <a:cs typeface="Calibri" pitchFamily="34" charset="-120"/>
                        </a:rPr>
                        <a:t>Batch</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Effective 256+, mini-batch sized to fit the card</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2303F"/>
                          </a:solidFill>
                          <a:latin typeface="Calibri" pitchFamily="34" charset="0"/>
                          <a:ea typeface="Calibri" pitchFamily="34" charset="-122"/>
                          <a:cs typeface="Calibri" pitchFamily="34" charset="-120"/>
                        </a:rPr>
                        <a:t>Sequence length</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320 tokens — passages cap at 993 chars</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2303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bf16, gradient checkpointing on</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2303F"/>
                          </a:solidFill>
                          <a:latin typeface="Calibri" pitchFamily="34" charset="0"/>
                          <a:ea typeface="Calibri" pitchFamily="34" charset="-122"/>
                          <a:cs typeface="Calibri" pitchFamily="34" charset="-120"/>
                        </a:rPr>
                        <a:t>Selection</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Best checkpoint by val nDCG@10 — never final-epoch loss</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bl>
          </a:graphicData>
        </a:graphic>
      </p:graphicFrame>
      <p:sp>
        <p:nvSpPr>
          <p:cNvPr id="7" name="Shape 4"/>
          <p:cNvSpPr/>
          <p:nvPr/>
        </p:nvSpPr>
        <p:spPr>
          <a:xfrm>
            <a:off x="640080" y="4160520"/>
            <a:ext cx="6583680" cy="1051560"/>
          </a:xfrm>
          <a:prstGeom prst="roundRect">
            <a:avLst>
              <a:gd name="adj" fmla="val 4348"/>
            </a:avLst>
          </a:prstGeom>
          <a:solidFill>
            <a:srgbClr val="F4F6F7"/>
          </a:solidFill>
          <a:ln w="12700">
            <a:solidFill>
              <a:srgbClr val="D3DBDE"/>
            </a:solidFill>
            <a:prstDash val="solid"/>
          </a:ln>
        </p:spPr>
      </p:sp>
      <p:sp>
        <p:nvSpPr>
          <p:cNvPr id="8" name="Text 5"/>
          <p:cNvSpPr/>
          <p:nvPr/>
        </p:nvSpPr>
        <p:spPr>
          <a:xfrm>
            <a:off x="914400" y="4343400"/>
            <a:ext cx="6126480" cy="731520"/>
          </a:xfrm>
          <a:prstGeom prst="rect">
            <a:avLst/>
          </a:prstGeom>
          <a:noFill/>
          <a:ln/>
        </p:spPr>
        <p:txBody>
          <a:bodyPr wrap="square" lIns="0" tIns="0" rIns="0" bIns="0" rtlCol="0" anchor="ctr"/>
          <a:lstStyle/>
          <a:p>
            <a:pPr indent="0" marL="0">
              <a:buNone/>
            </a:pPr>
            <a:r>
              <a:rPr lang="en-US" sz="1250" dirty="0">
                <a:solidFill>
                  <a:srgbClr val="12303F"/>
                </a:solidFill>
                <a:latin typeface="Calibri" pitchFamily="34" charset="0"/>
                <a:ea typeface="Calibri" pitchFamily="34" charset="-122"/>
                <a:cs typeface="Calibri" pitchFamily="34" charset="-120"/>
              </a:rPr>
              <a:t>Rationale for the cached loss: in-batch negatives are the dominant training signal for contrastive retrieval, and caching is what buys an effective batch of 256+ at this model scale.</a:t>
            </a:r>
            <a:endParaRPr lang="en-US" sz="1250" dirty="0"/>
          </a:p>
        </p:txBody>
      </p:sp>
      <p:sp>
        <p:nvSpPr>
          <p:cNvPr id="9" name="Shape 6"/>
          <p:cNvSpPr/>
          <p:nvPr/>
        </p:nvSpPr>
        <p:spPr>
          <a:xfrm>
            <a:off x="7543800" y="1600200"/>
            <a:ext cx="3977640" cy="3611880"/>
          </a:xfrm>
          <a:prstGeom prst="roundRect">
            <a:avLst>
              <a:gd name="adj" fmla="val 1519"/>
            </a:avLst>
          </a:prstGeom>
          <a:solidFill>
            <a:srgbClr val="F4F6F7"/>
          </a:solidFill>
          <a:ln w="15875">
            <a:solidFill>
              <a:srgbClr val="0E7C7B"/>
            </a:solidFill>
            <a:prstDash val="dash"/>
          </a:ln>
        </p:spPr>
      </p:sp>
      <p:sp>
        <p:nvSpPr>
          <p:cNvPr id="10" name="Text 7"/>
          <p:cNvSpPr/>
          <p:nvPr/>
        </p:nvSpPr>
        <p:spPr>
          <a:xfrm>
            <a:off x="7543800" y="2930652"/>
            <a:ext cx="3977640" cy="237744"/>
          </a:xfrm>
          <a:prstGeom prst="rect">
            <a:avLst/>
          </a:prstGeom>
          <a:noFill/>
          <a:ln/>
        </p:spPr>
        <p:txBody>
          <a:bodyPr wrap="square" lIns="0" tIns="0" rIns="0" bIns="0" rtlCol="0" anchor="ctr"/>
          <a:lstStyle/>
          <a:p>
            <a:pPr algn="ctr" indent="0" marL="0">
              <a:buNone/>
            </a:pPr>
            <a:r>
              <a:rPr lang="en-US" sz="1000" b="1" spc="150" kern="0" dirty="0">
                <a:solidFill>
                  <a:srgbClr val="0E7C7B"/>
                </a:solidFill>
                <a:latin typeface="Calibri" pitchFamily="34" charset="0"/>
                <a:ea typeface="Calibri" pitchFamily="34" charset="-122"/>
                <a:cs typeface="Calibri" pitchFamily="34" charset="-120"/>
              </a:rPr>
              <a:t>PASTE FIGURE</a:t>
            </a:r>
            <a:endParaRPr lang="en-US" sz="1000" dirty="0"/>
          </a:p>
        </p:txBody>
      </p:sp>
      <p:sp>
        <p:nvSpPr>
          <p:cNvPr id="11" name="Text 8"/>
          <p:cNvSpPr/>
          <p:nvPr/>
        </p:nvSpPr>
        <p:spPr>
          <a:xfrm>
            <a:off x="7680960" y="3204972"/>
            <a:ext cx="3703320" cy="274320"/>
          </a:xfrm>
          <a:prstGeom prst="rect">
            <a:avLst/>
          </a:prstGeom>
          <a:noFill/>
          <a:ln/>
        </p:spPr>
        <p:txBody>
          <a:bodyPr wrap="square" lIns="0" tIns="0" rIns="0" bIns="0" rtlCol="0" anchor="ctr"/>
          <a:lstStyle/>
          <a:p>
            <a:pPr algn="ctr" indent="0" marL="0">
              <a:buNone/>
            </a:pPr>
            <a:r>
              <a:rPr lang="en-US" sz="1100" dirty="0">
                <a:solidFill>
                  <a:srgbClr val="12303F"/>
                </a:solidFill>
                <a:latin typeface="Courier New" pitchFamily="34" charset="0"/>
                <a:ea typeface="Courier New" pitchFamily="34" charset="-122"/>
                <a:cs typeface="Courier New" pitchFamily="34" charset="-120"/>
              </a:rPr>
              <a:t>training_curve_biencoder.png</a:t>
            </a:r>
            <a:endParaRPr lang="en-US" sz="1100" dirty="0"/>
          </a:p>
        </p:txBody>
      </p:sp>
      <p:sp>
        <p:nvSpPr>
          <p:cNvPr id="12" name="Text 9"/>
          <p:cNvSpPr/>
          <p:nvPr/>
        </p:nvSpPr>
        <p:spPr>
          <a:xfrm>
            <a:off x="7726680" y="3515868"/>
            <a:ext cx="3611880" cy="457200"/>
          </a:xfrm>
          <a:prstGeom prst="rect">
            <a:avLst/>
          </a:prstGeom>
          <a:noFill/>
          <a:ln/>
        </p:spPr>
        <p:txBody>
          <a:bodyPr wrap="square" lIns="0" tIns="0" rIns="0" bIns="0" rtlCol="0" anchor="ctr"/>
          <a:lstStyle/>
          <a:p>
            <a:pPr algn="ctr" indent="0" marL="0">
              <a:buNone/>
            </a:pPr>
            <a:r>
              <a:rPr lang="en-US" sz="1000" i="1" dirty="0">
                <a:solidFill>
                  <a:srgbClr val="5A6B73"/>
                </a:solidFill>
                <a:latin typeface="Calibri" pitchFamily="34" charset="0"/>
                <a:ea typeface="Calibri" pitchFamily="34" charset="-122"/>
                <a:cs typeface="Calibri" pitchFamily="34" charset="-120"/>
              </a:rPr>
              <a:t>Loss + val nDCG@10 vs. steps</a:t>
            </a:r>
            <a:endParaRPr lang="en-US" sz="1000" dirty="0"/>
          </a:p>
        </p:txBody>
      </p:sp>
      <p:sp>
        <p:nvSpPr>
          <p:cNvPr id="13" name="Text 10"/>
          <p:cNvSpPr/>
          <p:nvPr/>
        </p:nvSpPr>
        <p:spPr>
          <a:xfrm>
            <a:off x="640080" y="6327648"/>
            <a:ext cx="9692640" cy="274320"/>
          </a:xfrm>
          <a:prstGeom prst="rect">
            <a:avLst/>
          </a:prstGeom>
          <a:noFill/>
          <a:ln/>
        </p:spPr>
        <p:txBody>
          <a:bodyPr wrap="square" lIns="0" tIns="0" rIns="0" bIns="0" rtlCol="0" anchor="ctr"/>
          <a:lstStyle/>
          <a:p>
            <a:pPr algn="l" indent="0" marL="0">
              <a:buNone/>
            </a:pPr>
            <a:r>
              <a:rPr lang="en-US" sz="950" i="1" dirty="0">
                <a:solidFill>
                  <a:srgbClr val="5A6B73"/>
                </a:solidFill>
                <a:latin typeface="Calibri" pitchFamily="34" charset="0"/>
                <a:ea typeface="Calibri" pitchFamily="34" charset="-122"/>
                <a:cs typeface="Calibri" pitchFamily="34" charset="-120"/>
              </a:rPr>
              <a:t>Embedding dimension is asserted at load by probing a test embedding — never hardcoded.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13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3. METHODOLOGY</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2</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Hyperparameter Optimization</a:t>
            </a:r>
            <a:endParaRPr lang="en-US" sz="3400" dirty="0"/>
          </a:p>
        </p:txBody>
      </p:sp>
      <p:sp>
        <p:nvSpPr>
          <p:cNvPr id="6" name="Text 4"/>
          <p:cNvSpPr/>
          <p:nvPr/>
        </p:nvSpPr>
        <p:spPr>
          <a:xfrm>
            <a:off x="640080" y="1554480"/>
            <a:ext cx="6035040" cy="685800"/>
          </a:xfrm>
          <a:prstGeom prst="rect">
            <a:avLst/>
          </a:prstGeom>
          <a:noFill/>
          <a:ln/>
        </p:spPr>
        <p:txBody>
          <a:bodyPr wrap="square" lIns="0" tIns="0" rIns="0" bIns="0" rtlCol="0" anchor="ctr"/>
          <a:lstStyle/>
          <a:p>
            <a:pPr indent="0" marL="0">
              <a:buNone/>
            </a:pPr>
            <a:r>
              <a:rPr lang="en-US" sz="1400" dirty="0">
                <a:solidFill>
                  <a:srgbClr val="12303F"/>
                </a:solidFill>
                <a:latin typeface="Calibri" pitchFamily="34" charset="0"/>
                <a:ea typeface="Calibri" pitchFamily="34" charset="-122"/>
                <a:cs typeface="Calibri" pitchFamily="34" charset="-120"/>
              </a:rPr>
              <a:t>At ~21.7k queries an epoch is a few hundred steps — minutes, not hours. That headroom bought a full grid rather than a single lucky configuration.</a:t>
            </a:r>
            <a:endParaRPr lang="en-US" sz="1400" dirty="0"/>
          </a:p>
        </p:txBody>
      </p:sp>
      <p:sp>
        <p:nvSpPr>
          <p:cNvPr id="7" name="Shape 5"/>
          <p:cNvSpPr/>
          <p:nvPr/>
        </p:nvSpPr>
        <p:spPr>
          <a:xfrm>
            <a:off x="640080" y="2395728"/>
            <a:ext cx="6035040" cy="548640"/>
          </a:xfrm>
          <a:prstGeom prst="roundRect">
            <a:avLst>
              <a:gd name="adj" fmla="val 8333"/>
            </a:avLst>
          </a:prstGeom>
          <a:solidFill>
            <a:srgbClr val="FFFFFF"/>
          </a:solidFill>
          <a:ln w="12700">
            <a:solidFill>
              <a:srgbClr val="D3DBDE"/>
            </a:solidFill>
            <a:prstDash val="solid"/>
          </a:ln>
        </p:spPr>
      </p:sp>
      <p:sp>
        <p:nvSpPr>
          <p:cNvPr id="8" name="Text 6"/>
          <p:cNvSpPr/>
          <p:nvPr/>
        </p:nvSpPr>
        <p:spPr>
          <a:xfrm>
            <a:off x="868680" y="2395728"/>
            <a:ext cx="2926080" cy="548640"/>
          </a:xfrm>
          <a:prstGeom prst="rect">
            <a:avLst/>
          </a:prstGeom>
          <a:noFill/>
          <a:ln/>
        </p:spPr>
        <p:txBody>
          <a:bodyPr wrap="square" lIns="0" tIns="0" rIns="0" bIns="0" rtlCol="0" anchor="ctr"/>
          <a:lstStyle/>
          <a:p>
            <a:pPr indent="0" marL="0">
              <a:buNone/>
            </a:pPr>
            <a:r>
              <a:rPr lang="en-US" sz="1300" b="1" dirty="0">
                <a:solidFill>
                  <a:srgbClr val="12303F"/>
                </a:solidFill>
                <a:latin typeface="Calibri" pitchFamily="34" charset="0"/>
                <a:ea typeface="Calibri" pitchFamily="34" charset="-122"/>
                <a:cs typeface="Calibri" pitchFamily="34" charset="-120"/>
              </a:rPr>
              <a:t>Learning rate</a:t>
            </a:r>
            <a:endParaRPr lang="en-US" sz="1300" dirty="0"/>
          </a:p>
        </p:txBody>
      </p:sp>
      <p:sp>
        <p:nvSpPr>
          <p:cNvPr id="9" name="Text 7"/>
          <p:cNvSpPr/>
          <p:nvPr/>
        </p:nvSpPr>
        <p:spPr>
          <a:xfrm>
            <a:off x="3794760" y="2395728"/>
            <a:ext cx="2651760" cy="548640"/>
          </a:xfrm>
          <a:prstGeom prst="rect">
            <a:avLst/>
          </a:prstGeom>
          <a:noFill/>
          <a:ln/>
        </p:spPr>
        <p:txBody>
          <a:bodyPr wrap="square" lIns="0" tIns="0" rIns="0" bIns="0" rtlCol="0" anchor="ctr"/>
          <a:lstStyle/>
          <a:p>
            <a:pPr indent="0" marL="0">
              <a:buNone/>
            </a:pPr>
            <a:r>
              <a:rPr lang="en-US" sz="1300" dirty="0">
                <a:solidFill>
                  <a:srgbClr val="5A6B73"/>
                </a:solidFill>
                <a:latin typeface="Courier New" pitchFamily="34" charset="0"/>
                <a:ea typeface="Courier New" pitchFamily="34" charset="-122"/>
                <a:cs typeface="Courier New" pitchFamily="34" charset="-120"/>
              </a:rPr>
              <a:t>1e-5, 2e-5</a:t>
            </a:r>
            <a:endParaRPr lang="en-US" sz="1300" dirty="0"/>
          </a:p>
        </p:txBody>
      </p:sp>
      <p:sp>
        <p:nvSpPr>
          <p:cNvPr id="10" name="Shape 8"/>
          <p:cNvSpPr/>
          <p:nvPr/>
        </p:nvSpPr>
        <p:spPr>
          <a:xfrm>
            <a:off x="640080" y="3054096"/>
            <a:ext cx="6035040" cy="548640"/>
          </a:xfrm>
          <a:prstGeom prst="roundRect">
            <a:avLst>
              <a:gd name="adj" fmla="val 8333"/>
            </a:avLst>
          </a:prstGeom>
          <a:solidFill>
            <a:srgbClr val="FFFFFF"/>
          </a:solidFill>
          <a:ln w="12700">
            <a:solidFill>
              <a:srgbClr val="D3DBDE"/>
            </a:solidFill>
            <a:prstDash val="solid"/>
          </a:ln>
        </p:spPr>
      </p:sp>
      <p:sp>
        <p:nvSpPr>
          <p:cNvPr id="11" name="Text 9"/>
          <p:cNvSpPr/>
          <p:nvPr/>
        </p:nvSpPr>
        <p:spPr>
          <a:xfrm>
            <a:off x="868680" y="3054096"/>
            <a:ext cx="2926080" cy="548640"/>
          </a:xfrm>
          <a:prstGeom prst="rect">
            <a:avLst/>
          </a:prstGeom>
          <a:noFill/>
          <a:ln/>
        </p:spPr>
        <p:txBody>
          <a:bodyPr wrap="square" lIns="0" tIns="0" rIns="0" bIns="0" rtlCol="0" anchor="ctr"/>
          <a:lstStyle/>
          <a:p>
            <a:pPr indent="0" marL="0">
              <a:buNone/>
            </a:pPr>
            <a:r>
              <a:rPr lang="en-US" sz="1300" b="1" dirty="0">
                <a:solidFill>
                  <a:srgbClr val="12303F"/>
                </a:solidFill>
                <a:latin typeface="Calibri" pitchFamily="34" charset="0"/>
                <a:ea typeface="Calibri" pitchFamily="34" charset="-122"/>
                <a:cs typeface="Calibri" pitchFamily="34" charset="-120"/>
              </a:rPr>
              <a:t>Epochs</a:t>
            </a:r>
            <a:endParaRPr lang="en-US" sz="1300" dirty="0"/>
          </a:p>
        </p:txBody>
      </p:sp>
      <p:sp>
        <p:nvSpPr>
          <p:cNvPr id="12" name="Text 10"/>
          <p:cNvSpPr/>
          <p:nvPr/>
        </p:nvSpPr>
        <p:spPr>
          <a:xfrm>
            <a:off x="3794760" y="3054096"/>
            <a:ext cx="2651760" cy="548640"/>
          </a:xfrm>
          <a:prstGeom prst="rect">
            <a:avLst/>
          </a:prstGeom>
          <a:noFill/>
          <a:ln/>
        </p:spPr>
        <p:txBody>
          <a:bodyPr wrap="square" lIns="0" tIns="0" rIns="0" bIns="0" rtlCol="0" anchor="ctr"/>
          <a:lstStyle/>
          <a:p>
            <a:pPr indent="0" marL="0">
              <a:buNone/>
            </a:pPr>
            <a:r>
              <a:rPr lang="en-US" sz="1300" dirty="0">
                <a:solidFill>
                  <a:srgbClr val="5A6B73"/>
                </a:solidFill>
                <a:latin typeface="Courier New" pitchFamily="34" charset="0"/>
                <a:ea typeface="Courier New" pitchFamily="34" charset="-122"/>
                <a:cs typeface="Courier New" pitchFamily="34" charset="-120"/>
              </a:rPr>
              <a:t>1, 2, 3</a:t>
            </a:r>
            <a:endParaRPr lang="en-US" sz="1300" dirty="0"/>
          </a:p>
        </p:txBody>
      </p:sp>
      <p:sp>
        <p:nvSpPr>
          <p:cNvPr id="13" name="Shape 11"/>
          <p:cNvSpPr/>
          <p:nvPr/>
        </p:nvSpPr>
        <p:spPr>
          <a:xfrm>
            <a:off x="640080" y="3712464"/>
            <a:ext cx="6035040" cy="548640"/>
          </a:xfrm>
          <a:prstGeom prst="roundRect">
            <a:avLst>
              <a:gd name="adj" fmla="val 8333"/>
            </a:avLst>
          </a:prstGeom>
          <a:solidFill>
            <a:srgbClr val="FFFFFF"/>
          </a:solidFill>
          <a:ln w="12700">
            <a:solidFill>
              <a:srgbClr val="D3DBDE"/>
            </a:solidFill>
            <a:prstDash val="solid"/>
          </a:ln>
        </p:spPr>
      </p:sp>
      <p:sp>
        <p:nvSpPr>
          <p:cNvPr id="14" name="Text 12"/>
          <p:cNvSpPr/>
          <p:nvPr/>
        </p:nvSpPr>
        <p:spPr>
          <a:xfrm>
            <a:off x="868680" y="3712464"/>
            <a:ext cx="2926080" cy="548640"/>
          </a:xfrm>
          <a:prstGeom prst="rect">
            <a:avLst/>
          </a:prstGeom>
          <a:noFill/>
          <a:ln/>
        </p:spPr>
        <p:txBody>
          <a:bodyPr wrap="square" lIns="0" tIns="0" rIns="0" bIns="0" rtlCol="0" anchor="ctr"/>
          <a:lstStyle/>
          <a:p>
            <a:pPr indent="0" marL="0">
              <a:buNone/>
            </a:pPr>
            <a:r>
              <a:rPr lang="en-US" sz="1300" b="1" dirty="0">
                <a:solidFill>
                  <a:srgbClr val="12303F"/>
                </a:solidFill>
                <a:latin typeface="Calibri" pitchFamily="34" charset="0"/>
                <a:ea typeface="Calibri" pitchFamily="34" charset="-122"/>
                <a:cs typeface="Calibri" pitchFamily="34" charset="-120"/>
              </a:rPr>
              <a:t>Hard negatives / query</a:t>
            </a:r>
            <a:endParaRPr lang="en-US" sz="1300" dirty="0"/>
          </a:p>
        </p:txBody>
      </p:sp>
      <p:sp>
        <p:nvSpPr>
          <p:cNvPr id="15" name="Text 13"/>
          <p:cNvSpPr/>
          <p:nvPr/>
        </p:nvSpPr>
        <p:spPr>
          <a:xfrm>
            <a:off x="3794760" y="3712464"/>
            <a:ext cx="2651760" cy="548640"/>
          </a:xfrm>
          <a:prstGeom prst="rect">
            <a:avLst/>
          </a:prstGeom>
          <a:noFill/>
          <a:ln/>
        </p:spPr>
        <p:txBody>
          <a:bodyPr wrap="square" lIns="0" tIns="0" rIns="0" bIns="0" rtlCol="0" anchor="ctr"/>
          <a:lstStyle/>
          <a:p>
            <a:pPr indent="0" marL="0">
              <a:buNone/>
            </a:pPr>
            <a:r>
              <a:rPr lang="en-US" sz="1300" dirty="0">
                <a:solidFill>
                  <a:srgbClr val="5A6B73"/>
                </a:solidFill>
                <a:latin typeface="Courier New" pitchFamily="34" charset="0"/>
                <a:ea typeface="Courier New" pitchFamily="34" charset="-122"/>
                <a:cs typeface="Courier New" pitchFamily="34" charset="-120"/>
              </a:rPr>
              <a:t>4, 8</a:t>
            </a:r>
            <a:endParaRPr lang="en-US" sz="1300" dirty="0"/>
          </a:p>
        </p:txBody>
      </p:sp>
      <p:sp>
        <p:nvSpPr>
          <p:cNvPr id="16" name="Shape 14"/>
          <p:cNvSpPr/>
          <p:nvPr/>
        </p:nvSpPr>
        <p:spPr>
          <a:xfrm>
            <a:off x="640080" y="4370832"/>
            <a:ext cx="6035040" cy="548640"/>
          </a:xfrm>
          <a:prstGeom prst="roundRect">
            <a:avLst>
              <a:gd name="adj" fmla="val 8333"/>
            </a:avLst>
          </a:prstGeom>
          <a:solidFill>
            <a:srgbClr val="D6EAE9"/>
          </a:solidFill>
          <a:ln w="12700">
            <a:solidFill>
              <a:srgbClr val="0E7C7B"/>
            </a:solidFill>
            <a:prstDash val="solid"/>
          </a:ln>
        </p:spPr>
      </p:sp>
      <p:sp>
        <p:nvSpPr>
          <p:cNvPr id="17" name="Text 15"/>
          <p:cNvSpPr/>
          <p:nvPr/>
        </p:nvSpPr>
        <p:spPr>
          <a:xfrm>
            <a:off x="868680" y="4370832"/>
            <a:ext cx="2926080" cy="548640"/>
          </a:xfrm>
          <a:prstGeom prst="rect">
            <a:avLst/>
          </a:prstGeom>
          <a:noFill/>
          <a:ln/>
        </p:spPr>
        <p:txBody>
          <a:bodyPr wrap="square" lIns="0" tIns="0" rIns="0" bIns="0" rtlCol="0" anchor="ctr"/>
          <a:lstStyle/>
          <a:p>
            <a:pPr indent="0" marL="0">
              <a:buNone/>
            </a:pPr>
            <a:r>
              <a:rPr lang="en-US" sz="1300" b="1" dirty="0">
                <a:solidFill>
                  <a:srgbClr val="12303F"/>
                </a:solidFill>
                <a:latin typeface="Calibri" pitchFamily="34" charset="0"/>
                <a:ea typeface="Calibri" pitchFamily="34" charset="-122"/>
                <a:cs typeface="Calibri" pitchFamily="34" charset="-120"/>
              </a:rPr>
              <a:t>Selection metric</a:t>
            </a:r>
            <a:endParaRPr lang="en-US" sz="1300" dirty="0"/>
          </a:p>
        </p:txBody>
      </p:sp>
      <p:sp>
        <p:nvSpPr>
          <p:cNvPr id="18" name="Text 16"/>
          <p:cNvSpPr/>
          <p:nvPr/>
        </p:nvSpPr>
        <p:spPr>
          <a:xfrm>
            <a:off x="3794760" y="4370832"/>
            <a:ext cx="2651760" cy="548640"/>
          </a:xfrm>
          <a:prstGeom prst="rect">
            <a:avLst/>
          </a:prstGeom>
          <a:noFill/>
          <a:ln/>
        </p:spPr>
        <p:txBody>
          <a:bodyPr wrap="square" lIns="0" tIns="0" rIns="0" bIns="0" rtlCol="0" anchor="ctr"/>
          <a:lstStyle/>
          <a:p>
            <a:pPr indent="0" marL="0">
              <a:buNone/>
            </a:pPr>
            <a:r>
              <a:rPr lang="en-US" sz="1300" dirty="0">
                <a:solidFill>
                  <a:srgbClr val="0E7C7B"/>
                </a:solidFill>
                <a:latin typeface="Courier New" pitchFamily="34" charset="0"/>
                <a:ea typeface="Courier New" pitchFamily="34" charset="-122"/>
                <a:cs typeface="Courier New" pitchFamily="34" charset="-120"/>
              </a:rPr>
              <a:t>val nDCG@10</a:t>
            </a:r>
            <a:endParaRPr lang="en-US" sz="1300" dirty="0"/>
          </a:p>
        </p:txBody>
      </p:sp>
      <p:sp>
        <p:nvSpPr>
          <p:cNvPr id="19" name="Shape 17"/>
          <p:cNvSpPr/>
          <p:nvPr/>
        </p:nvSpPr>
        <p:spPr>
          <a:xfrm>
            <a:off x="7040880" y="1554480"/>
            <a:ext cx="4480560" cy="3474720"/>
          </a:xfrm>
          <a:prstGeom prst="roundRect">
            <a:avLst>
              <a:gd name="adj" fmla="val 1579"/>
            </a:avLst>
          </a:prstGeom>
          <a:solidFill>
            <a:srgbClr val="F4F6F7"/>
          </a:solidFill>
          <a:ln w="15875">
            <a:solidFill>
              <a:srgbClr val="0E7C7B"/>
            </a:solidFill>
            <a:prstDash val="dash"/>
          </a:ln>
        </p:spPr>
      </p:sp>
      <p:sp>
        <p:nvSpPr>
          <p:cNvPr id="20" name="Text 18"/>
          <p:cNvSpPr/>
          <p:nvPr/>
        </p:nvSpPr>
        <p:spPr>
          <a:xfrm>
            <a:off x="7040880" y="2816352"/>
            <a:ext cx="4480560" cy="237744"/>
          </a:xfrm>
          <a:prstGeom prst="rect">
            <a:avLst/>
          </a:prstGeom>
          <a:noFill/>
          <a:ln/>
        </p:spPr>
        <p:txBody>
          <a:bodyPr wrap="square" lIns="0" tIns="0" rIns="0" bIns="0" rtlCol="0" anchor="ctr"/>
          <a:lstStyle/>
          <a:p>
            <a:pPr algn="ctr" indent="0" marL="0">
              <a:buNone/>
            </a:pPr>
            <a:r>
              <a:rPr lang="en-US" sz="1000" b="1" spc="150" kern="0" dirty="0">
                <a:solidFill>
                  <a:srgbClr val="0E7C7B"/>
                </a:solidFill>
                <a:latin typeface="Calibri" pitchFamily="34" charset="0"/>
                <a:ea typeface="Calibri" pitchFamily="34" charset="-122"/>
                <a:cs typeface="Calibri" pitchFamily="34" charset="-120"/>
              </a:rPr>
              <a:t>PASTE FIGURE</a:t>
            </a:r>
            <a:endParaRPr lang="en-US" sz="1000" dirty="0"/>
          </a:p>
        </p:txBody>
      </p:sp>
      <p:sp>
        <p:nvSpPr>
          <p:cNvPr id="21" name="Text 19"/>
          <p:cNvSpPr/>
          <p:nvPr/>
        </p:nvSpPr>
        <p:spPr>
          <a:xfrm>
            <a:off x="7178040" y="3090672"/>
            <a:ext cx="4206240" cy="274320"/>
          </a:xfrm>
          <a:prstGeom prst="rect">
            <a:avLst/>
          </a:prstGeom>
          <a:noFill/>
          <a:ln/>
        </p:spPr>
        <p:txBody>
          <a:bodyPr wrap="square" lIns="0" tIns="0" rIns="0" bIns="0" rtlCol="0" anchor="ctr"/>
          <a:lstStyle/>
          <a:p>
            <a:pPr algn="ctr" indent="0" marL="0">
              <a:buNone/>
            </a:pPr>
            <a:r>
              <a:rPr lang="en-US" sz="1100" dirty="0">
                <a:solidFill>
                  <a:srgbClr val="12303F"/>
                </a:solidFill>
                <a:latin typeface="Courier New" pitchFamily="34" charset="0"/>
                <a:ea typeface="Courier New" pitchFamily="34" charset="-122"/>
                <a:cs typeface="Courier New" pitchFamily="34" charset="-120"/>
              </a:rPr>
              <a:t>sweep_results.png</a:t>
            </a:r>
            <a:endParaRPr lang="en-US" sz="1100" dirty="0"/>
          </a:p>
        </p:txBody>
      </p:sp>
      <p:sp>
        <p:nvSpPr>
          <p:cNvPr id="22" name="Text 20"/>
          <p:cNvSpPr/>
          <p:nvPr/>
        </p:nvSpPr>
        <p:spPr>
          <a:xfrm>
            <a:off x="7223760" y="3401568"/>
            <a:ext cx="4114800" cy="457200"/>
          </a:xfrm>
          <a:prstGeom prst="rect">
            <a:avLst/>
          </a:prstGeom>
          <a:noFill/>
          <a:ln/>
        </p:spPr>
        <p:txBody>
          <a:bodyPr wrap="square" lIns="0" tIns="0" rIns="0" bIns="0" rtlCol="0" anchor="ctr"/>
          <a:lstStyle/>
          <a:p>
            <a:pPr algn="ctr" indent="0" marL="0">
              <a:buNone/>
            </a:pPr>
            <a:r>
              <a:rPr lang="en-US" sz="1000" i="1" dirty="0">
                <a:solidFill>
                  <a:srgbClr val="5A6B73"/>
                </a:solidFill>
                <a:latin typeface="Calibri" pitchFamily="34" charset="0"/>
                <a:ea typeface="Calibri" pitchFamily="34" charset="-122"/>
                <a:cs typeface="Calibri" pitchFamily="34" charset="-120"/>
              </a:rPr>
              <a:t>val nDCG@10 across the grid</a:t>
            </a:r>
            <a:endParaRPr lang="en-US" sz="1000" dirty="0"/>
          </a:p>
        </p:txBody>
      </p:sp>
      <p:sp>
        <p:nvSpPr>
          <p:cNvPr id="23" name="Shape 21"/>
          <p:cNvSpPr/>
          <p:nvPr/>
        </p:nvSpPr>
        <p:spPr>
          <a:xfrm>
            <a:off x="7040880" y="5212080"/>
            <a:ext cx="4480560" cy="731520"/>
          </a:xfrm>
          <a:prstGeom prst="roundRect">
            <a:avLst>
              <a:gd name="adj" fmla="val 6250"/>
            </a:avLst>
          </a:prstGeom>
          <a:solidFill>
            <a:srgbClr val="FBEEDA"/>
          </a:solidFill>
          <a:ln w="12700">
            <a:solidFill>
              <a:srgbClr val="FBEEDA"/>
            </a:solidFill>
            <a:prstDash val="solid"/>
          </a:ln>
        </p:spPr>
      </p:sp>
      <p:sp>
        <p:nvSpPr>
          <p:cNvPr id="24" name="Text 22"/>
          <p:cNvSpPr/>
          <p:nvPr/>
        </p:nvSpPr>
        <p:spPr>
          <a:xfrm>
            <a:off x="7269480" y="5376672"/>
            <a:ext cx="4023360" cy="411480"/>
          </a:xfrm>
          <a:prstGeom prst="rect">
            <a:avLst/>
          </a:prstGeom>
          <a:noFill/>
          <a:ln/>
        </p:spPr>
        <p:txBody>
          <a:bodyPr wrap="square" lIns="0" tIns="0" rIns="0" bIns="0" rtlCol="0" anchor="ctr"/>
          <a:lstStyle/>
          <a:p>
            <a:pPr indent="0" marL="0">
              <a:buNone/>
            </a:pPr>
            <a:r>
              <a:rPr lang="en-US" sz="1200" b="1" dirty="0">
                <a:solidFill>
                  <a:srgbClr val="6E4410"/>
                </a:solidFill>
                <a:latin typeface="Calibri" pitchFamily="34" charset="0"/>
                <a:ea typeface="Calibri" pitchFamily="34" charset="-122"/>
                <a:cs typeface="Calibri" pitchFamily="34" charset="-120"/>
              </a:rPr>
              <a:t>PASTE: best configuration + its margin over the worst</a:t>
            </a:r>
            <a:endParaRPr lang="en-US" sz="1200" dirty="0"/>
          </a:p>
        </p:txBody>
      </p:sp>
      <p:sp>
        <p:nvSpPr>
          <p:cNvPr id="25" name="Text 23"/>
          <p:cNvSpPr/>
          <p:nvPr/>
        </p:nvSpPr>
        <p:spPr>
          <a:xfrm>
            <a:off x="640080" y="6327648"/>
            <a:ext cx="9692640" cy="274320"/>
          </a:xfrm>
          <a:prstGeom prst="rect">
            <a:avLst/>
          </a:prstGeom>
          <a:noFill/>
          <a:ln/>
        </p:spPr>
        <p:txBody>
          <a:bodyPr wrap="square" lIns="0" tIns="0" rIns="0" bIns="0" rtlCol="0" anchor="ctr"/>
          <a:lstStyle/>
          <a:p>
            <a:pPr algn="l" indent="0" marL="0">
              <a:buNone/>
            </a:pPr>
            <a:r>
              <a:rPr lang="en-US" sz="950" i="1" dirty="0">
                <a:solidFill>
                  <a:srgbClr val="5A6B73"/>
                </a:solidFill>
                <a:latin typeface="Calibri" pitchFamily="34" charset="0"/>
                <a:ea typeface="Calibri" pitchFamily="34" charset="-122"/>
                <a:cs typeface="Calibri" pitchFamily="34" charset="-120"/>
              </a:rPr>
              <a:t>Seeds logged in every run manifest alongside the config snapshot and git SHA; sweeps vary the seed deliberately and record it.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14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3. METHODOLOGY</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2</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Experiment B: Cross-Encoder Reranker</a:t>
            </a:r>
            <a:endParaRPr lang="en-US" sz="3400" dirty="0"/>
          </a:p>
        </p:txBody>
      </p:sp>
      <p:sp>
        <p:nvSpPr>
          <p:cNvPr id="6" name="Shape 4"/>
          <p:cNvSpPr/>
          <p:nvPr/>
        </p:nvSpPr>
        <p:spPr>
          <a:xfrm>
            <a:off x="640080" y="1691640"/>
            <a:ext cx="2514600" cy="1143000"/>
          </a:xfrm>
          <a:prstGeom prst="roundRect">
            <a:avLst>
              <a:gd name="adj" fmla="val 4000"/>
            </a:avLst>
          </a:prstGeom>
          <a:solidFill>
            <a:srgbClr val="0E7C7B"/>
          </a:solidFill>
          <a:ln w="12700">
            <a:solidFill>
              <a:srgbClr val="0E7C7B"/>
            </a:solidFill>
            <a:prstDash val="solid"/>
          </a:ln>
        </p:spPr>
      </p:sp>
      <p:sp>
        <p:nvSpPr>
          <p:cNvPr id="7" name="Text 5"/>
          <p:cNvSpPr/>
          <p:nvPr/>
        </p:nvSpPr>
        <p:spPr>
          <a:xfrm>
            <a:off x="731520" y="1874520"/>
            <a:ext cx="23317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Fine-tuned retriever</a:t>
            </a:r>
            <a:endParaRPr lang="en-US" sz="1300" dirty="0"/>
          </a:p>
        </p:txBody>
      </p:sp>
      <p:sp>
        <p:nvSpPr>
          <p:cNvPr id="8" name="Text 6"/>
          <p:cNvSpPr/>
          <p:nvPr/>
        </p:nvSpPr>
        <p:spPr>
          <a:xfrm>
            <a:off x="731520" y="2395728"/>
            <a:ext cx="2331720" cy="320040"/>
          </a:xfrm>
          <a:prstGeom prst="rect">
            <a:avLst/>
          </a:prstGeom>
          <a:noFill/>
          <a:ln/>
        </p:spPr>
        <p:txBody>
          <a:bodyPr wrap="square" lIns="0" tIns="0" rIns="0" bIns="0" rtlCol="0" anchor="ctr"/>
          <a:lstStyle/>
          <a:p>
            <a:pPr algn="ctr" indent="0" marL="0">
              <a:buNone/>
            </a:pPr>
            <a:r>
              <a:rPr lang="en-US" sz="1050" dirty="0">
                <a:solidFill>
                  <a:srgbClr val="CFE3E2"/>
                </a:solidFill>
                <a:latin typeface="Calibri" pitchFamily="34" charset="0"/>
                <a:ea typeface="Calibri" pitchFamily="34" charset="-122"/>
                <a:cs typeface="Calibri" pitchFamily="34" charset="-120"/>
              </a:rPr>
              <a:t>from Experiment A</a:t>
            </a:r>
            <a:endParaRPr lang="en-US" sz="1050" dirty="0"/>
          </a:p>
        </p:txBody>
      </p:sp>
      <p:sp>
        <p:nvSpPr>
          <p:cNvPr id="9" name="Shape 7"/>
          <p:cNvSpPr/>
          <p:nvPr/>
        </p:nvSpPr>
        <p:spPr>
          <a:xfrm>
            <a:off x="3200400" y="2167128"/>
            <a:ext cx="201168" cy="201168"/>
          </a:xfrm>
          <a:prstGeom prst="rightArrow">
            <a:avLst/>
          </a:prstGeom>
          <a:solidFill>
            <a:srgbClr val="5A6B73"/>
          </a:solidFill>
          <a:ln w="12700">
            <a:solidFill>
              <a:srgbClr val="5A6B73"/>
            </a:solidFill>
            <a:prstDash val="solid"/>
          </a:ln>
        </p:spPr>
      </p:sp>
      <p:sp>
        <p:nvSpPr>
          <p:cNvPr id="10" name="Shape 8"/>
          <p:cNvSpPr/>
          <p:nvPr/>
        </p:nvSpPr>
        <p:spPr>
          <a:xfrm>
            <a:off x="3474720" y="1691640"/>
            <a:ext cx="2514600" cy="1143000"/>
          </a:xfrm>
          <a:prstGeom prst="roundRect">
            <a:avLst>
              <a:gd name="adj" fmla="val 4000"/>
            </a:avLst>
          </a:prstGeom>
          <a:solidFill>
            <a:srgbClr val="FFFFFF"/>
          </a:solidFill>
          <a:ln w="12700">
            <a:solidFill>
              <a:srgbClr val="D3DBDE"/>
            </a:solidFill>
            <a:prstDash val="solid"/>
          </a:ln>
        </p:spPr>
      </p:sp>
      <p:sp>
        <p:nvSpPr>
          <p:cNvPr id="11" name="Text 9"/>
          <p:cNvSpPr/>
          <p:nvPr/>
        </p:nvSpPr>
        <p:spPr>
          <a:xfrm>
            <a:off x="3566160" y="1874520"/>
            <a:ext cx="2331720" cy="502920"/>
          </a:xfrm>
          <a:prstGeom prst="rect">
            <a:avLst/>
          </a:prstGeom>
          <a:noFill/>
          <a:ln/>
        </p:spPr>
        <p:txBody>
          <a:bodyPr wrap="square" lIns="0" tIns="0" rIns="0" bIns="0" rtlCol="0" anchor="ctr"/>
          <a:lstStyle/>
          <a:p>
            <a:pPr algn="ctr" indent="0" marL="0">
              <a:buNone/>
            </a:pPr>
            <a:r>
              <a:rPr lang="en-US" sz="1300" b="1" dirty="0">
                <a:solidFill>
                  <a:srgbClr val="12303F"/>
                </a:solidFill>
                <a:latin typeface="Cambria" pitchFamily="34" charset="0"/>
                <a:ea typeface="Cambria" pitchFamily="34" charset="-122"/>
                <a:cs typeface="Cambria" pitchFamily="34" charset="-120"/>
              </a:rPr>
              <a:t>Top 30–50 results</a:t>
            </a:r>
            <a:endParaRPr lang="en-US" sz="1300" dirty="0"/>
          </a:p>
        </p:txBody>
      </p:sp>
      <p:sp>
        <p:nvSpPr>
          <p:cNvPr id="12" name="Text 10"/>
          <p:cNvSpPr/>
          <p:nvPr/>
        </p:nvSpPr>
        <p:spPr>
          <a:xfrm>
            <a:off x="3566160" y="2395728"/>
            <a:ext cx="2331720" cy="320040"/>
          </a:xfrm>
          <a:prstGeom prst="rect">
            <a:avLst/>
          </a:prstGeom>
          <a:noFill/>
          <a:ln/>
        </p:spPr>
        <p:txBody>
          <a:bodyPr wrap="square" lIns="0" tIns="0" rIns="0" bIns="0" rtlCol="0" anchor="ctr"/>
          <a:lstStyle/>
          <a:p>
            <a:pPr algn="ctr" indent="0" marL="0">
              <a:buNone/>
            </a:pPr>
            <a:r>
              <a:rPr lang="en-US" sz="1050" dirty="0">
                <a:solidFill>
                  <a:srgbClr val="5A6B73"/>
                </a:solidFill>
                <a:latin typeface="Calibri" pitchFamily="34" charset="0"/>
                <a:ea typeface="Calibri" pitchFamily="34" charset="-122"/>
                <a:cs typeface="Calibri" pitchFamily="34" charset="-120"/>
              </a:rPr>
              <a:t>over the train split</a:t>
            </a:r>
            <a:endParaRPr lang="en-US" sz="1050" dirty="0"/>
          </a:p>
        </p:txBody>
      </p:sp>
      <p:sp>
        <p:nvSpPr>
          <p:cNvPr id="13" name="Shape 11"/>
          <p:cNvSpPr/>
          <p:nvPr/>
        </p:nvSpPr>
        <p:spPr>
          <a:xfrm>
            <a:off x="6035040" y="2167128"/>
            <a:ext cx="201168" cy="201168"/>
          </a:xfrm>
          <a:prstGeom prst="rightArrow">
            <a:avLst/>
          </a:prstGeom>
          <a:solidFill>
            <a:srgbClr val="5A6B73"/>
          </a:solidFill>
          <a:ln w="12700">
            <a:solidFill>
              <a:srgbClr val="5A6B73"/>
            </a:solidFill>
            <a:prstDash val="solid"/>
          </a:ln>
        </p:spPr>
      </p:sp>
      <p:sp>
        <p:nvSpPr>
          <p:cNvPr id="14" name="Shape 12"/>
          <p:cNvSpPr/>
          <p:nvPr/>
        </p:nvSpPr>
        <p:spPr>
          <a:xfrm>
            <a:off x="6309360" y="1691640"/>
            <a:ext cx="2514600" cy="1143000"/>
          </a:xfrm>
          <a:prstGeom prst="roundRect">
            <a:avLst>
              <a:gd name="adj" fmla="val 4000"/>
            </a:avLst>
          </a:prstGeom>
          <a:solidFill>
            <a:srgbClr val="FFFFFF"/>
          </a:solidFill>
          <a:ln w="12700">
            <a:solidFill>
              <a:srgbClr val="D3DBDE"/>
            </a:solidFill>
            <a:prstDash val="solid"/>
          </a:ln>
        </p:spPr>
      </p:sp>
      <p:sp>
        <p:nvSpPr>
          <p:cNvPr id="15" name="Text 13"/>
          <p:cNvSpPr/>
          <p:nvPr/>
        </p:nvSpPr>
        <p:spPr>
          <a:xfrm>
            <a:off x="6400800" y="1874520"/>
            <a:ext cx="2331720" cy="502920"/>
          </a:xfrm>
          <a:prstGeom prst="rect">
            <a:avLst/>
          </a:prstGeom>
          <a:noFill/>
          <a:ln/>
        </p:spPr>
        <p:txBody>
          <a:bodyPr wrap="square" lIns="0" tIns="0" rIns="0" bIns="0" rtlCol="0" anchor="ctr"/>
          <a:lstStyle/>
          <a:p>
            <a:pPr algn="ctr" indent="0" marL="0">
              <a:buNone/>
            </a:pPr>
            <a:r>
              <a:rPr lang="en-US" sz="1300" b="1" dirty="0">
                <a:solidFill>
                  <a:srgbClr val="12303F"/>
                </a:solidFill>
                <a:latin typeface="Cambria" pitchFamily="34" charset="0"/>
                <a:ea typeface="Cambria" pitchFamily="34" charset="-122"/>
                <a:cs typeface="Cambria" pitchFamily="34" charset="-120"/>
              </a:rPr>
              <a:t>Non-positives = negatives</a:t>
            </a:r>
            <a:endParaRPr lang="en-US" sz="1300" dirty="0"/>
          </a:p>
        </p:txBody>
      </p:sp>
      <p:sp>
        <p:nvSpPr>
          <p:cNvPr id="16" name="Text 14"/>
          <p:cNvSpPr/>
          <p:nvPr/>
        </p:nvSpPr>
        <p:spPr>
          <a:xfrm>
            <a:off x="6400800" y="2395728"/>
            <a:ext cx="2331720" cy="320040"/>
          </a:xfrm>
          <a:prstGeom prst="rect">
            <a:avLst/>
          </a:prstGeom>
          <a:noFill/>
          <a:ln/>
        </p:spPr>
        <p:txBody>
          <a:bodyPr wrap="square" lIns="0" tIns="0" rIns="0" bIns="0" rtlCol="0" anchor="ctr"/>
          <a:lstStyle/>
          <a:p>
            <a:pPr algn="ctr" indent="0" marL="0">
              <a:buNone/>
            </a:pPr>
            <a:r>
              <a:rPr lang="en-US" sz="1050" dirty="0">
                <a:solidFill>
                  <a:srgbClr val="5A6B73"/>
                </a:solidFill>
                <a:latin typeface="Calibri" pitchFamily="34" charset="0"/>
                <a:ea typeface="Calibri" pitchFamily="34" charset="-122"/>
                <a:cs typeface="Calibri" pitchFamily="34" charset="-120"/>
              </a:rPr>
              <a:t>~8 per positive</a:t>
            </a:r>
            <a:endParaRPr lang="en-US" sz="1050" dirty="0"/>
          </a:p>
        </p:txBody>
      </p:sp>
      <p:sp>
        <p:nvSpPr>
          <p:cNvPr id="17" name="Shape 15"/>
          <p:cNvSpPr/>
          <p:nvPr/>
        </p:nvSpPr>
        <p:spPr>
          <a:xfrm>
            <a:off x="8869680" y="2167128"/>
            <a:ext cx="201168" cy="201168"/>
          </a:xfrm>
          <a:prstGeom prst="rightArrow">
            <a:avLst/>
          </a:prstGeom>
          <a:solidFill>
            <a:srgbClr val="5A6B73"/>
          </a:solidFill>
          <a:ln w="12700">
            <a:solidFill>
              <a:srgbClr val="5A6B73"/>
            </a:solidFill>
            <a:prstDash val="solid"/>
          </a:ln>
        </p:spPr>
      </p:sp>
      <p:sp>
        <p:nvSpPr>
          <p:cNvPr id="18" name="Shape 16"/>
          <p:cNvSpPr/>
          <p:nvPr/>
        </p:nvSpPr>
        <p:spPr>
          <a:xfrm>
            <a:off x="9144000" y="1691640"/>
            <a:ext cx="2514600" cy="1143000"/>
          </a:xfrm>
          <a:prstGeom prst="roundRect">
            <a:avLst>
              <a:gd name="adj" fmla="val 4000"/>
            </a:avLst>
          </a:prstGeom>
          <a:solidFill>
            <a:srgbClr val="0E7C7B"/>
          </a:solidFill>
          <a:ln w="12700">
            <a:solidFill>
              <a:srgbClr val="0E7C7B"/>
            </a:solidFill>
            <a:prstDash val="solid"/>
          </a:ln>
        </p:spPr>
      </p:sp>
      <p:sp>
        <p:nvSpPr>
          <p:cNvPr id="19" name="Text 17"/>
          <p:cNvSpPr/>
          <p:nvPr/>
        </p:nvSpPr>
        <p:spPr>
          <a:xfrm>
            <a:off x="9235440" y="1874520"/>
            <a:ext cx="23317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Cross-encoder</a:t>
            </a:r>
            <a:endParaRPr lang="en-US" sz="1300" dirty="0"/>
          </a:p>
        </p:txBody>
      </p:sp>
      <p:sp>
        <p:nvSpPr>
          <p:cNvPr id="20" name="Text 18"/>
          <p:cNvSpPr/>
          <p:nvPr/>
        </p:nvSpPr>
        <p:spPr>
          <a:xfrm>
            <a:off x="9235440" y="2395728"/>
            <a:ext cx="2331720" cy="320040"/>
          </a:xfrm>
          <a:prstGeom prst="rect">
            <a:avLst/>
          </a:prstGeom>
          <a:noFill/>
          <a:ln/>
        </p:spPr>
        <p:txBody>
          <a:bodyPr wrap="square" lIns="0" tIns="0" rIns="0" bIns="0" rtlCol="0" anchor="ctr"/>
          <a:lstStyle/>
          <a:p>
            <a:pPr algn="ctr" indent="0" marL="0">
              <a:buNone/>
            </a:pPr>
            <a:r>
              <a:rPr lang="en-US" sz="1050" dirty="0">
                <a:solidFill>
                  <a:srgbClr val="CFE3E2"/>
                </a:solidFill>
                <a:latin typeface="Calibri" pitchFamily="34" charset="0"/>
                <a:ea typeface="Calibri" pitchFamily="34" charset="-122"/>
                <a:cs typeface="Calibri" pitchFamily="34" charset="-120"/>
              </a:rPr>
              <a:t>bge-reranker-v2-m3, BCE</a:t>
            </a:r>
            <a:endParaRPr lang="en-US" sz="1050" dirty="0"/>
          </a:p>
        </p:txBody>
      </p:sp>
      <p:sp>
        <p:nvSpPr>
          <p:cNvPr id="21" name="Shape 19"/>
          <p:cNvSpPr/>
          <p:nvPr/>
        </p:nvSpPr>
        <p:spPr>
          <a:xfrm>
            <a:off x="640080" y="3154680"/>
            <a:ext cx="10881360" cy="1051560"/>
          </a:xfrm>
          <a:prstGeom prst="roundRect">
            <a:avLst>
              <a:gd name="adj" fmla="val 4348"/>
            </a:avLst>
          </a:prstGeom>
          <a:solidFill>
            <a:srgbClr val="FBEEDA"/>
          </a:solidFill>
          <a:ln w="12700">
            <a:solidFill>
              <a:srgbClr val="FBEEDA"/>
            </a:solidFill>
            <a:prstDash val="solid"/>
          </a:ln>
        </p:spPr>
      </p:sp>
      <p:sp>
        <p:nvSpPr>
          <p:cNvPr id="22" name="Text 20"/>
          <p:cNvSpPr/>
          <p:nvPr/>
        </p:nvSpPr>
        <p:spPr>
          <a:xfrm>
            <a:off x="914400" y="3337560"/>
            <a:ext cx="10332720" cy="731520"/>
          </a:xfrm>
          <a:prstGeom prst="rect">
            <a:avLst/>
          </a:prstGeom>
          <a:noFill/>
          <a:ln/>
        </p:spPr>
        <p:txBody>
          <a:bodyPr wrap="square" lIns="0" tIns="0" rIns="0" bIns="0" rtlCol="0" anchor="ctr"/>
          <a:lstStyle/>
          <a:p>
            <a:pPr indent="0" marL="0">
              <a:buNone/>
            </a:pPr>
            <a:r>
              <a:rPr lang="en-US" sz="1350" b="1" dirty="0">
                <a:solidFill>
                  <a:srgbClr val="6E4410"/>
                </a:solidFill>
                <a:latin typeface="Calibri" pitchFamily="34" charset="0"/>
                <a:ea typeface="Calibri" pitchFamily="34" charset="-122"/>
                <a:cs typeface="Calibri" pitchFamily="34" charset="-120"/>
              </a:rPr>
              <a:t>We deliberately do not reuse the dataset's shipped negatives. A reranker only ever sees passages the retriever already ranked highly — so training it on easy negatives teaches it a decision boundary it will never encounter at inference.</a:t>
            </a:r>
            <a:endParaRPr lang="en-US" sz="1350" dirty="0"/>
          </a:p>
        </p:txBody>
      </p:sp>
      <p:sp>
        <p:nvSpPr>
          <p:cNvPr id="23" name="Text 21"/>
          <p:cNvSpPr/>
          <p:nvPr/>
        </p:nvSpPr>
        <p:spPr>
          <a:xfrm>
            <a:off x="640080" y="4434840"/>
            <a:ext cx="5394960" cy="15544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2303F"/>
                </a:solidFill>
                <a:latin typeface="Calibri" pitchFamily="34" charset="0"/>
                <a:ea typeface="Calibri" pitchFamily="34" charset="-122"/>
                <a:cs typeface="Calibri" pitchFamily="34" charset="-120"/>
              </a:rPr>
              <a:t>Binary cross-entropy on (query, passage) relevance</a:t>
            </a:r>
            <a:endParaRPr lang="en-US" sz="1300" dirty="0"/>
          </a:p>
          <a:p>
            <a:pPr marL="342900" indent="-342900">
              <a:spcAft>
                <a:spcPts val="800"/>
              </a:spcAft>
              <a:buSzPct val="100000"/>
              <a:buChar char="•"/>
            </a:pPr>
            <a:r>
              <a:rPr lang="en-US" sz="1300" dirty="0">
                <a:solidFill>
                  <a:srgbClr val="12303F"/>
                </a:solidFill>
                <a:latin typeface="Calibri" pitchFamily="34" charset="0"/>
                <a:ea typeface="Calibri" pitchFamily="34" charset="-122"/>
                <a:cs typeface="Calibri" pitchFamily="34" charset="-120"/>
              </a:rPr>
              <a:t>1–2 epochs with aggressive early stopping on val nDCG@10</a:t>
            </a:r>
            <a:endParaRPr lang="en-US" sz="1300" dirty="0"/>
          </a:p>
          <a:p>
            <a:pPr marL="342900" indent="-342900">
              <a:spcAft>
                <a:spcPts val="800"/>
              </a:spcAft>
              <a:buSzPct val="100000"/>
              <a:buChar char="•"/>
            </a:pPr>
            <a:r>
              <a:rPr lang="en-US" sz="1300" dirty="0">
                <a:solidFill>
                  <a:srgbClr val="12303F"/>
                </a:solidFill>
                <a:latin typeface="Calibri" pitchFamily="34" charset="0"/>
                <a:ea typeface="Calibri" pitchFamily="34" charset="-122"/>
                <a:cs typeface="Calibri" pitchFamily="34" charset="-120"/>
              </a:rPr>
              <a:t>Cross-encoders converge fast and overfit faster</a:t>
            </a:r>
            <a:endParaRPr lang="en-US" sz="1300" dirty="0"/>
          </a:p>
        </p:txBody>
      </p:sp>
      <p:sp>
        <p:nvSpPr>
          <p:cNvPr id="24" name="Shape 22"/>
          <p:cNvSpPr/>
          <p:nvPr/>
        </p:nvSpPr>
        <p:spPr>
          <a:xfrm>
            <a:off x="6492240" y="4389120"/>
            <a:ext cx="5029200" cy="1600200"/>
          </a:xfrm>
          <a:prstGeom prst="roundRect">
            <a:avLst>
              <a:gd name="adj" fmla="val 3429"/>
            </a:avLst>
          </a:prstGeom>
          <a:solidFill>
            <a:srgbClr val="F4F6F7"/>
          </a:solidFill>
          <a:ln w="15875">
            <a:solidFill>
              <a:srgbClr val="0E7C7B"/>
            </a:solidFill>
            <a:prstDash val="dash"/>
          </a:ln>
        </p:spPr>
      </p:sp>
      <p:sp>
        <p:nvSpPr>
          <p:cNvPr id="25" name="Text 23"/>
          <p:cNvSpPr/>
          <p:nvPr/>
        </p:nvSpPr>
        <p:spPr>
          <a:xfrm>
            <a:off x="6492240" y="4713732"/>
            <a:ext cx="5029200" cy="237744"/>
          </a:xfrm>
          <a:prstGeom prst="rect">
            <a:avLst/>
          </a:prstGeom>
          <a:noFill/>
          <a:ln/>
        </p:spPr>
        <p:txBody>
          <a:bodyPr wrap="square" lIns="0" tIns="0" rIns="0" bIns="0" rtlCol="0" anchor="ctr"/>
          <a:lstStyle/>
          <a:p>
            <a:pPr algn="ctr" indent="0" marL="0">
              <a:buNone/>
            </a:pPr>
            <a:r>
              <a:rPr lang="en-US" sz="1000" b="1" spc="150" kern="0" dirty="0">
                <a:solidFill>
                  <a:srgbClr val="0E7C7B"/>
                </a:solidFill>
                <a:latin typeface="Calibri" pitchFamily="34" charset="0"/>
                <a:ea typeface="Calibri" pitchFamily="34" charset="-122"/>
                <a:cs typeface="Calibri" pitchFamily="34" charset="-120"/>
              </a:rPr>
              <a:t>PASTE FIGURE</a:t>
            </a:r>
            <a:endParaRPr lang="en-US" sz="1000" dirty="0"/>
          </a:p>
        </p:txBody>
      </p:sp>
      <p:sp>
        <p:nvSpPr>
          <p:cNvPr id="26" name="Text 24"/>
          <p:cNvSpPr/>
          <p:nvPr/>
        </p:nvSpPr>
        <p:spPr>
          <a:xfrm>
            <a:off x="6629400" y="4988052"/>
            <a:ext cx="4754880" cy="274320"/>
          </a:xfrm>
          <a:prstGeom prst="rect">
            <a:avLst/>
          </a:prstGeom>
          <a:noFill/>
          <a:ln/>
        </p:spPr>
        <p:txBody>
          <a:bodyPr wrap="square" lIns="0" tIns="0" rIns="0" bIns="0" rtlCol="0" anchor="ctr"/>
          <a:lstStyle/>
          <a:p>
            <a:pPr algn="ctr" indent="0" marL="0">
              <a:buNone/>
            </a:pPr>
            <a:r>
              <a:rPr lang="en-US" sz="1100" dirty="0">
                <a:solidFill>
                  <a:srgbClr val="12303F"/>
                </a:solidFill>
                <a:latin typeface="Courier New" pitchFamily="34" charset="0"/>
                <a:ea typeface="Courier New" pitchFamily="34" charset="-122"/>
                <a:cs typeface="Courier New" pitchFamily="34" charset="-120"/>
              </a:rPr>
              <a:t>training_curve_reranker.png</a:t>
            </a:r>
            <a:endParaRPr lang="en-US" sz="1100" dirty="0"/>
          </a:p>
        </p:txBody>
      </p:sp>
      <p:sp>
        <p:nvSpPr>
          <p:cNvPr id="27" name="Text 25"/>
          <p:cNvSpPr/>
          <p:nvPr/>
        </p:nvSpPr>
        <p:spPr>
          <a:xfrm>
            <a:off x="6675120" y="5298948"/>
            <a:ext cx="4663440" cy="457200"/>
          </a:xfrm>
          <a:prstGeom prst="rect">
            <a:avLst/>
          </a:prstGeom>
          <a:noFill/>
          <a:ln/>
        </p:spPr>
        <p:txBody>
          <a:bodyPr wrap="square" lIns="0" tIns="0" rIns="0" bIns="0" rtlCol="0" anchor="ctr"/>
          <a:lstStyle/>
          <a:p>
            <a:pPr algn="ctr" indent="0" marL="0">
              <a:buNone/>
            </a:pPr>
            <a:r>
              <a:rPr lang="en-US" sz="1000" i="1" dirty="0">
                <a:solidFill>
                  <a:srgbClr val="5A6B73"/>
                </a:solidFill>
                <a:latin typeface="Calibri" pitchFamily="34" charset="0"/>
                <a:ea typeface="Calibri" pitchFamily="34" charset="-122"/>
                <a:cs typeface="Calibri" pitchFamily="34" charset="-120"/>
              </a:rPr>
              <a:t>Val nDCG@10 — note the turnover point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303F"/>
        </a:solidFill>
      </p:bgPr>
    </p:bg>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6F8894"/>
                </a:solidFill>
                <a:latin typeface="Calibri" pitchFamily="34" charset="0"/>
                <a:ea typeface="Calibri" pitchFamily="34" charset="-122"/>
                <a:cs typeface="Calibri" pitchFamily="34" charset="-120"/>
              </a:rPr>
              <a:t>15 / 23</a:t>
            </a:r>
            <a:endParaRPr lang="en-US" sz="950" dirty="0"/>
          </a:p>
        </p:txBody>
      </p:sp>
      <p:sp>
        <p:nvSpPr>
          <p:cNvPr id="3" name="Text 1"/>
          <p:cNvSpPr/>
          <p:nvPr/>
        </p:nvSpPr>
        <p:spPr>
          <a:xfrm>
            <a:off x="1005840" y="2514600"/>
            <a:ext cx="9144000" cy="274320"/>
          </a:xfrm>
          <a:prstGeom prst="rect">
            <a:avLst/>
          </a:prstGeom>
          <a:noFill/>
          <a:ln/>
        </p:spPr>
        <p:txBody>
          <a:bodyPr wrap="square" lIns="0" tIns="0" rIns="0" bIns="0" rtlCol="0" anchor="ctr"/>
          <a:lstStyle/>
          <a:p>
            <a:pPr indent="0" marL="0">
              <a:buNone/>
            </a:pPr>
            <a:r>
              <a:rPr lang="en-US" sz="1200" b="1" spc="250" kern="0" dirty="0">
                <a:solidFill>
                  <a:srgbClr val="D6EAE9"/>
                </a:solidFill>
                <a:latin typeface="Calibri" pitchFamily="34" charset="0"/>
                <a:ea typeface="Calibri" pitchFamily="34" charset="-122"/>
                <a:cs typeface="Calibri" pitchFamily="34" charset="-120"/>
              </a:rPr>
              <a:t>SECTIONS 4 – 5</a:t>
            </a:r>
            <a:endParaRPr lang="en-US" sz="1200" dirty="0"/>
          </a:p>
        </p:txBody>
      </p:sp>
      <p:sp>
        <p:nvSpPr>
          <p:cNvPr id="4" name="Text 2"/>
          <p:cNvSpPr/>
          <p:nvPr/>
        </p:nvSpPr>
        <p:spPr>
          <a:xfrm>
            <a:off x="1005840" y="2880360"/>
            <a:ext cx="96012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Evaluation and Results</a:t>
            </a:r>
            <a:endParaRPr lang="en-US" sz="4000" dirty="0"/>
          </a:p>
        </p:txBody>
      </p:sp>
      <p:sp>
        <p:nvSpPr>
          <p:cNvPr id="5" name="Text 3"/>
          <p:cNvSpPr/>
          <p:nvPr/>
        </p:nvSpPr>
        <p:spPr>
          <a:xfrm>
            <a:off x="1005840" y="3794760"/>
            <a:ext cx="8686800" cy="457200"/>
          </a:xfrm>
          <a:prstGeom prst="rect">
            <a:avLst/>
          </a:prstGeom>
          <a:noFill/>
          <a:ln/>
        </p:spPr>
        <p:txBody>
          <a:bodyPr wrap="square" lIns="0" tIns="0" rIns="0" bIns="0" rtlCol="0" anchor="ctr"/>
          <a:lstStyle/>
          <a:p>
            <a:pPr indent="0" marL="0">
              <a:buNone/>
            </a:pPr>
            <a:r>
              <a:rPr lang="en-US" sz="1500" dirty="0">
                <a:solidFill>
                  <a:srgbClr val="AFC4CC"/>
                </a:solidFill>
                <a:latin typeface="Calibri" pitchFamily="34" charset="0"/>
                <a:ea typeface="Calibri" pitchFamily="34" charset="-122"/>
                <a:cs typeface="Calibri" pitchFamily="34" charset="-120"/>
              </a:rPr>
              <a:t>Six configurations, two tiers, and one metric that could invalidate all of it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16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4. EVALUATION DESIGN</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3</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Configuration Matrix and Metrics</a:t>
            </a:r>
            <a:endParaRPr lang="en-US" sz="3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914400"/>
        </p:xfrm>
        <a:graphic>
          <a:graphicData uri="http://schemas.openxmlformats.org/drawingml/2006/table">
            <a:tbl>
              <a:tblPr/>
              <a:tblGrid>
                <a:gridCol w="457200"/>
                <a:gridCol w="2651760"/>
                <a:gridCol w="2286000"/>
                <a:gridCol w="548640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Retriever</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Reranker</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isolates</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r>
              <a:tr h="365760">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BM25</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Lexical reference — may beat config 2</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Stock bge-m3</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Primary baseline</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MedEmbed-large-v0.1</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Prior art on the same training data</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Fine-tuned bge-m3</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Experiment A: does adaptation help?</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Fine-tuned bge-m3</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Stock reranker</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c>
                  <a:txBody>
                    <a:bodyPr/>
                    <a:lstStyle/>
                    <a:p>
                      <a:pPr indent="0" marL="0">
                        <a:buNone/>
                      </a:pPr>
                      <a:r>
                        <a:rPr lang="en-US" sz="1200" b="1" dirty="0">
                          <a:solidFill>
                            <a:srgbClr val="12303F"/>
                          </a:solidFill>
                          <a:latin typeface="Calibri" pitchFamily="34" charset="0"/>
                          <a:ea typeface="Calibri" pitchFamily="34" charset="-122"/>
                          <a:cs typeface="Calibri" pitchFamily="34" charset="-120"/>
                        </a:rPr>
                        <a:t>The ablation — does reranking alone explain it?</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r>
              <a:tr h="365760">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Fine-tuned bge-m3</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Fine-tuned reranker</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200" dirty="0">
                          <a:solidFill>
                            <a:srgbClr val="12303F"/>
                          </a:solidFill>
                          <a:latin typeface="Calibri" pitchFamily="34" charset="0"/>
                          <a:ea typeface="Calibri" pitchFamily="34" charset="-122"/>
                          <a:cs typeface="Calibri" pitchFamily="34" charset="-120"/>
                        </a:rPr>
                        <a:t>Experiment B: the full system</a:t>
                      </a:r>
                      <a:endParaRPr lang="en-US" sz="120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bl>
          </a:graphicData>
        </a:graphic>
      </p:graphicFrame>
      <p:sp>
        <p:nvSpPr>
          <p:cNvPr id="7" name="Shape 4"/>
          <p:cNvSpPr/>
          <p:nvPr/>
        </p:nvSpPr>
        <p:spPr>
          <a:xfrm>
            <a:off x="640080" y="4617720"/>
            <a:ext cx="5349240" cy="1280160"/>
          </a:xfrm>
          <a:prstGeom prst="roundRect">
            <a:avLst>
              <a:gd name="adj" fmla="val 3571"/>
            </a:avLst>
          </a:prstGeom>
          <a:solidFill>
            <a:srgbClr val="FFFFFF"/>
          </a:solidFill>
          <a:ln w="12700">
            <a:solidFill>
              <a:srgbClr val="D3DBDE"/>
            </a:solidFill>
            <a:prstDash val="solid"/>
          </a:ln>
        </p:spPr>
      </p:sp>
      <p:sp>
        <p:nvSpPr>
          <p:cNvPr id="8" name="Text 5"/>
          <p:cNvSpPr/>
          <p:nvPr/>
        </p:nvSpPr>
        <p:spPr>
          <a:xfrm>
            <a:off x="868680" y="4754880"/>
            <a:ext cx="4846320" cy="274320"/>
          </a:xfrm>
          <a:prstGeom prst="rect">
            <a:avLst/>
          </a:prstGeom>
          <a:noFill/>
          <a:ln/>
        </p:spPr>
        <p:txBody>
          <a:bodyPr wrap="square" lIns="0" tIns="0" rIns="0" bIns="0" rtlCol="0" anchor="ctr"/>
          <a:lstStyle/>
          <a:p>
            <a:pPr indent="0" marL="0">
              <a:buNone/>
            </a:pPr>
            <a:r>
              <a:rPr lang="en-US" sz="1500" b="1" dirty="0">
                <a:solidFill>
                  <a:srgbClr val="12303F"/>
                </a:solidFill>
                <a:latin typeface="Cambria" pitchFamily="34" charset="0"/>
                <a:ea typeface="Cambria" pitchFamily="34" charset="-122"/>
                <a:cs typeface="Cambria" pitchFamily="34" charset="-120"/>
              </a:rPr>
              <a:t>Two tiers</a:t>
            </a:r>
            <a:endParaRPr lang="en-US" sz="1500" dirty="0"/>
          </a:p>
        </p:txBody>
      </p:sp>
      <p:sp>
        <p:nvSpPr>
          <p:cNvPr id="9" name="Text 6"/>
          <p:cNvSpPr/>
          <p:nvPr/>
        </p:nvSpPr>
        <p:spPr>
          <a:xfrm>
            <a:off x="868680" y="5074920"/>
            <a:ext cx="4892040" cy="685800"/>
          </a:xfrm>
          <a:prstGeom prst="rect">
            <a:avLst/>
          </a:prstGeom>
          <a:noFill/>
          <a:ln/>
        </p:spPr>
        <p:txBody>
          <a:bodyPr wrap="square" lIns="0" tIns="0" rIns="0" bIns="0" rtlCol="0" anchor="ctr"/>
          <a:lstStyle/>
          <a:p>
            <a:pPr indent="0" marL="0">
              <a:buNone/>
            </a:pPr>
            <a:r>
              <a:rPr lang="en-US" sz="1200" dirty="0">
                <a:solidFill>
                  <a:srgbClr val="5A6B73"/>
                </a:solidFill>
                <a:latin typeface="Calibri" pitchFamily="34" charset="0"/>
                <a:ea typeface="Calibri" pitchFamily="34" charset="-122"/>
                <a:cs typeface="Calibri" pitchFamily="34" charset="-120"/>
              </a:rPr>
              <a:t>Tier 1 — held-out clinical test partition, full 27,590-passage index.</a:t>
            </a:r>
            <a:endParaRPr lang="en-US" sz="1200" dirty="0"/>
          </a:p>
          <a:p>
            <a:pPr indent="0" marL="0">
              <a:buNone/>
            </a:pPr>
            <a:r>
              <a:rPr lang="en-US" sz="1200" dirty="0">
                <a:solidFill>
                  <a:srgbClr val="5A6B73"/>
                </a:solidFill>
                <a:latin typeface="Calibri" pitchFamily="34" charset="0"/>
                <a:ea typeface="Calibri" pitchFamily="34" charset="-122"/>
                <a:cs typeface="Calibri" pitchFamily="34" charset="-120"/>
              </a:rPr>
              <a:t>Tier 2 — NFCorpus: out-of-domain transfer check, genuinely external.</a:t>
            </a:r>
            <a:endParaRPr lang="en-US" sz="1200" dirty="0"/>
          </a:p>
        </p:txBody>
      </p:sp>
      <p:sp>
        <p:nvSpPr>
          <p:cNvPr id="10" name="Shape 7"/>
          <p:cNvSpPr/>
          <p:nvPr/>
        </p:nvSpPr>
        <p:spPr>
          <a:xfrm>
            <a:off x="6172200" y="4617720"/>
            <a:ext cx="5349240" cy="1280160"/>
          </a:xfrm>
          <a:prstGeom prst="roundRect">
            <a:avLst>
              <a:gd name="adj" fmla="val 3571"/>
            </a:avLst>
          </a:prstGeom>
          <a:solidFill>
            <a:srgbClr val="FFFFFF"/>
          </a:solidFill>
          <a:ln w="12700">
            <a:solidFill>
              <a:srgbClr val="D3DBDE"/>
            </a:solidFill>
            <a:prstDash val="solid"/>
          </a:ln>
        </p:spPr>
      </p:sp>
      <p:sp>
        <p:nvSpPr>
          <p:cNvPr id="11" name="Text 8"/>
          <p:cNvSpPr/>
          <p:nvPr/>
        </p:nvSpPr>
        <p:spPr>
          <a:xfrm>
            <a:off x="6400800" y="4754880"/>
            <a:ext cx="4846320" cy="274320"/>
          </a:xfrm>
          <a:prstGeom prst="rect">
            <a:avLst/>
          </a:prstGeom>
          <a:noFill/>
          <a:ln/>
        </p:spPr>
        <p:txBody>
          <a:bodyPr wrap="square" lIns="0" tIns="0" rIns="0" bIns="0" rtlCol="0" anchor="ctr"/>
          <a:lstStyle/>
          <a:p>
            <a:pPr indent="0" marL="0">
              <a:buNone/>
            </a:pPr>
            <a:r>
              <a:rPr lang="en-US" sz="1500" b="1" dirty="0">
                <a:solidFill>
                  <a:srgbClr val="12303F"/>
                </a:solidFill>
                <a:latin typeface="Cambria" pitchFamily="34" charset="0"/>
                <a:ea typeface="Cambria" pitchFamily="34" charset="-122"/>
                <a:cs typeface="Cambria" pitchFamily="34" charset="-120"/>
              </a:rPr>
              <a:t>Metrics</a:t>
            </a:r>
            <a:endParaRPr lang="en-US" sz="1500" dirty="0"/>
          </a:p>
        </p:txBody>
      </p:sp>
      <p:sp>
        <p:nvSpPr>
          <p:cNvPr id="12" name="Text 9"/>
          <p:cNvSpPr/>
          <p:nvPr/>
        </p:nvSpPr>
        <p:spPr>
          <a:xfrm>
            <a:off x="6400800" y="5074920"/>
            <a:ext cx="4892040" cy="685800"/>
          </a:xfrm>
          <a:prstGeom prst="rect">
            <a:avLst/>
          </a:prstGeom>
          <a:noFill/>
          <a:ln/>
        </p:spPr>
        <p:txBody>
          <a:bodyPr wrap="square" lIns="0" tIns="0" rIns="0" bIns="0" rtlCol="0" anchor="ctr"/>
          <a:lstStyle/>
          <a:p>
            <a:pPr indent="0" marL="0">
              <a:buNone/>
            </a:pPr>
            <a:r>
              <a:rPr lang="en-US" sz="1200" dirty="0">
                <a:solidFill>
                  <a:srgbClr val="5A6B73"/>
                </a:solidFill>
                <a:latin typeface="Calibri" pitchFamily="34" charset="0"/>
                <a:ea typeface="Calibri" pitchFamily="34" charset="-122"/>
                <a:cs typeface="Calibri" pitchFamily="34" charset="-120"/>
              </a:rPr>
              <a:t>Recall@1/5/10, MRR, nDCG@10 — plus a paired bootstrap over per-query</a:t>
            </a:r>
            <a:endParaRPr lang="en-US" sz="1200" dirty="0"/>
          </a:p>
          <a:p>
            <a:pPr indent="0" marL="0">
              <a:buNone/>
            </a:pPr>
            <a:r>
              <a:rPr lang="en-US" sz="1200" dirty="0">
                <a:solidFill>
                  <a:srgbClr val="5A6B73"/>
                </a:solidFill>
                <a:latin typeface="Calibri" pitchFamily="34" charset="0"/>
                <a:ea typeface="Calibri" pitchFamily="34" charset="-122"/>
                <a:cs typeface="Calibri" pitchFamily="34" charset="-120"/>
              </a:rPr>
              <a:t>scores between adjacent configurations, so we don't over-read small deltas.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17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5. RESULTS</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3</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100" b="1" dirty="0">
                <a:solidFill>
                  <a:srgbClr val="12303F"/>
                </a:solidFill>
                <a:latin typeface="Cambria" pitchFamily="34" charset="0"/>
                <a:ea typeface="Cambria" pitchFamily="34" charset="-122"/>
                <a:cs typeface="Cambria" pitchFamily="34" charset="-120"/>
              </a:rPr>
              <a:t>Retrieval Performance: In-Domain (Tier 1)</a:t>
            </a:r>
            <a:endParaRPr lang="en-US" sz="3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6766560" cy="914400"/>
        </p:xfrm>
        <a:graphic>
          <a:graphicData uri="http://schemas.openxmlformats.org/drawingml/2006/table">
            <a:tbl>
              <a:tblPr/>
              <a:tblGrid>
                <a:gridCol w="2103120"/>
                <a:gridCol w="640080"/>
                <a:gridCol w="640080"/>
                <a:gridCol w="685800"/>
                <a:gridCol w="685800"/>
                <a:gridCol w="914400"/>
                <a:gridCol w="1097280"/>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Configuration</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R@1</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R@5</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R@10</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MRR</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nDCG@10</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 (paired bootstrap)</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r>
              <a:tr h="365760">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1 · BM25</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2 · Stock bge-m3</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3 · MedEmbed-large</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4 · Fine-tuned bge-m3</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5 · FT + stock reranker</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rgbClr val="12303F"/>
                          </a:solidFill>
                          <a:latin typeface="Calibri" pitchFamily="34" charset="0"/>
                          <a:ea typeface="Calibri" pitchFamily="34" charset="-122"/>
                          <a:cs typeface="Calibri" pitchFamily="34" charset="-120"/>
                        </a:rPr>
                        <a:t>6 · FT + FT reranker</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r>
            </a:tbl>
          </a:graphicData>
        </a:graphic>
      </p:graphicFrame>
      <p:sp>
        <p:nvSpPr>
          <p:cNvPr id="7" name="Shape 4"/>
          <p:cNvSpPr/>
          <p:nvPr/>
        </p:nvSpPr>
        <p:spPr>
          <a:xfrm>
            <a:off x="640080" y="4709160"/>
            <a:ext cx="6766560" cy="1188720"/>
          </a:xfrm>
          <a:prstGeom prst="roundRect">
            <a:avLst>
              <a:gd name="adj" fmla="val 3846"/>
            </a:avLst>
          </a:prstGeom>
          <a:solidFill>
            <a:srgbClr val="FBEEDA"/>
          </a:solidFill>
          <a:ln w="12700">
            <a:solidFill>
              <a:srgbClr val="FBEEDA"/>
            </a:solidFill>
            <a:prstDash val="solid"/>
          </a:ln>
        </p:spPr>
      </p:sp>
      <p:sp>
        <p:nvSpPr>
          <p:cNvPr id="8" name="Text 5"/>
          <p:cNvSpPr/>
          <p:nvPr/>
        </p:nvSpPr>
        <p:spPr>
          <a:xfrm>
            <a:off x="868680" y="4937760"/>
            <a:ext cx="6309360" cy="777240"/>
          </a:xfrm>
          <a:prstGeom prst="rect">
            <a:avLst/>
          </a:prstGeom>
          <a:noFill/>
          <a:ln/>
        </p:spPr>
        <p:txBody>
          <a:bodyPr wrap="square" lIns="0" tIns="0" rIns="0" bIns="0" rtlCol="0" anchor="ctr"/>
          <a:lstStyle/>
          <a:p>
            <a:pPr indent="0" marL="0">
              <a:buNone/>
            </a:pPr>
            <a:r>
              <a:rPr lang="en-US" sz="1250" b="1" dirty="0">
                <a:solidFill>
                  <a:srgbClr val="6E4410"/>
                </a:solidFill>
                <a:latin typeface="Calibri" pitchFamily="34" charset="0"/>
                <a:ea typeface="Calibri" pitchFamily="34" charset="-122"/>
                <a:cs typeface="Calibri" pitchFamily="34" charset="-120"/>
              </a:rPr>
              <a:t>PASTE: the three-sentence read of this table — where the fine-tune lands relative to BM25 and MedEmbed, what config 5 → 6 buys, and which deltas survive the bootstrap.</a:t>
            </a:r>
            <a:endParaRPr lang="en-US" sz="1250" dirty="0"/>
          </a:p>
        </p:txBody>
      </p:sp>
      <p:sp>
        <p:nvSpPr>
          <p:cNvPr id="9" name="Shape 6"/>
          <p:cNvSpPr/>
          <p:nvPr/>
        </p:nvSpPr>
        <p:spPr>
          <a:xfrm>
            <a:off x="7680960" y="1554480"/>
            <a:ext cx="3840480" cy="4343400"/>
          </a:xfrm>
          <a:prstGeom prst="roundRect">
            <a:avLst>
              <a:gd name="adj" fmla="val 1429"/>
            </a:avLst>
          </a:prstGeom>
          <a:solidFill>
            <a:srgbClr val="F4F6F7"/>
          </a:solidFill>
          <a:ln w="15875">
            <a:solidFill>
              <a:srgbClr val="0E7C7B"/>
            </a:solidFill>
            <a:prstDash val="dash"/>
          </a:ln>
        </p:spPr>
      </p:sp>
      <p:sp>
        <p:nvSpPr>
          <p:cNvPr id="10" name="Text 7"/>
          <p:cNvSpPr/>
          <p:nvPr/>
        </p:nvSpPr>
        <p:spPr>
          <a:xfrm>
            <a:off x="7680960" y="3250692"/>
            <a:ext cx="3840480" cy="237744"/>
          </a:xfrm>
          <a:prstGeom prst="rect">
            <a:avLst/>
          </a:prstGeom>
          <a:noFill/>
          <a:ln/>
        </p:spPr>
        <p:txBody>
          <a:bodyPr wrap="square" lIns="0" tIns="0" rIns="0" bIns="0" rtlCol="0" anchor="ctr"/>
          <a:lstStyle/>
          <a:p>
            <a:pPr algn="ctr" indent="0" marL="0">
              <a:buNone/>
            </a:pPr>
            <a:r>
              <a:rPr lang="en-US" sz="1000" b="1" spc="150" kern="0" dirty="0">
                <a:solidFill>
                  <a:srgbClr val="0E7C7B"/>
                </a:solidFill>
                <a:latin typeface="Calibri" pitchFamily="34" charset="0"/>
                <a:ea typeface="Calibri" pitchFamily="34" charset="-122"/>
                <a:cs typeface="Calibri" pitchFamily="34" charset="-120"/>
              </a:rPr>
              <a:t>PASTE FIGURE</a:t>
            </a:r>
            <a:endParaRPr lang="en-US" sz="1000" dirty="0"/>
          </a:p>
        </p:txBody>
      </p:sp>
      <p:sp>
        <p:nvSpPr>
          <p:cNvPr id="11" name="Text 8"/>
          <p:cNvSpPr/>
          <p:nvPr/>
        </p:nvSpPr>
        <p:spPr>
          <a:xfrm>
            <a:off x="7818120" y="3525012"/>
            <a:ext cx="3566160" cy="274320"/>
          </a:xfrm>
          <a:prstGeom prst="rect">
            <a:avLst/>
          </a:prstGeom>
          <a:noFill/>
          <a:ln/>
        </p:spPr>
        <p:txBody>
          <a:bodyPr wrap="square" lIns="0" tIns="0" rIns="0" bIns="0" rtlCol="0" anchor="ctr"/>
          <a:lstStyle/>
          <a:p>
            <a:pPr algn="ctr" indent="0" marL="0">
              <a:buNone/>
            </a:pPr>
            <a:r>
              <a:rPr lang="en-US" sz="1100" dirty="0">
                <a:solidFill>
                  <a:srgbClr val="12303F"/>
                </a:solidFill>
                <a:latin typeface="Courier New" pitchFamily="34" charset="0"/>
                <a:ea typeface="Courier New" pitchFamily="34" charset="-122"/>
                <a:cs typeface="Courier New" pitchFamily="34" charset="-120"/>
              </a:rPr>
              <a:t>tier1_retrieval.png</a:t>
            </a:r>
            <a:endParaRPr lang="en-US" sz="1100" dirty="0"/>
          </a:p>
        </p:txBody>
      </p:sp>
      <p:sp>
        <p:nvSpPr>
          <p:cNvPr id="12" name="Text 9"/>
          <p:cNvSpPr/>
          <p:nvPr/>
        </p:nvSpPr>
        <p:spPr>
          <a:xfrm>
            <a:off x="7863840" y="3835908"/>
            <a:ext cx="3474720" cy="457200"/>
          </a:xfrm>
          <a:prstGeom prst="rect">
            <a:avLst/>
          </a:prstGeom>
          <a:noFill/>
          <a:ln/>
        </p:spPr>
        <p:txBody>
          <a:bodyPr wrap="square" lIns="0" tIns="0" rIns="0" bIns="0" rtlCol="0" anchor="ctr"/>
          <a:lstStyle/>
          <a:p>
            <a:pPr algn="ctr" indent="0" marL="0">
              <a:buNone/>
            </a:pPr>
            <a:r>
              <a:rPr lang="en-US" sz="1000" i="1" dirty="0">
                <a:solidFill>
                  <a:srgbClr val="5A6B73"/>
                </a:solidFill>
                <a:latin typeface="Calibri" pitchFamily="34" charset="0"/>
                <a:ea typeface="Calibri" pitchFamily="34" charset="-122"/>
                <a:cs typeface="Calibri" pitchFamily="34" charset="-120"/>
              </a:rPr>
              <a:t>nDCG@10 by configuration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18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5. RESULTS</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3</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Out-of-Domain Transfer (Tier 2)</a:t>
            </a:r>
            <a:endParaRPr lang="en-US" sz="3400" dirty="0"/>
          </a:p>
        </p:txBody>
      </p:sp>
      <p:sp>
        <p:nvSpPr>
          <p:cNvPr id="6" name="Shape 4"/>
          <p:cNvSpPr/>
          <p:nvPr/>
        </p:nvSpPr>
        <p:spPr>
          <a:xfrm>
            <a:off x="640080" y="1554480"/>
            <a:ext cx="5669280" cy="3657600"/>
          </a:xfrm>
          <a:prstGeom prst="roundRect">
            <a:avLst>
              <a:gd name="adj" fmla="val 1500"/>
            </a:avLst>
          </a:prstGeom>
          <a:solidFill>
            <a:srgbClr val="F4F6F7"/>
          </a:solidFill>
          <a:ln w="15875">
            <a:solidFill>
              <a:srgbClr val="0E7C7B"/>
            </a:solidFill>
            <a:prstDash val="dash"/>
          </a:ln>
        </p:spPr>
      </p:sp>
      <p:sp>
        <p:nvSpPr>
          <p:cNvPr id="7" name="Text 5"/>
          <p:cNvSpPr/>
          <p:nvPr/>
        </p:nvSpPr>
        <p:spPr>
          <a:xfrm>
            <a:off x="640080" y="2907792"/>
            <a:ext cx="5669280" cy="237744"/>
          </a:xfrm>
          <a:prstGeom prst="rect">
            <a:avLst/>
          </a:prstGeom>
          <a:noFill/>
          <a:ln/>
        </p:spPr>
        <p:txBody>
          <a:bodyPr wrap="square" lIns="0" tIns="0" rIns="0" bIns="0" rtlCol="0" anchor="ctr"/>
          <a:lstStyle/>
          <a:p>
            <a:pPr algn="ctr" indent="0" marL="0">
              <a:buNone/>
            </a:pPr>
            <a:r>
              <a:rPr lang="en-US" sz="1000" b="1" spc="150" kern="0" dirty="0">
                <a:solidFill>
                  <a:srgbClr val="0E7C7B"/>
                </a:solidFill>
                <a:latin typeface="Calibri" pitchFamily="34" charset="0"/>
                <a:ea typeface="Calibri" pitchFamily="34" charset="-122"/>
                <a:cs typeface="Calibri" pitchFamily="34" charset="-120"/>
              </a:rPr>
              <a:t>PASTE FIGURE</a:t>
            </a:r>
            <a:endParaRPr lang="en-US" sz="1000" dirty="0"/>
          </a:p>
        </p:txBody>
      </p:sp>
      <p:sp>
        <p:nvSpPr>
          <p:cNvPr id="8" name="Text 6"/>
          <p:cNvSpPr/>
          <p:nvPr/>
        </p:nvSpPr>
        <p:spPr>
          <a:xfrm>
            <a:off x="777240" y="3182112"/>
            <a:ext cx="5394960" cy="274320"/>
          </a:xfrm>
          <a:prstGeom prst="rect">
            <a:avLst/>
          </a:prstGeom>
          <a:noFill/>
          <a:ln/>
        </p:spPr>
        <p:txBody>
          <a:bodyPr wrap="square" lIns="0" tIns="0" rIns="0" bIns="0" rtlCol="0" anchor="ctr"/>
          <a:lstStyle/>
          <a:p>
            <a:pPr algn="ctr" indent="0" marL="0">
              <a:buNone/>
            </a:pPr>
            <a:r>
              <a:rPr lang="en-US" sz="1100" dirty="0">
                <a:solidFill>
                  <a:srgbClr val="12303F"/>
                </a:solidFill>
                <a:latin typeface="Courier New" pitchFamily="34" charset="0"/>
                <a:ea typeface="Courier New" pitchFamily="34" charset="-122"/>
                <a:cs typeface="Courier New" pitchFamily="34" charset="-120"/>
              </a:rPr>
              <a:t>tier2_nfcorpus.png</a:t>
            </a:r>
            <a:endParaRPr lang="en-US" sz="1100" dirty="0"/>
          </a:p>
        </p:txBody>
      </p:sp>
      <p:sp>
        <p:nvSpPr>
          <p:cNvPr id="9" name="Text 7"/>
          <p:cNvSpPr/>
          <p:nvPr/>
        </p:nvSpPr>
        <p:spPr>
          <a:xfrm>
            <a:off x="822960" y="3493008"/>
            <a:ext cx="5303520" cy="457200"/>
          </a:xfrm>
          <a:prstGeom prst="rect">
            <a:avLst/>
          </a:prstGeom>
          <a:noFill/>
          <a:ln/>
        </p:spPr>
        <p:txBody>
          <a:bodyPr wrap="square" lIns="0" tIns="0" rIns="0" bIns="0" rtlCol="0" anchor="ctr"/>
          <a:lstStyle/>
          <a:p>
            <a:pPr algn="ctr" indent="0" marL="0">
              <a:buNone/>
            </a:pPr>
            <a:r>
              <a:rPr lang="en-US" sz="1000" i="1" dirty="0">
                <a:solidFill>
                  <a:srgbClr val="5A6B73"/>
                </a:solidFill>
                <a:latin typeface="Calibri" pitchFamily="34" charset="0"/>
                <a:ea typeface="Calibri" pitchFamily="34" charset="-122"/>
                <a:cs typeface="Calibri" pitchFamily="34" charset="-120"/>
              </a:rPr>
              <a:t>NFCorpus — same six configurations</a:t>
            </a:r>
            <a:endParaRPr lang="en-US" sz="1000" dirty="0"/>
          </a:p>
        </p:txBody>
      </p:sp>
      <p:sp>
        <p:nvSpPr>
          <p:cNvPr id="10" name="Text 8"/>
          <p:cNvSpPr/>
          <p:nvPr/>
        </p:nvSpPr>
        <p:spPr>
          <a:xfrm>
            <a:off x="6629400" y="1600200"/>
            <a:ext cx="489204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2303F"/>
                </a:solidFill>
                <a:latin typeface="Calibri" pitchFamily="34" charset="0"/>
                <a:ea typeface="Calibri" pitchFamily="34" charset="-122"/>
                <a:cs typeface="Calibri" pitchFamily="34" charset="-120"/>
              </a:rPr>
              <a:t>NFCorpus: 3,633 documents, 323 test queries — abstract-level consumer health, a genuine genre shift.</a:t>
            </a:r>
            <a:endParaRPr lang="en-US" sz="1300" dirty="0"/>
          </a:p>
          <a:p>
            <a:pPr marL="342900" indent="-342900">
              <a:spcAft>
                <a:spcPts val="800"/>
              </a:spcAft>
              <a:buSzPct val="100000"/>
              <a:buChar char="•"/>
            </a:pPr>
            <a:r>
              <a:rPr lang="en-US" sz="1300" dirty="0">
                <a:solidFill>
                  <a:srgbClr val="12303F"/>
                </a:solidFill>
                <a:latin typeface="Calibri" pitchFamily="34" charset="0"/>
                <a:ea typeface="Calibri" pitchFamily="34" charset="-122"/>
                <a:cs typeface="Calibri" pitchFamily="34" charset="-120"/>
              </a:rPr>
              <a:t>Graded relevance preserved, not binarized — nDCG needs the grades.</a:t>
            </a:r>
            <a:endParaRPr lang="en-US" sz="1300" dirty="0"/>
          </a:p>
          <a:p>
            <a:pPr marL="342900" indent="-342900">
              <a:spcAft>
                <a:spcPts val="800"/>
              </a:spcAft>
              <a:buSzPct val="100000"/>
              <a:buChar char="•"/>
            </a:pPr>
            <a:r>
              <a:rPr lang="en-US" sz="1300" dirty="0">
                <a:solidFill>
                  <a:srgbClr val="12303F"/>
                </a:solidFill>
                <a:latin typeface="Calibri" pitchFamily="34" charset="0"/>
                <a:ea typeface="Calibri" pitchFamily="34" charset="-122"/>
                <a:cs typeface="Calibri" pitchFamily="34" charset="-120"/>
              </a:rPr>
              <a:t>Same six configurations, same metrics, so the two tiers read side by side.</a:t>
            </a:r>
            <a:endParaRPr lang="en-US" sz="1300" dirty="0"/>
          </a:p>
        </p:txBody>
      </p:sp>
      <p:sp>
        <p:nvSpPr>
          <p:cNvPr id="11" name="Shape 9"/>
          <p:cNvSpPr/>
          <p:nvPr/>
        </p:nvSpPr>
        <p:spPr>
          <a:xfrm>
            <a:off x="6629400" y="3977640"/>
            <a:ext cx="4892040" cy="1234440"/>
          </a:xfrm>
          <a:prstGeom prst="roundRect">
            <a:avLst>
              <a:gd name="adj" fmla="val 3704"/>
            </a:avLst>
          </a:prstGeom>
          <a:solidFill>
            <a:srgbClr val="FFFFFF"/>
          </a:solidFill>
          <a:ln w="12700">
            <a:solidFill>
              <a:srgbClr val="0E7C7B"/>
            </a:solidFill>
            <a:prstDash val="solid"/>
          </a:ln>
        </p:spPr>
      </p:sp>
      <p:sp>
        <p:nvSpPr>
          <p:cNvPr id="12" name="Text 10"/>
          <p:cNvSpPr/>
          <p:nvPr/>
        </p:nvSpPr>
        <p:spPr>
          <a:xfrm>
            <a:off x="6858000" y="4114800"/>
            <a:ext cx="4480560" cy="274320"/>
          </a:xfrm>
          <a:prstGeom prst="rect">
            <a:avLst/>
          </a:prstGeom>
          <a:noFill/>
          <a:ln/>
        </p:spPr>
        <p:txBody>
          <a:bodyPr wrap="square" lIns="0" tIns="0" rIns="0" bIns="0" rtlCol="0" anchor="ctr"/>
          <a:lstStyle/>
          <a:p>
            <a:pPr indent="0" marL="0">
              <a:buNone/>
            </a:pPr>
            <a:r>
              <a:rPr lang="en-US" sz="1500" b="1" dirty="0">
                <a:solidFill>
                  <a:srgbClr val="0E7C7B"/>
                </a:solidFill>
                <a:latin typeface="Cambria" pitchFamily="34" charset="0"/>
                <a:ea typeface="Cambria" pitchFamily="34" charset="-122"/>
                <a:cs typeface="Cambria" pitchFamily="34" charset="-120"/>
              </a:rPr>
              <a:t>Either answer is a legitimate result</a:t>
            </a:r>
            <a:endParaRPr lang="en-US" sz="1500" dirty="0"/>
          </a:p>
        </p:txBody>
      </p:sp>
      <p:sp>
        <p:nvSpPr>
          <p:cNvPr id="13" name="Text 11"/>
          <p:cNvSpPr/>
          <p:nvPr/>
        </p:nvSpPr>
        <p:spPr>
          <a:xfrm>
            <a:off x="6858000" y="4434840"/>
            <a:ext cx="4480560" cy="685800"/>
          </a:xfrm>
          <a:prstGeom prst="rect">
            <a:avLst/>
          </a:prstGeom>
          <a:noFill/>
          <a:ln/>
        </p:spPr>
        <p:txBody>
          <a:bodyPr wrap="square" lIns="0" tIns="0" rIns="0" bIns="0" rtlCol="0" anchor="ctr"/>
          <a:lstStyle/>
          <a:p>
            <a:pPr indent="0" marL="0">
              <a:buNone/>
            </a:pPr>
            <a:r>
              <a:rPr lang="en-US" sz="1250" dirty="0">
                <a:solidFill>
                  <a:srgbClr val="5A6B73"/>
                </a:solidFill>
                <a:latin typeface="Calibri" pitchFamily="34" charset="0"/>
                <a:ea typeface="Calibri" pitchFamily="34" charset="-122"/>
                <a:cs typeface="Calibri" pitchFamily="34" charset="-120"/>
              </a:rPr>
              <a:t>A smaller Tier 2 gain is the honest transfer story, not a failure. We state the gap rather than burying it.</a:t>
            </a:r>
            <a:endParaRPr lang="en-US" sz="1250" dirty="0"/>
          </a:p>
        </p:txBody>
      </p:sp>
      <p:sp>
        <p:nvSpPr>
          <p:cNvPr id="14" name="Shape 12"/>
          <p:cNvSpPr/>
          <p:nvPr/>
        </p:nvSpPr>
        <p:spPr>
          <a:xfrm>
            <a:off x="640080" y="5440680"/>
            <a:ext cx="10881360" cy="685800"/>
          </a:xfrm>
          <a:prstGeom prst="roundRect">
            <a:avLst>
              <a:gd name="adj" fmla="val 6667"/>
            </a:avLst>
          </a:prstGeom>
          <a:solidFill>
            <a:srgbClr val="F4F6F7"/>
          </a:solidFill>
          <a:ln w="12700">
            <a:solidFill>
              <a:srgbClr val="D3DBDE"/>
            </a:solidFill>
            <a:prstDash val="solid"/>
          </a:ln>
        </p:spPr>
      </p:sp>
      <p:sp>
        <p:nvSpPr>
          <p:cNvPr id="15" name="Text 13"/>
          <p:cNvSpPr/>
          <p:nvPr/>
        </p:nvSpPr>
        <p:spPr>
          <a:xfrm>
            <a:off x="914400" y="5577840"/>
            <a:ext cx="10332720" cy="411480"/>
          </a:xfrm>
          <a:prstGeom prst="rect">
            <a:avLst/>
          </a:prstGeom>
          <a:noFill/>
          <a:ln/>
        </p:spPr>
        <p:txBody>
          <a:bodyPr wrap="square" lIns="0" tIns="0" rIns="0" bIns="0" rtlCol="0" anchor="ctr"/>
          <a:lstStyle/>
          <a:p>
            <a:pPr indent="0" marL="0">
              <a:buNone/>
            </a:pPr>
            <a:r>
              <a:rPr lang="en-US" sz="1250" b="1" dirty="0">
                <a:solidFill>
                  <a:srgbClr val="12303F"/>
                </a:solidFill>
                <a:latin typeface="Calibri" pitchFamily="34" charset="0"/>
                <a:ea typeface="Calibri" pitchFamily="34" charset="-122"/>
                <a:cs typeface="Calibri" pitchFamily="34" charset="-120"/>
              </a:rPr>
              <a:t>PASTE: one line on the size of the Tier 1 → Tier 2 gap, and whether adaptation cost any general retrieval ability.</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19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5. RESULTS</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3</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2900" b="1" dirty="0">
                <a:solidFill>
                  <a:srgbClr val="12303F"/>
                </a:solidFill>
                <a:latin typeface="Cambria" pitchFamily="34" charset="0"/>
                <a:ea typeface="Cambria" pitchFamily="34" charset="-122"/>
                <a:cs typeface="Cambria" pitchFamily="34" charset="-120"/>
              </a:rPr>
              <a:t>Faithfulness Measurement: The Abstention Confound</a:t>
            </a:r>
            <a:endParaRPr lang="en-US" sz="2900" dirty="0"/>
          </a:p>
        </p:txBody>
      </p:sp>
      <p:sp>
        <p:nvSpPr>
          <p:cNvPr id="6" name="Shape 4"/>
          <p:cNvSpPr/>
          <p:nvPr/>
        </p:nvSpPr>
        <p:spPr>
          <a:xfrm>
            <a:off x="640080" y="1600200"/>
            <a:ext cx="10881360" cy="868680"/>
          </a:xfrm>
          <a:prstGeom prst="roundRect">
            <a:avLst>
              <a:gd name="adj" fmla="val 5263"/>
            </a:avLst>
          </a:prstGeom>
          <a:solidFill>
            <a:srgbClr val="12303F"/>
          </a:solidFill>
          <a:ln w="12700">
            <a:solidFill>
              <a:srgbClr val="12303F"/>
            </a:solidFill>
            <a:prstDash val="solid"/>
          </a:ln>
        </p:spPr>
      </p:sp>
      <p:sp>
        <p:nvSpPr>
          <p:cNvPr id="7" name="Text 5"/>
          <p:cNvSpPr/>
          <p:nvPr/>
        </p:nvSpPr>
        <p:spPr>
          <a:xfrm>
            <a:off x="914400" y="1810512"/>
            <a:ext cx="1033272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model that answers “the context does not contain this” is trivially 100% faithful. Faithfulness without abstention is a null result in disguise.</a:t>
            </a:r>
            <a:endParaRPr lang="en-US" sz="1500" dirty="0"/>
          </a:p>
        </p:txBody>
      </p:sp>
      <p:sp>
        <p:nvSpPr>
          <p:cNvPr id="8" name="Shape 6"/>
          <p:cNvSpPr/>
          <p:nvPr/>
        </p:nvSpPr>
        <p:spPr>
          <a:xfrm>
            <a:off x="640080" y="2743200"/>
            <a:ext cx="5349240" cy="2148840"/>
          </a:xfrm>
          <a:prstGeom prst="roundRect">
            <a:avLst>
              <a:gd name="adj" fmla="val 2128"/>
            </a:avLst>
          </a:prstGeom>
          <a:solidFill>
            <a:srgbClr val="FFFFFF"/>
          </a:solidFill>
          <a:ln w="12700">
            <a:solidFill>
              <a:srgbClr val="0E7C7B"/>
            </a:solidFill>
            <a:prstDash val="solid"/>
          </a:ln>
        </p:spPr>
      </p:sp>
      <p:sp>
        <p:nvSpPr>
          <p:cNvPr id="9" name="Text 7"/>
          <p:cNvSpPr/>
          <p:nvPr/>
        </p:nvSpPr>
        <p:spPr>
          <a:xfrm>
            <a:off x="914400" y="2971800"/>
            <a:ext cx="4846320" cy="320040"/>
          </a:xfrm>
          <a:prstGeom prst="rect">
            <a:avLst/>
          </a:prstGeom>
          <a:noFill/>
          <a:ln/>
        </p:spPr>
        <p:txBody>
          <a:bodyPr wrap="square" lIns="0" tIns="0" rIns="0" bIns="0" rtlCol="0" anchor="ctr"/>
          <a:lstStyle/>
          <a:p>
            <a:pPr indent="0" marL="0">
              <a:buNone/>
            </a:pPr>
            <a:r>
              <a:rPr lang="en-US" sz="1600" b="1" dirty="0">
                <a:solidFill>
                  <a:srgbClr val="0E7C7B"/>
                </a:solidFill>
                <a:latin typeface="Cambria" pitchFamily="34" charset="0"/>
                <a:ea typeface="Cambria" pitchFamily="34" charset="-122"/>
                <a:cs typeface="Cambria" pitchFamily="34" charset="-120"/>
              </a:rPr>
              <a:t>Abstention DOWN + faithfulness UP</a:t>
            </a:r>
            <a:endParaRPr lang="en-US" sz="1600" dirty="0"/>
          </a:p>
        </p:txBody>
      </p:sp>
      <p:sp>
        <p:nvSpPr>
          <p:cNvPr id="10" name="Text 8"/>
          <p:cNvSpPr/>
          <p:nvPr/>
        </p:nvSpPr>
        <p:spPr>
          <a:xfrm>
            <a:off x="914400" y="3383280"/>
            <a:ext cx="4846320" cy="914400"/>
          </a:xfrm>
          <a:prstGeom prst="rect">
            <a:avLst/>
          </a:prstGeom>
          <a:noFill/>
          <a:ln/>
        </p:spPr>
        <p:txBody>
          <a:bodyPr wrap="square" lIns="0" tIns="0" rIns="0" bIns="0" rtlCol="0" anchor="ctr"/>
          <a:lstStyle/>
          <a:p>
            <a:pPr indent="0" marL="0">
              <a:buNone/>
            </a:pPr>
            <a:r>
              <a:rPr lang="en-US" sz="1300" dirty="0">
                <a:solidFill>
                  <a:srgbClr val="12303F"/>
                </a:solidFill>
                <a:latin typeface="Calibri" pitchFamily="34" charset="0"/>
                <a:ea typeface="Calibri" pitchFamily="34" charset="-122"/>
                <a:cs typeface="Calibri" pitchFamily="34" charset="-120"/>
              </a:rPr>
              <a:t>The model answers more often AND grounds more of what it says. Clean causal story — retrieval improved the answer.</a:t>
            </a:r>
            <a:endParaRPr lang="en-US" sz="1300" dirty="0"/>
          </a:p>
        </p:txBody>
      </p:sp>
      <p:sp>
        <p:nvSpPr>
          <p:cNvPr id="11" name="Text 9"/>
          <p:cNvSpPr/>
          <p:nvPr/>
        </p:nvSpPr>
        <p:spPr>
          <a:xfrm>
            <a:off x="914400" y="4389120"/>
            <a:ext cx="4846320" cy="320040"/>
          </a:xfrm>
          <a:prstGeom prst="rect">
            <a:avLst/>
          </a:prstGeom>
          <a:noFill/>
          <a:ln/>
        </p:spPr>
        <p:txBody>
          <a:bodyPr wrap="square" lIns="0" tIns="0" rIns="0" bIns="0" rtlCol="0" anchor="ctr"/>
          <a:lstStyle/>
          <a:p>
            <a:pPr indent="0" marL="0">
              <a:buNone/>
            </a:pPr>
            <a:r>
              <a:rPr lang="en-US" sz="1300" b="1" i="1" dirty="0">
                <a:solidFill>
                  <a:srgbClr val="0E7C7B"/>
                </a:solidFill>
                <a:latin typeface="Calibri" pitchFamily="34" charset="0"/>
                <a:ea typeface="Calibri" pitchFamily="34" charset="-122"/>
                <a:cs typeface="Calibri" pitchFamily="34" charset="-120"/>
              </a:rPr>
              <a:t>The claim holds.</a:t>
            </a:r>
            <a:endParaRPr lang="en-US" sz="1300" dirty="0"/>
          </a:p>
        </p:txBody>
      </p:sp>
      <p:sp>
        <p:nvSpPr>
          <p:cNvPr id="12" name="Shape 10"/>
          <p:cNvSpPr/>
          <p:nvPr/>
        </p:nvSpPr>
        <p:spPr>
          <a:xfrm>
            <a:off x="6172200" y="2743200"/>
            <a:ext cx="5349240" cy="2148840"/>
          </a:xfrm>
          <a:prstGeom prst="roundRect">
            <a:avLst>
              <a:gd name="adj" fmla="val 2128"/>
            </a:avLst>
          </a:prstGeom>
          <a:solidFill>
            <a:srgbClr val="FFFFFF"/>
          </a:solidFill>
          <a:ln w="12700">
            <a:solidFill>
              <a:srgbClr val="C87F1E"/>
            </a:solidFill>
            <a:prstDash val="solid"/>
          </a:ln>
        </p:spPr>
      </p:sp>
      <p:sp>
        <p:nvSpPr>
          <p:cNvPr id="13" name="Text 11"/>
          <p:cNvSpPr/>
          <p:nvPr/>
        </p:nvSpPr>
        <p:spPr>
          <a:xfrm>
            <a:off x="6446520" y="2971800"/>
            <a:ext cx="4846320" cy="320040"/>
          </a:xfrm>
          <a:prstGeom prst="rect">
            <a:avLst/>
          </a:prstGeom>
          <a:noFill/>
          <a:ln/>
        </p:spPr>
        <p:txBody>
          <a:bodyPr wrap="square" lIns="0" tIns="0" rIns="0" bIns="0" rtlCol="0" anchor="ctr"/>
          <a:lstStyle/>
          <a:p>
            <a:pPr indent="0" marL="0">
              <a:buNone/>
            </a:pPr>
            <a:r>
              <a:rPr lang="en-US" sz="1600" b="1" dirty="0">
                <a:solidFill>
                  <a:srgbClr val="C87F1E"/>
                </a:solidFill>
                <a:latin typeface="Cambria" pitchFamily="34" charset="0"/>
                <a:ea typeface="Cambria" pitchFamily="34" charset="-122"/>
                <a:cs typeface="Cambria" pitchFamily="34" charset="-120"/>
              </a:rPr>
              <a:t>Abstention UP + faithfulness UP</a:t>
            </a:r>
            <a:endParaRPr lang="en-US" sz="1600" dirty="0"/>
          </a:p>
        </p:txBody>
      </p:sp>
      <p:sp>
        <p:nvSpPr>
          <p:cNvPr id="14" name="Text 12"/>
          <p:cNvSpPr/>
          <p:nvPr/>
        </p:nvSpPr>
        <p:spPr>
          <a:xfrm>
            <a:off x="6446520" y="3383280"/>
            <a:ext cx="4846320" cy="914400"/>
          </a:xfrm>
          <a:prstGeom prst="rect">
            <a:avLst/>
          </a:prstGeom>
          <a:noFill/>
          <a:ln/>
        </p:spPr>
        <p:txBody>
          <a:bodyPr wrap="square" lIns="0" tIns="0" rIns="0" bIns="0" rtlCol="0" anchor="ctr"/>
          <a:lstStyle/>
          <a:p>
            <a:pPr indent="0" marL="0">
              <a:buNone/>
            </a:pPr>
            <a:r>
              <a:rPr lang="en-US" sz="1300" dirty="0">
                <a:solidFill>
                  <a:srgbClr val="12303F"/>
                </a:solidFill>
                <a:latin typeface="Calibri" pitchFamily="34" charset="0"/>
                <a:ea typeface="Calibri" pitchFamily="34" charset="-122"/>
                <a:cs typeface="Calibri" pitchFamily="34" charset="-120"/>
              </a:rPr>
              <a:t>The model just refused more often. Faithfulness rose because it said less, not because it retrieved better.</a:t>
            </a:r>
            <a:endParaRPr lang="en-US" sz="1300" dirty="0"/>
          </a:p>
        </p:txBody>
      </p:sp>
      <p:sp>
        <p:nvSpPr>
          <p:cNvPr id="15" name="Text 13"/>
          <p:cNvSpPr/>
          <p:nvPr/>
        </p:nvSpPr>
        <p:spPr>
          <a:xfrm>
            <a:off x="6446520" y="4389120"/>
            <a:ext cx="4846320" cy="320040"/>
          </a:xfrm>
          <a:prstGeom prst="rect">
            <a:avLst/>
          </a:prstGeom>
          <a:noFill/>
          <a:ln/>
        </p:spPr>
        <p:txBody>
          <a:bodyPr wrap="square" lIns="0" tIns="0" rIns="0" bIns="0" rtlCol="0" anchor="ctr"/>
          <a:lstStyle/>
          <a:p>
            <a:pPr indent="0" marL="0">
              <a:buNone/>
            </a:pPr>
            <a:r>
              <a:rPr lang="en-US" sz="1300" b="1" i="1" dirty="0">
                <a:solidFill>
                  <a:srgbClr val="C87F1E"/>
                </a:solidFill>
                <a:latin typeface="Calibri" pitchFamily="34" charset="0"/>
                <a:ea typeface="Calibri" pitchFamily="34" charset="-122"/>
                <a:cs typeface="Calibri" pitchFamily="34" charset="-120"/>
              </a:rPr>
              <a:t>A null result wearing a disguise — and we report it as one.</a:t>
            </a:r>
            <a:endParaRPr lang="en-US" sz="1300" dirty="0"/>
          </a:p>
        </p:txBody>
      </p:sp>
      <p:sp>
        <p:nvSpPr>
          <p:cNvPr id="16" name="Text 14"/>
          <p:cNvSpPr/>
          <p:nvPr/>
        </p:nvSpPr>
        <p:spPr>
          <a:xfrm>
            <a:off x="640080" y="5212080"/>
            <a:ext cx="10881360" cy="457200"/>
          </a:xfrm>
          <a:prstGeom prst="rect">
            <a:avLst/>
          </a:prstGeom>
          <a:noFill/>
          <a:ln/>
        </p:spPr>
        <p:txBody>
          <a:bodyPr wrap="square" lIns="0" tIns="0" rIns="0" bIns="0" rtlCol="0" anchor="ctr"/>
          <a:lstStyle/>
          <a:p>
            <a:pPr indent="0" marL="0">
              <a:buNone/>
            </a:pPr>
            <a:r>
              <a:rPr lang="en-US" sz="1350" i="1" dirty="0">
                <a:solidFill>
                  <a:srgbClr val="5A6B73"/>
                </a:solidFill>
                <a:latin typeface="Calibri" pitchFamily="34" charset="0"/>
                <a:ea typeface="Calibri" pitchFamily="34" charset="-122"/>
                <a:cs typeface="Calibri" pitchFamily="34" charset="-120"/>
              </a:rPr>
              <a:t>We tracked abstention from the very first run. Discovering this in week eight would have been a project-level failure.</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20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5. RESULTS</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3</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Faithfulness Evaluation Results</a:t>
            </a:r>
            <a:endParaRPr lang="en-US" sz="3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6858000" cy="914400"/>
        </p:xfrm>
        <a:graphic>
          <a:graphicData uri="http://schemas.openxmlformats.org/drawingml/2006/table">
            <a:tbl>
              <a:tblPr/>
              <a:tblGrid>
                <a:gridCol w="2286000"/>
                <a:gridCol w="1143000"/>
                <a:gridCol w="1143000"/>
                <a:gridCol w="1143000"/>
                <a:gridCol w="1143000"/>
              </a:tblGrid>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Configuration</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Faithfulness</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Answer relevance</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Context precision</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1230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Abstention rate</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C87F1E"/>
                    </a:solidFill>
                  </a:tcPr>
                </a:tc>
              </a:tr>
              <a:tr h="411480">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2 · Stock bge-m3 (baseline)</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411480">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4 · Fine-tuned bge-m3</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12303F"/>
                          </a:solidFill>
                          <a:latin typeface="Calibri" pitchFamily="34" charset="0"/>
                          <a:ea typeface="Calibri" pitchFamily="34" charset="-122"/>
                          <a:cs typeface="Calibri" pitchFamily="34" charset="-120"/>
                        </a:rPr>
                        <a:t>6 · Full system</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c>
                  <a:txBody>
                    <a:bodyPr/>
                    <a:lstStyle/>
                    <a:p>
                      <a:pPr indent="0" marL="0">
                        <a:buNone/>
                      </a:pPr>
                      <a:r>
                        <a:rPr lang="en-US" sz="1150" dirty="0">
                          <a:solidFill>
                            <a:srgbClr val="12303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6350" cap="flat" cmpd="sng" algn="ctr">
                      <a:solidFill>
                        <a:srgbClr val="D3DBDE"/>
                      </a:solidFill>
                      <a:prstDash val="solid"/>
                      <a:round/>
                      <a:headEnd type="none" w="med" len="med"/>
                      <a:tailEnd type="none" w="med" len="med"/>
                    </a:lnL>
                    <a:lnR w="6350" cap="flat" cmpd="sng" algn="ctr">
                      <a:solidFill>
                        <a:srgbClr val="D3DBDE"/>
                      </a:solidFill>
                      <a:prstDash val="solid"/>
                      <a:round/>
                      <a:headEnd type="none" w="med" len="med"/>
                      <a:tailEnd type="none" w="med" len="med"/>
                    </a:lnR>
                    <a:lnT w="6350" cap="flat" cmpd="sng" algn="ctr">
                      <a:solidFill>
                        <a:srgbClr val="D3DBDE"/>
                      </a:solidFill>
                      <a:prstDash val="solid"/>
                      <a:round/>
                      <a:headEnd type="none" w="med" len="med"/>
                      <a:tailEnd type="none" w="med" len="med"/>
                    </a:lnT>
                    <a:lnB w="6350" cap="flat" cmpd="sng" algn="ctr">
                      <a:solidFill>
                        <a:srgbClr val="D3DBDE"/>
                      </a:solidFill>
                      <a:prstDash val="solid"/>
                      <a:round/>
                      <a:headEnd type="none" w="med" len="med"/>
                      <a:tailEnd type="none" w="med" len="med"/>
                    </a:lnB>
                    <a:solidFill>
                      <a:srgbClr val="D6EAE9"/>
                    </a:solidFill>
                  </a:tcPr>
                </a:tc>
              </a:tr>
            </a:tbl>
          </a:graphicData>
        </a:graphic>
      </p:graphicFrame>
      <p:sp>
        <p:nvSpPr>
          <p:cNvPr id="7" name="Shape 4"/>
          <p:cNvSpPr/>
          <p:nvPr/>
        </p:nvSpPr>
        <p:spPr>
          <a:xfrm>
            <a:off x="640080" y="3520440"/>
            <a:ext cx="6858000" cy="1097280"/>
          </a:xfrm>
          <a:prstGeom prst="roundRect">
            <a:avLst>
              <a:gd name="adj" fmla="val 4167"/>
            </a:avLst>
          </a:prstGeom>
          <a:solidFill>
            <a:srgbClr val="FFFFFF"/>
          </a:solidFill>
          <a:ln w="12700">
            <a:solidFill>
              <a:srgbClr val="D3DBDE"/>
            </a:solidFill>
            <a:prstDash val="solid"/>
          </a:ln>
        </p:spPr>
      </p:sp>
      <p:sp>
        <p:nvSpPr>
          <p:cNvPr id="8" name="Text 5"/>
          <p:cNvSpPr/>
          <p:nvPr/>
        </p:nvSpPr>
        <p:spPr>
          <a:xfrm>
            <a:off x="868680" y="3657600"/>
            <a:ext cx="6400800" cy="274320"/>
          </a:xfrm>
          <a:prstGeom prst="rect">
            <a:avLst/>
          </a:prstGeom>
          <a:noFill/>
          <a:ln/>
        </p:spPr>
        <p:txBody>
          <a:bodyPr wrap="square" lIns="0" tIns="0" rIns="0" bIns="0" rtlCol="0" anchor="ctr"/>
          <a:lstStyle/>
          <a:p>
            <a:pPr indent="0" marL="0">
              <a:buNone/>
            </a:pPr>
            <a:r>
              <a:rPr lang="en-US" sz="1500" b="1" dirty="0">
                <a:solidFill>
                  <a:srgbClr val="12303F"/>
                </a:solidFill>
                <a:latin typeface="Cambria" pitchFamily="34" charset="0"/>
                <a:ea typeface="Cambria" pitchFamily="34" charset="-122"/>
                <a:cs typeface="Cambria" pitchFamily="34" charset="-120"/>
              </a:rPr>
              <a:t>The judge, validated</a:t>
            </a:r>
            <a:endParaRPr lang="en-US" sz="1500" dirty="0"/>
          </a:p>
        </p:txBody>
      </p:sp>
      <p:sp>
        <p:nvSpPr>
          <p:cNvPr id="9" name="Text 6"/>
          <p:cNvSpPr/>
          <p:nvPr/>
        </p:nvSpPr>
        <p:spPr>
          <a:xfrm>
            <a:off x="868680" y="3950208"/>
            <a:ext cx="6400800" cy="594360"/>
          </a:xfrm>
          <a:prstGeom prst="rect">
            <a:avLst/>
          </a:prstGeom>
          <a:noFill/>
          <a:ln/>
        </p:spPr>
        <p:txBody>
          <a:bodyPr wrap="square" lIns="0" tIns="0" rIns="0" bIns="0" rtlCol="0" anchor="ctr"/>
          <a:lstStyle/>
          <a:p>
            <a:pPr indent="0" marL="0">
              <a:buNone/>
            </a:pPr>
            <a:r>
              <a:rPr lang="en-US" sz="1200" dirty="0">
                <a:solidFill>
                  <a:srgbClr val="5A6B73"/>
                </a:solidFill>
                <a:latin typeface="Calibri" pitchFamily="34" charset="0"/>
                <a:ea typeface="Calibri" pitchFamily="34" charset="-122"/>
                <a:cs typeface="Calibri" pitchFamily="34" charset="-120"/>
              </a:rPr>
              <a:t>DeBERTa-v3-large MNLI class, not an LLM — the generator never judges itself. Entailment threshold validated against hand-labelled claim/context pairs; Cohen's kappa reported.</a:t>
            </a:r>
            <a:endParaRPr lang="en-US" sz="1200" dirty="0"/>
          </a:p>
        </p:txBody>
      </p:sp>
      <p:sp>
        <p:nvSpPr>
          <p:cNvPr id="10" name="Shape 7"/>
          <p:cNvSpPr/>
          <p:nvPr/>
        </p:nvSpPr>
        <p:spPr>
          <a:xfrm>
            <a:off x="640080" y="4800600"/>
            <a:ext cx="6858000" cy="1097280"/>
          </a:xfrm>
          <a:prstGeom prst="roundRect">
            <a:avLst>
              <a:gd name="adj" fmla="val 4167"/>
            </a:avLst>
          </a:prstGeom>
          <a:solidFill>
            <a:srgbClr val="FBEEDA"/>
          </a:solidFill>
          <a:ln w="12700">
            <a:solidFill>
              <a:srgbClr val="FBEEDA"/>
            </a:solidFill>
            <a:prstDash val="solid"/>
          </a:ln>
        </p:spPr>
      </p:sp>
      <p:sp>
        <p:nvSpPr>
          <p:cNvPr id="11" name="Text 8"/>
          <p:cNvSpPr/>
          <p:nvPr/>
        </p:nvSpPr>
        <p:spPr>
          <a:xfrm>
            <a:off x="868680" y="5029200"/>
            <a:ext cx="6400800" cy="685800"/>
          </a:xfrm>
          <a:prstGeom prst="rect">
            <a:avLst/>
          </a:prstGeom>
          <a:noFill/>
          <a:ln/>
        </p:spPr>
        <p:txBody>
          <a:bodyPr wrap="square" lIns="0" tIns="0" rIns="0" bIns="0" rtlCol="0" anchor="ctr"/>
          <a:lstStyle/>
          <a:p>
            <a:pPr indent="0" marL="0">
              <a:buNone/>
            </a:pPr>
            <a:r>
              <a:rPr lang="en-US" sz="1250" b="1" dirty="0">
                <a:solidFill>
                  <a:srgbClr val="6E4410"/>
                </a:solidFill>
                <a:latin typeface="Calibri" pitchFamily="34" charset="0"/>
                <a:ea typeface="Calibri" pitchFamily="34" charset="-122"/>
                <a:cs typeface="Calibri" pitchFamily="34" charset="-120"/>
              </a:rPr>
              <a:t>PASTE: which direction abstention moved, and therefore which of the two readings from the previous slide applies. State it plainly either way.</a:t>
            </a:r>
            <a:endParaRPr lang="en-US" sz="1250" dirty="0"/>
          </a:p>
        </p:txBody>
      </p:sp>
      <p:sp>
        <p:nvSpPr>
          <p:cNvPr id="12" name="Shape 9"/>
          <p:cNvSpPr/>
          <p:nvPr/>
        </p:nvSpPr>
        <p:spPr>
          <a:xfrm>
            <a:off x="7772400" y="1554480"/>
            <a:ext cx="3749040" cy="4343400"/>
          </a:xfrm>
          <a:prstGeom prst="roundRect">
            <a:avLst>
              <a:gd name="adj" fmla="val 1463"/>
            </a:avLst>
          </a:prstGeom>
          <a:solidFill>
            <a:srgbClr val="F4F6F7"/>
          </a:solidFill>
          <a:ln w="15875">
            <a:solidFill>
              <a:srgbClr val="0E7C7B"/>
            </a:solidFill>
            <a:prstDash val="dash"/>
          </a:ln>
        </p:spPr>
      </p:sp>
      <p:sp>
        <p:nvSpPr>
          <p:cNvPr id="13" name="Text 10"/>
          <p:cNvSpPr/>
          <p:nvPr/>
        </p:nvSpPr>
        <p:spPr>
          <a:xfrm>
            <a:off x="7772400" y="3250692"/>
            <a:ext cx="3749040" cy="237744"/>
          </a:xfrm>
          <a:prstGeom prst="rect">
            <a:avLst/>
          </a:prstGeom>
          <a:noFill/>
          <a:ln/>
        </p:spPr>
        <p:txBody>
          <a:bodyPr wrap="square" lIns="0" tIns="0" rIns="0" bIns="0" rtlCol="0" anchor="ctr"/>
          <a:lstStyle/>
          <a:p>
            <a:pPr algn="ctr" indent="0" marL="0">
              <a:buNone/>
            </a:pPr>
            <a:r>
              <a:rPr lang="en-US" sz="1000" b="1" spc="150" kern="0" dirty="0">
                <a:solidFill>
                  <a:srgbClr val="0E7C7B"/>
                </a:solidFill>
                <a:latin typeface="Calibri" pitchFamily="34" charset="0"/>
                <a:ea typeface="Calibri" pitchFamily="34" charset="-122"/>
                <a:cs typeface="Calibri" pitchFamily="34" charset="-120"/>
              </a:rPr>
              <a:t>PASTE FIGURE</a:t>
            </a:r>
            <a:endParaRPr lang="en-US" sz="1000" dirty="0"/>
          </a:p>
        </p:txBody>
      </p:sp>
      <p:sp>
        <p:nvSpPr>
          <p:cNvPr id="14" name="Text 11"/>
          <p:cNvSpPr/>
          <p:nvPr/>
        </p:nvSpPr>
        <p:spPr>
          <a:xfrm>
            <a:off x="7909560" y="3525012"/>
            <a:ext cx="3474720" cy="274320"/>
          </a:xfrm>
          <a:prstGeom prst="rect">
            <a:avLst/>
          </a:prstGeom>
          <a:noFill/>
          <a:ln/>
        </p:spPr>
        <p:txBody>
          <a:bodyPr wrap="square" lIns="0" tIns="0" rIns="0" bIns="0" rtlCol="0" anchor="ctr"/>
          <a:lstStyle/>
          <a:p>
            <a:pPr algn="ctr" indent="0" marL="0">
              <a:buNone/>
            </a:pPr>
            <a:r>
              <a:rPr lang="en-US" sz="1100" dirty="0">
                <a:solidFill>
                  <a:srgbClr val="12303F"/>
                </a:solidFill>
                <a:latin typeface="Courier New" pitchFamily="34" charset="0"/>
                <a:ea typeface="Courier New" pitchFamily="34" charset="-122"/>
                <a:cs typeface="Courier New" pitchFamily="34" charset="-120"/>
              </a:rPr>
              <a:t>faithfulness_by_config.png</a:t>
            </a:r>
            <a:endParaRPr lang="en-US" sz="1100" dirty="0"/>
          </a:p>
        </p:txBody>
      </p:sp>
      <p:sp>
        <p:nvSpPr>
          <p:cNvPr id="15" name="Text 12"/>
          <p:cNvSpPr/>
          <p:nvPr/>
        </p:nvSpPr>
        <p:spPr>
          <a:xfrm>
            <a:off x="7955280" y="3835908"/>
            <a:ext cx="3383280" cy="457200"/>
          </a:xfrm>
          <a:prstGeom prst="rect">
            <a:avLst/>
          </a:prstGeom>
          <a:noFill/>
          <a:ln/>
        </p:spPr>
        <p:txBody>
          <a:bodyPr wrap="square" lIns="0" tIns="0" rIns="0" bIns="0" rtlCol="0" anchor="ctr"/>
          <a:lstStyle/>
          <a:p>
            <a:pPr algn="ctr" indent="0" marL="0">
              <a:buNone/>
            </a:pPr>
            <a:r>
              <a:rPr lang="en-US" sz="1000" i="1" dirty="0">
                <a:solidFill>
                  <a:srgbClr val="5A6B73"/>
                </a:solidFill>
                <a:latin typeface="Calibri" pitchFamily="34" charset="0"/>
                <a:ea typeface="Calibri" pitchFamily="34" charset="-122"/>
                <a:cs typeface="Calibri" pitchFamily="34" charset="-120"/>
              </a:rPr>
              <a:t>Four metrics per configuration</a:t>
            </a:r>
            <a:endParaRPr lang="en-US" sz="1000" dirty="0"/>
          </a:p>
        </p:txBody>
      </p:sp>
      <p:sp>
        <p:nvSpPr>
          <p:cNvPr id="16" name="Text 13"/>
          <p:cNvSpPr/>
          <p:nvPr/>
        </p:nvSpPr>
        <p:spPr>
          <a:xfrm>
            <a:off x="640080" y="6327648"/>
            <a:ext cx="9692640" cy="274320"/>
          </a:xfrm>
          <a:prstGeom prst="rect">
            <a:avLst/>
          </a:prstGeom>
          <a:noFill/>
          <a:ln/>
        </p:spPr>
        <p:txBody>
          <a:bodyPr wrap="square" lIns="0" tIns="0" rIns="0" bIns="0" rtlCol="0" anchor="ctr"/>
          <a:lstStyle/>
          <a:p>
            <a:pPr algn="l" indent="0" marL="0">
              <a:buNone/>
            </a:pPr>
            <a:r>
              <a:rPr lang="en-US" sz="950" i="1" dirty="0">
                <a:solidFill>
                  <a:srgbClr val="5A6B73"/>
                </a:solidFill>
                <a:latin typeface="Calibri" pitchFamily="34" charset="0"/>
                <a:ea typeface="Calibri" pitchFamily="34" charset="-122"/>
                <a:cs typeface="Calibri" pitchFamily="34" charset="-120"/>
              </a:rPr>
              <a:t>300–500 test queries per configuration per tier; identical query IDs across all six, asserted on set equality.</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21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5. RESULTS</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3</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2700" b="1" dirty="0">
                <a:solidFill>
                  <a:srgbClr val="12303F"/>
                </a:solidFill>
                <a:latin typeface="Cambria" pitchFamily="34" charset="0"/>
                <a:ea typeface="Cambria" pitchFamily="34" charset="-122"/>
                <a:cs typeface="Cambria" pitchFamily="34" charset="-120"/>
              </a:rPr>
              <a:t>Central Hypothesis: Retrieval Gain vs. Faithfulness Gain</a:t>
            </a:r>
            <a:endParaRPr lang="en-US" sz="2700" dirty="0"/>
          </a:p>
        </p:txBody>
      </p:sp>
      <p:sp>
        <p:nvSpPr>
          <p:cNvPr id="6" name="Shape 4"/>
          <p:cNvSpPr/>
          <p:nvPr/>
        </p:nvSpPr>
        <p:spPr>
          <a:xfrm>
            <a:off x="640080" y="1554480"/>
            <a:ext cx="5120640" cy="3291840"/>
          </a:xfrm>
          <a:prstGeom prst="roundRect">
            <a:avLst>
              <a:gd name="adj" fmla="val 1667"/>
            </a:avLst>
          </a:prstGeom>
          <a:solidFill>
            <a:srgbClr val="F4F6F7"/>
          </a:solidFill>
          <a:ln w="15875">
            <a:solidFill>
              <a:srgbClr val="0E7C7B"/>
            </a:solidFill>
            <a:prstDash val="dash"/>
          </a:ln>
        </p:spPr>
      </p:sp>
      <p:sp>
        <p:nvSpPr>
          <p:cNvPr id="7" name="Text 5"/>
          <p:cNvSpPr/>
          <p:nvPr/>
        </p:nvSpPr>
        <p:spPr>
          <a:xfrm>
            <a:off x="640080" y="2724912"/>
            <a:ext cx="5120640" cy="237744"/>
          </a:xfrm>
          <a:prstGeom prst="rect">
            <a:avLst/>
          </a:prstGeom>
          <a:noFill/>
          <a:ln/>
        </p:spPr>
        <p:txBody>
          <a:bodyPr wrap="square" lIns="0" tIns="0" rIns="0" bIns="0" rtlCol="0" anchor="ctr"/>
          <a:lstStyle/>
          <a:p>
            <a:pPr algn="ctr" indent="0" marL="0">
              <a:buNone/>
            </a:pPr>
            <a:r>
              <a:rPr lang="en-US" sz="1000" b="1" spc="150" kern="0" dirty="0">
                <a:solidFill>
                  <a:srgbClr val="0E7C7B"/>
                </a:solidFill>
                <a:latin typeface="Calibri" pitchFamily="34" charset="0"/>
                <a:ea typeface="Calibri" pitchFamily="34" charset="-122"/>
                <a:cs typeface="Calibri" pitchFamily="34" charset="-120"/>
              </a:rPr>
              <a:t>PASTE FIGURE</a:t>
            </a:r>
            <a:endParaRPr lang="en-US" sz="1000" dirty="0"/>
          </a:p>
        </p:txBody>
      </p:sp>
      <p:sp>
        <p:nvSpPr>
          <p:cNvPr id="8" name="Text 6"/>
          <p:cNvSpPr/>
          <p:nvPr/>
        </p:nvSpPr>
        <p:spPr>
          <a:xfrm>
            <a:off x="777240" y="2999232"/>
            <a:ext cx="4846320" cy="274320"/>
          </a:xfrm>
          <a:prstGeom prst="rect">
            <a:avLst/>
          </a:prstGeom>
          <a:noFill/>
          <a:ln/>
        </p:spPr>
        <p:txBody>
          <a:bodyPr wrap="square" lIns="0" tIns="0" rIns="0" bIns="0" rtlCol="0" anchor="ctr"/>
          <a:lstStyle/>
          <a:p>
            <a:pPr algn="ctr" indent="0" marL="0">
              <a:buNone/>
            </a:pPr>
            <a:r>
              <a:rPr lang="en-US" sz="1100" dirty="0">
                <a:solidFill>
                  <a:srgbClr val="12303F"/>
                </a:solidFill>
                <a:latin typeface="Courier New" pitchFamily="34" charset="0"/>
                <a:ea typeface="Courier New" pitchFamily="34" charset="-122"/>
                <a:cs typeface="Courier New" pitchFamily="34" charset="-120"/>
              </a:rPr>
              <a:t>gain_scatter.png</a:t>
            </a:r>
            <a:endParaRPr lang="en-US" sz="1100" dirty="0"/>
          </a:p>
        </p:txBody>
      </p:sp>
      <p:sp>
        <p:nvSpPr>
          <p:cNvPr id="9" name="Text 7"/>
          <p:cNvSpPr/>
          <p:nvPr/>
        </p:nvSpPr>
        <p:spPr>
          <a:xfrm>
            <a:off x="822960" y="3310128"/>
            <a:ext cx="4754880" cy="457200"/>
          </a:xfrm>
          <a:prstGeom prst="rect">
            <a:avLst/>
          </a:prstGeom>
          <a:noFill/>
          <a:ln/>
        </p:spPr>
        <p:txBody>
          <a:bodyPr wrap="square" lIns="0" tIns="0" rIns="0" bIns="0" rtlCol="0" anchor="ctr"/>
          <a:lstStyle/>
          <a:p>
            <a:pPr algn="ctr" indent="0" marL="0">
              <a:buNone/>
            </a:pPr>
            <a:r>
              <a:rPr lang="en-US" sz="1000" i="1" dirty="0">
                <a:solidFill>
                  <a:srgbClr val="5A6B73"/>
                </a:solidFill>
                <a:latin typeface="Calibri" pitchFamily="34" charset="0"/>
                <a:ea typeface="Calibri" pitchFamily="34" charset="-122"/>
                <a:cs typeface="Calibri" pitchFamily="34" charset="-120"/>
              </a:rPr>
              <a:t>Retrieval gain (x) vs. faithfulness gain (y), per configuration</a:t>
            </a:r>
            <a:endParaRPr lang="en-US" sz="1000" dirty="0"/>
          </a:p>
        </p:txBody>
      </p:sp>
      <p:sp>
        <p:nvSpPr>
          <p:cNvPr id="10" name="Text 8"/>
          <p:cNvSpPr/>
          <p:nvPr/>
        </p:nvSpPr>
        <p:spPr>
          <a:xfrm>
            <a:off x="640080" y="4983480"/>
            <a:ext cx="5120640" cy="548640"/>
          </a:xfrm>
          <a:prstGeom prst="rect">
            <a:avLst/>
          </a:prstGeom>
          <a:noFill/>
          <a:ln/>
        </p:spPr>
        <p:txBody>
          <a:bodyPr wrap="square" lIns="0" tIns="0" rIns="0" bIns="0" rtlCol="0" anchor="ctr"/>
          <a:lstStyle/>
          <a:p>
            <a:pPr indent="0" marL="0">
              <a:buNone/>
            </a:pPr>
            <a:r>
              <a:rPr lang="en-US" sz="1250" i="1" dirty="0">
                <a:solidFill>
                  <a:srgbClr val="5A6B73"/>
                </a:solidFill>
                <a:latin typeface="Calibri" pitchFamily="34" charset="0"/>
                <a:ea typeface="Calibri" pitchFamily="34" charset="-122"/>
                <a:cs typeface="Calibri" pitchFamily="34" charset="-120"/>
              </a:rPr>
              <a:t>Every configuration is a point. If the relationship is flat, retrieval improvements are not reaching the user.</a:t>
            </a:r>
            <a:endParaRPr lang="en-US" sz="1250" dirty="0"/>
          </a:p>
        </p:txBody>
      </p:sp>
      <p:sp>
        <p:nvSpPr>
          <p:cNvPr id="11" name="Shape 9"/>
          <p:cNvSpPr/>
          <p:nvPr/>
        </p:nvSpPr>
        <p:spPr>
          <a:xfrm>
            <a:off x="6035040" y="1554480"/>
            <a:ext cx="5486400" cy="4480560"/>
          </a:xfrm>
          <a:prstGeom prst="roundRect">
            <a:avLst>
              <a:gd name="adj" fmla="val 1020"/>
            </a:avLst>
          </a:prstGeom>
          <a:solidFill>
            <a:srgbClr val="FFFFFF"/>
          </a:solidFill>
          <a:ln w="12700">
            <a:solidFill>
              <a:srgbClr val="D3DBDE"/>
            </a:solidFill>
            <a:prstDash val="solid"/>
          </a:ln>
        </p:spPr>
      </p:sp>
      <p:sp>
        <p:nvSpPr>
          <p:cNvPr id="12" name="Text 10"/>
          <p:cNvSpPr/>
          <p:nvPr/>
        </p:nvSpPr>
        <p:spPr>
          <a:xfrm>
            <a:off x="6263640" y="1737360"/>
            <a:ext cx="5029200" cy="274320"/>
          </a:xfrm>
          <a:prstGeom prst="rect">
            <a:avLst/>
          </a:prstGeom>
          <a:noFill/>
          <a:ln/>
        </p:spPr>
        <p:txBody>
          <a:bodyPr wrap="square" lIns="0" tIns="0" rIns="0" bIns="0" rtlCol="0" anchor="ctr"/>
          <a:lstStyle/>
          <a:p>
            <a:pPr indent="0" marL="0">
              <a:buNone/>
            </a:pPr>
            <a:r>
              <a:rPr lang="en-US" sz="1600" b="1" dirty="0">
                <a:solidFill>
                  <a:srgbClr val="12303F"/>
                </a:solidFill>
                <a:latin typeface="Cambria" pitchFamily="34" charset="0"/>
                <a:ea typeface="Cambria" pitchFamily="34" charset="-122"/>
                <a:cs typeface="Cambria" pitchFamily="34" charset="-120"/>
              </a:rPr>
              <a:t>Representative case</a:t>
            </a:r>
            <a:endParaRPr lang="en-US" sz="1600" dirty="0"/>
          </a:p>
        </p:txBody>
      </p:sp>
      <p:sp>
        <p:nvSpPr>
          <p:cNvPr id="13" name="Text 11"/>
          <p:cNvSpPr/>
          <p:nvPr/>
        </p:nvSpPr>
        <p:spPr>
          <a:xfrm>
            <a:off x="6263640" y="2103120"/>
            <a:ext cx="5029200" cy="201168"/>
          </a:xfrm>
          <a:prstGeom prst="rect">
            <a:avLst/>
          </a:prstGeom>
          <a:noFill/>
          <a:ln/>
        </p:spPr>
        <p:txBody>
          <a:bodyPr wrap="square" lIns="0" tIns="0" rIns="0" bIns="0" rtlCol="0" anchor="ctr"/>
          <a:lstStyle/>
          <a:p>
            <a:pPr indent="0" marL="0">
              <a:buNone/>
            </a:pPr>
            <a:r>
              <a:rPr lang="en-US" sz="950" b="1" spc="150" kern="0" dirty="0">
                <a:solidFill>
                  <a:srgbClr val="0E7C7B"/>
                </a:solidFill>
                <a:latin typeface="Calibri" pitchFamily="34" charset="0"/>
                <a:ea typeface="Calibri" pitchFamily="34" charset="-122"/>
                <a:cs typeface="Calibri" pitchFamily="34" charset="-120"/>
              </a:rPr>
              <a:t>QUERY</a:t>
            </a:r>
            <a:endParaRPr lang="en-US" sz="950" dirty="0"/>
          </a:p>
        </p:txBody>
      </p:sp>
      <p:sp>
        <p:nvSpPr>
          <p:cNvPr id="14" name="Text 12"/>
          <p:cNvSpPr/>
          <p:nvPr/>
        </p:nvSpPr>
        <p:spPr>
          <a:xfrm>
            <a:off x="6263640" y="2304288"/>
            <a:ext cx="5029200" cy="457200"/>
          </a:xfrm>
          <a:prstGeom prst="rect">
            <a:avLst/>
          </a:prstGeom>
          <a:noFill/>
          <a:ln/>
        </p:spPr>
        <p:txBody>
          <a:bodyPr wrap="square" lIns="0" tIns="0" rIns="0" bIns="0" rtlCol="0" anchor="ctr"/>
          <a:lstStyle/>
          <a:p>
            <a:pPr indent="0" marL="0">
              <a:buNone/>
            </a:pPr>
            <a:r>
              <a:rPr lang="en-US" sz="1050" dirty="0">
                <a:solidFill>
                  <a:srgbClr val="12303F"/>
                </a:solidFill>
                <a:latin typeface="Courier New" pitchFamily="34" charset="0"/>
                <a:ea typeface="Courier New" pitchFamily="34" charset="-122"/>
                <a:cs typeface="Courier New" pitchFamily="34" charset="-120"/>
              </a:rPr>
              <a:t>PASTE: an abbreviation-bearing query from error analysis (TEVAR / NIHSS / Clavien–Dindo / Nurick)</a:t>
            </a:r>
            <a:endParaRPr lang="en-US" sz="1050" dirty="0"/>
          </a:p>
        </p:txBody>
      </p:sp>
      <p:sp>
        <p:nvSpPr>
          <p:cNvPr id="15" name="Text 13"/>
          <p:cNvSpPr/>
          <p:nvPr/>
        </p:nvSpPr>
        <p:spPr>
          <a:xfrm>
            <a:off x="6263640" y="2834640"/>
            <a:ext cx="5029200" cy="201168"/>
          </a:xfrm>
          <a:prstGeom prst="rect">
            <a:avLst/>
          </a:prstGeom>
          <a:noFill/>
          <a:ln/>
        </p:spPr>
        <p:txBody>
          <a:bodyPr wrap="square" lIns="0" tIns="0" rIns="0" bIns="0" rtlCol="0" anchor="ctr"/>
          <a:lstStyle/>
          <a:p>
            <a:pPr indent="0" marL="0">
              <a:buNone/>
            </a:pPr>
            <a:r>
              <a:rPr lang="en-US" sz="950" b="1" spc="150" kern="0" dirty="0">
                <a:solidFill>
                  <a:srgbClr val="5A6B73"/>
                </a:solidFill>
                <a:latin typeface="Calibri" pitchFamily="34" charset="0"/>
                <a:ea typeface="Calibri" pitchFamily="34" charset="-122"/>
                <a:cs typeface="Calibri" pitchFamily="34" charset="-120"/>
              </a:rPr>
              <a:t>STOCK RETRIEVER RETURNED</a:t>
            </a:r>
            <a:endParaRPr lang="en-US" sz="950" dirty="0"/>
          </a:p>
        </p:txBody>
      </p:sp>
      <p:sp>
        <p:nvSpPr>
          <p:cNvPr id="16" name="Text 14"/>
          <p:cNvSpPr/>
          <p:nvPr/>
        </p:nvSpPr>
        <p:spPr>
          <a:xfrm>
            <a:off x="6263640" y="3035808"/>
            <a:ext cx="5029200" cy="548640"/>
          </a:xfrm>
          <a:prstGeom prst="rect">
            <a:avLst/>
          </a:prstGeom>
          <a:noFill/>
          <a:ln/>
        </p:spPr>
        <p:txBody>
          <a:bodyPr wrap="square" lIns="0" tIns="0" rIns="0" bIns="0" rtlCol="0" anchor="ctr"/>
          <a:lstStyle/>
          <a:p>
            <a:pPr indent="0" marL="0">
              <a:buNone/>
            </a:pPr>
            <a:r>
              <a:rPr lang="en-US" sz="1100" dirty="0">
                <a:solidFill>
                  <a:srgbClr val="5A6B73"/>
                </a:solidFill>
                <a:latin typeface="Calibri" pitchFamily="34" charset="0"/>
                <a:ea typeface="Calibri" pitchFamily="34" charset="-122"/>
                <a:cs typeface="Calibri" pitchFamily="34" charset="-120"/>
              </a:rPr>
              <a:t>PASTE: the lexical near-miss passage — and the ungrounded answer it produced</a:t>
            </a:r>
            <a:endParaRPr lang="en-US" sz="1100" dirty="0"/>
          </a:p>
        </p:txBody>
      </p:sp>
      <p:sp>
        <p:nvSpPr>
          <p:cNvPr id="17" name="Text 15"/>
          <p:cNvSpPr/>
          <p:nvPr/>
        </p:nvSpPr>
        <p:spPr>
          <a:xfrm>
            <a:off x="6263640" y="3657600"/>
            <a:ext cx="5029200" cy="201168"/>
          </a:xfrm>
          <a:prstGeom prst="rect">
            <a:avLst/>
          </a:prstGeom>
          <a:noFill/>
          <a:ln/>
        </p:spPr>
        <p:txBody>
          <a:bodyPr wrap="square" lIns="0" tIns="0" rIns="0" bIns="0" rtlCol="0" anchor="ctr"/>
          <a:lstStyle/>
          <a:p>
            <a:pPr indent="0" marL="0">
              <a:buNone/>
            </a:pPr>
            <a:r>
              <a:rPr lang="en-US" sz="950" b="1" spc="150" kern="0" dirty="0">
                <a:solidFill>
                  <a:srgbClr val="0E7C7B"/>
                </a:solidFill>
                <a:latin typeface="Calibri" pitchFamily="34" charset="0"/>
                <a:ea typeface="Calibri" pitchFamily="34" charset="-122"/>
                <a:cs typeface="Calibri" pitchFamily="34" charset="-120"/>
              </a:rPr>
              <a:t>FINE-TUNED RETRIEVER RETURNED</a:t>
            </a:r>
            <a:endParaRPr lang="en-US" sz="950" dirty="0"/>
          </a:p>
        </p:txBody>
      </p:sp>
      <p:sp>
        <p:nvSpPr>
          <p:cNvPr id="18" name="Text 16"/>
          <p:cNvSpPr/>
          <p:nvPr/>
        </p:nvSpPr>
        <p:spPr>
          <a:xfrm>
            <a:off x="6263640" y="3858768"/>
            <a:ext cx="5029200" cy="640080"/>
          </a:xfrm>
          <a:prstGeom prst="rect">
            <a:avLst/>
          </a:prstGeom>
          <a:noFill/>
          <a:ln/>
        </p:spPr>
        <p:txBody>
          <a:bodyPr wrap="square" lIns="0" tIns="0" rIns="0" bIns="0" rtlCol="0" anchor="ctr"/>
          <a:lstStyle/>
          <a:p>
            <a:pPr indent="0" marL="0">
              <a:buNone/>
            </a:pPr>
            <a:r>
              <a:rPr lang="en-US" sz="1100" dirty="0">
                <a:solidFill>
                  <a:srgbClr val="12303F"/>
                </a:solidFill>
                <a:latin typeface="Calibri" pitchFamily="34" charset="0"/>
                <a:ea typeface="Calibri" pitchFamily="34" charset="-122"/>
                <a:cs typeface="Calibri" pitchFamily="34" charset="-120"/>
              </a:rPr>
              <a:t>PASTE: the correct passage — and the grounded answer from the same frozen generator, same prompt</a:t>
            </a:r>
            <a:endParaRPr lang="en-US" sz="1100" dirty="0"/>
          </a:p>
        </p:txBody>
      </p:sp>
      <p:sp>
        <p:nvSpPr>
          <p:cNvPr id="19" name="Shape 17"/>
          <p:cNvSpPr/>
          <p:nvPr/>
        </p:nvSpPr>
        <p:spPr>
          <a:xfrm>
            <a:off x="6263640" y="4617720"/>
            <a:ext cx="5029200" cy="1234440"/>
          </a:xfrm>
          <a:prstGeom prst="roundRect">
            <a:avLst>
              <a:gd name="adj" fmla="val 3704"/>
            </a:avLst>
          </a:prstGeom>
          <a:solidFill>
            <a:srgbClr val="F4F6F7"/>
          </a:solidFill>
          <a:ln w="12700">
            <a:solidFill>
              <a:srgbClr val="D3DBDE"/>
            </a:solidFill>
            <a:prstDash val="solid"/>
          </a:ln>
        </p:spPr>
      </p:sp>
      <p:sp>
        <p:nvSpPr>
          <p:cNvPr id="20" name="Text 18"/>
          <p:cNvSpPr/>
          <p:nvPr/>
        </p:nvSpPr>
        <p:spPr>
          <a:xfrm>
            <a:off x="6492240" y="4892040"/>
            <a:ext cx="4572000" cy="731520"/>
          </a:xfrm>
          <a:prstGeom prst="rect">
            <a:avLst/>
          </a:prstGeom>
          <a:noFill/>
          <a:ln/>
        </p:spPr>
        <p:txBody>
          <a:bodyPr wrap="square" lIns="0" tIns="0" rIns="0" bIns="0" rtlCol="0" anchor="ctr"/>
          <a:lstStyle/>
          <a:p>
            <a:pPr indent="0" marL="0">
              <a:buNone/>
            </a:pPr>
            <a:r>
              <a:rPr lang="en-US" sz="1250" b="1" dirty="0">
                <a:solidFill>
                  <a:srgbClr val="12303F"/>
                </a:solidFill>
                <a:latin typeface="Calibri" pitchFamily="34" charset="0"/>
                <a:ea typeface="Calibri" pitchFamily="34" charset="-122"/>
                <a:cs typeface="Calibri" pitchFamily="34" charset="-120"/>
              </a:rPr>
              <a:t>Same model. Same prompt. Same decoding parameters. Only the retrieved context changed.</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9AAAB2"/>
                </a:solidFill>
                <a:latin typeface="Calibri" pitchFamily="34" charset="0"/>
                <a:ea typeface="Calibri" pitchFamily="34" charset="-122"/>
                <a:cs typeface="Calibri" pitchFamily="34" charset="-120"/>
              </a:rPr>
              <a:t>22 / 23</a:t>
            </a:r>
            <a:endParaRPr lang="en-US" sz="950" dirty="0"/>
          </a:p>
        </p:txBody>
      </p:sp>
      <p:sp>
        <p:nvSpPr>
          <p:cNvPr id="3" name="Text 1"/>
          <p:cNvSpPr/>
          <p:nvPr/>
        </p:nvSpPr>
        <p:spPr>
          <a:xfrm>
            <a:off x="640080" y="384048"/>
            <a:ext cx="8229600" cy="256032"/>
          </a:xfrm>
          <a:prstGeom prst="rect">
            <a:avLst/>
          </a:prstGeom>
          <a:noFill/>
          <a:ln/>
        </p:spPr>
        <p:txBody>
          <a:bodyPr wrap="square" lIns="0" tIns="0" rIns="0" bIns="0" rtlCol="0" anchor="ctr"/>
          <a:lstStyle/>
          <a:p>
            <a:pPr algn="l" indent="0" marL="0">
              <a:buNone/>
            </a:pPr>
            <a:r>
              <a:rPr lang="en-US" sz="1100" b="1" spc="200" kern="0" dirty="0">
                <a:solidFill>
                  <a:srgbClr val="0E7C7B"/>
                </a:solidFill>
                <a:latin typeface="Calibri" pitchFamily="34" charset="0"/>
                <a:ea typeface="Calibri" pitchFamily="34" charset="-122"/>
                <a:cs typeface="Calibri" pitchFamily="34" charset="-120"/>
              </a:rPr>
              <a:t>6. DISCUSSION</a:t>
            </a:r>
            <a:endParaRPr lang="en-US" sz="1100" dirty="0"/>
          </a:p>
        </p:txBody>
      </p:sp>
      <p:sp>
        <p:nvSpPr>
          <p:cNvPr id="4" name="Text 2"/>
          <p:cNvSpPr/>
          <p:nvPr/>
        </p:nvSpPr>
        <p:spPr>
          <a:xfrm>
            <a:off x="9692640" y="384048"/>
            <a:ext cx="1828800" cy="256032"/>
          </a:xfrm>
          <a:prstGeom prst="rect">
            <a:avLst/>
          </a:prstGeom>
          <a:noFill/>
          <a:ln/>
        </p:spPr>
        <p:txBody>
          <a:bodyPr wrap="square" lIns="0" tIns="0" rIns="0" bIns="0" rtlCol="0" anchor="ctr"/>
          <a:lstStyle/>
          <a:p>
            <a:pPr algn="r" indent="0" marL="0">
              <a:buNone/>
            </a:pPr>
            <a:r>
              <a:rPr lang="en-US" sz="1000" b="1" spc="100" kern="0" dirty="0">
                <a:solidFill>
                  <a:srgbClr val="5A6B73"/>
                </a:solidFill>
                <a:latin typeface="Calibri" pitchFamily="34" charset="0"/>
                <a:ea typeface="Calibri" pitchFamily="34" charset="-122"/>
                <a:cs typeface="Calibri" pitchFamily="34" charset="-120"/>
              </a:rPr>
              <a:t>SPEAKER 3</a:t>
            </a:r>
            <a:endParaRPr lang="en-US" sz="1000" dirty="0"/>
          </a:p>
        </p:txBody>
      </p:sp>
      <p:sp>
        <p:nvSpPr>
          <p:cNvPr id="5" name="Text 3"/>
          <p:cNvSpPr/>
          <p:nvPr/>
        </p:nvSpPr>
        <p:spPr>
          <a:xfrm>
            <a:off x="640080" y="658368"/>
            <a:ext cx="10881360" cy="685800"/>
          </a:xfrm>
          <a:prstGeom prst="rect">
            <a:avLst/>
          </a:prstGeom>
          <a:noFill/>
          <a:ln/>
        </p:spPr>
        <p:txBody>
          <a:bodyPr wrap="square" lIns="0" tIns="0" rIns="0" bIns="0" rtlCol="0" anchor="ctr"/>
          <a:lstStyle/>
          <a:p>
            <a:pPr algn="l" indent="0" marL="0">
              <a:buNone/>
            </a:pPr>
            <a:r>
              <a:rPr lang="en-US" sz="3400" b="1" dirty="0">
                <a:solidFill>
                  <a:srgbClr val="12303F"/>
                </a:solidFill>
                <a:latin typeface="Cambria" pitchFamily="34" charset="0"/>
                <a:ea typeface="Cambria" pitchFamily="34" charset="-122"/>
                <a:cs typeface="Cambria" pitchFamily="34" charset="-120"/>
              </a:rPr>
              <a:t>Limitations and Threats to Validity</a:t>
            </a:r>
            <a:endParaRPr lang="en-US" sz="3400" dirty="0"/>
          </a:p>
        </p:txBody>
      </p:sp>
      <p:sp>
        <p:nvSpPr>
          <p:cNvPr id="6" name="Shape 4"/>
          <p:cNvSpPr/>
          <p:nvPr/>
        </p:nvSpPr>
        <p:spPr>
          <a:xfrm>
            <a:off x="640080" y="1572768"/>
            <a:ext cx="10881360" cy="1005840"/>
          </a:xfrm>
          <a:prstGeom prst="roundRect">
            <a:avLst>
              <a:gd name="adj" fmla="val 4545"/>
            </a:avLst>
          </a:prstGeom>
          <a:solidFill>
            <a:srgbClr val="FFFFFF"/>
          </a:solidFill>
          <a:ln w="12700">
            <a:solidFill>
              <a:srgbClr val="D3DBDE"/>
            </a:solidFill>
            <a:prstDash val="solid"/>
          </a:ln>
        </p:spPr>
      </p:sp>
      <p:sp>
        <p:nvSpPr>
          <p:cNvPr id="7" name="Shape 5"/>
          <p:cNvSpPr/>
          <p:nvPr/>
        </p:nvSpPr>
        <p:spPr>
          <a:xfrm>
            <a:off x="868680" y="1737360"/>
            <a:ext cx="292608" cy="274320"/>
          </a:xfrm>
          <a:prstGeom prst="roundRect">
            <a:avLst>
              <a:gd name="adj" fmla="val 33333"/>
            </a:avLst>
          </a:prstGeom>
          <a:solidFill>
            <a:srgbClr val="5A6B73"/>
          </a:solidFill>
          <a:ln w="12700">
            <a:solidFill>
              <a:srgbClr val="5A6B73"/>
            </a:solidFill>
            <a:prstDash val="solid"/>
          </a:ln>
        </p:spPr>
      </p:sp>
      <p:sp>
        <p:nvSpPr>
          <p:cNvPr id="8" name="Text 6"/>
          <p:cNvSpPr/>
          <p:nvPr/>
        </p:nvSpPr>
        <p:spPr>
          <a:xfrm>
            <a:off x="868680" y="1737360"/>
            <a:ext cx="29260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298448" y="1691640"/>
            <a:ext cx="5669280" cy="365760"/>
          </a:xfrm>
          <a:prstGeom prst="rect">
            <a:avLst/>
          </a:prstGeom>
          <a:noFill/>
          <a:ln/>
        </p:spPr>
        <p:txBody>
          <a:bodyPr wrap="square" lIns="0" tIns="0" rIns="0" bIns="0" rtlCol="0" anchor="ctr"/>
          <a:lstStyle/>
          <a:p>
            <a:pPr indent="0" marL="0">
              <a:buNone/>
            </a:pPr>
            <a:r>
              <a:rPr lang="en-US" sz="1400" b="1" dirty="0">
                <a:solidFill>
                  <a:srgbClr val="12303F"/>
                </a:solidFill>
                <a:latin typeface="Cambria" pitchFamily="34" charset="0"/>
                <a:ea typeface="Cambria" pitchFamily="34" charset="-122"/>
                <a:cs typeface="Cambria" pitchFamily="34" charset="-120"/>
              </a:rPr>
              <a:t>Filter recall is bounded</a:t>
            </a:r>
            <a:endParaRPr lang="en-US" sz="1400" dirty="0"/>
          </a:p>
        </p:txBody>
      </p:sp>
      <p:sp>
        <p:nvSpPr>
          <p:cNvPr id="10" name="Text 8"/>
          <p:cNvSpPr/>
          <p:nvPr/>
        </p:nvSpPr>
        <p:spPr>
          <a:xfrm>
            <a:off x="1298448" y="2048256"/>
            <a:ext cx="9966960" cy="457200"/>
          </a:xfrm>
          <a:prstGeom prst="rect">
            <a:avLst/>
          </a:prstGeom>
          <a:noFill/>
          <a:ln/>
        </p:spPr>
        <p:txBody>
          <a:bodyPr wrap="square" lIns="0" tIns="0" rIns="0" bIns="0" rtlCol="0" anchor="ctr"/>
          <a:lstStyle/>
          <a:p>
            <a:pPr indent="0" marL="0">
              <a:buNone/>
            </a:pPr>
            <a:r>
              <a:rPr lang="en-US" sz="1150" dirty="0">
                <a:solidFill>
                  <a:srgbClr val="5A6B73"/>
                </a:solidFill>
                <a:latin typeface="Calibri" pitchFamily="34" charset="0"/>
                <a:ea typeface="Calibri" pitchFamily="34" charset="-122"/>
                <a:cs typeface="Calibri" pitchFamily="34" charset="-120"/>
              </a:rPr>
              <a:t>The false-negative filter catches generic filler well and genuinely relevant pairs poorly. Cosine similarity separates generic from specific better than relevant from irrelevant.</a:t>
            </a:r>
            <a:endParaRPr lang="en-US" sz="1150" dirty="0"/>
          </a:p>
        </p:txBody>
      </p:sp>
      <p:sp>
        <p:nvSpPr>
          <p:cNvPr id="11" name="Shape 9"/>
          <p:cNvSpPr/>
          <p:nvPr/>
        </p:nvSpPr>
        <p:spPr>
          <a:xfrm>
            <a:off x="640080" y="2706624"/>
            <a:ext cx="10881360" cy="1005840"/>
          </a:xfrm>
          <a:prstGeom prst="roundRect">
            <a:avLst>
              <a:gd name="adj" fmla="val 4545"/>
            </a:avLst>
          </a:prstGeom>
          <a:solidFill>
            <a:srgbClr val="F4F6F7"/>
          </a:solidFill>
          <a:ln w="12700">
            <a:solidFill>
              <a:srgbClr val="D3DBDE"/>
            </a:solidFill>
            <a:prstDash val="solid"/>
          </a:ln>
        </p:spPr>
      </p:sp>
      <p:sp>
        <p:nvSpPr>
          <p:cNvPr id="12" name="Shape 10"/>
          <p:cNvSpPr/>
          <p:nvPr/>
        </p:nvSpPr>
        <p:spPr>
          <a:xfrm>
            <a:off x="868680" y="2871216"/>
            <a:ext cx="292608" cy="274320"/>
          </a:xfrm>
          <a:prstGeom prst="roundRect">
            <a:avLst>
              <a:gd name="adj" fmla="val 33333"/>
            </a:avLst>
          </a:prstGeom>
          <a:solidFill>
            <a:srgbClr val="5A6B73"/>
          </a:solidFill>
          <a:ln w="12700">
            <a:solidFill>
              <a:srgbClr val="5A6B73"/>
            </a:solidFill>
            <a:prstDash val="solid"/>
          </a:ln>
        </p:spPr>
      </p:sp>
      <p:sp>
        <p:nvSpPr>
          <p:cNvPr id="13" name="Text 11"/>
          <p:cNvSpPr/>
          <p:nvPr/>
        </p:nvSpPr>
        <p:spPr>
          <a:xfrm>
            <a:off x="868680" y="2871216"/>
            <a:ext cx="29260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1298448" y="2825496"/>
            <a:ext cx="5669280" cy="365760"/>
          </a:xfrm>
          <a:prstGeom prst="rect">
            <a:avLst/>
          </a:prstGeom>
          <a:noFill/>
          <a:ln/>
        </p:spPr>
        <p:txBody>
          <a:bodyPr wrap="square" lIns="0" tIns="0" rIns="0" bIns="0" rtlCol="0" anchor="ctr"/>
          <a:lstStyle/>
          <a:p>
            <a:pPr indent="0" marL="0">
              <a:buNone/>
            </a:pPr>
            <a:r>
              <a:rPr lang="en-US" sz="1400" b="1" dirty="0">
                <a:solidFill>
                  <a:srgbClr val="12303F"/>
                </a:solidFill>
                <a:latin typeface="Cambria" pitchFamily="34" charset="0"/>
                <a:ea typeface="Cambria" pitchFamily="34" charset="-122"/>
                <a:cs typeface="Cambria" pitchFamily="34" charset="-120"/>
              </a:rPr>
              <a:t>Some test queries have a second valid answer</a:t>
            </a:r>
            <a:endParaRPr lang="en-US" sz="1400" dirty="0"/>
          </a:p>
        </p:txBody>
      </p:sp>
      <p:sp>
        <p:nvSpPr>
          <p:cNvPr id="15" name="Text 13"/>
          <p:cNvSpPr/>
          <p:nvPr/>
        </p:nvSpPr>
        <p:spPr>
          <a:xfrm>
            <a:off x="1298448" y="3182112"/>
            <a:ext cx="9966960" cy="457200"/>
          </a:xfrm>
          <a:prstGeom prst="rect">
            <a:avLst/>
          </a:prstGeom>
          <a:noFill/>
          <a:ln/>
        </p:spPr>
        <p:txBody>
          <a:bodyPr wrap="square" lIns="0" tIns="0" rIns="0" bIns="0" rtlCol="0" anchor="ctr"/>
          <a:lstStyle/>
          <a:p>
            <a:pPr indent="0" marL="0">
              <a:buNone/>
            </a:pPr>
            <a:r>
              <a:rPr lang="en-US" sz="1150" dirty="0">
                <a:solidFill>
                  <a:srgbClr val="5A6B73"/>
                </a:solidFill>
                <a:latin typeface="Calibri" pitchFamily="34" charset="0"/>
                <a:ea typeface="Calibri" pitchFamily="34" charset="-122"/>
                <a:cs typeface="Calibri" pitchFamily="34" charset="-120"/>
              </a:rPr>
              <a:t>Near-duplicate queries straddling splits point at different passages by construction, so scoring counts a legitimate hit as a miss. This depresses absolute recall equally for every configuration — the comparison holds, the absolute numbers read low.</a:t>
            </a:r>
            <a:endParaRPr lang="en-US" sz="1150" dirty="0"/>
          </a:p>
        </p:txBody>
      </p:sp>
      <p:sp>
        <p:nvSpPr>
          <p:cNvPr id="16" name="Shape 14"/>
          <p:cNvSpPr/>
          <p:nvPr/>
        </p:nvSpPr>
        <p:spPr>
          <a:xfrm>
            <a:off x="640080" y="3840480"/>
            <a:ext cx="10881360" cy="1005840"/>
          </a:xfrm>
          <a:prstGeom prst="roundRect">
            <a:avLst>
              <a:gd name="adj" fmla="val 4545"/>
            </a:avLst>
          </a:prstGeom>
          <a:solidFill>
            <a:srgbClr val="FFFFFF"/>
          </a:solidFill>
          <a:ln w="12700">
            <a:solidFill>
              <a:srgbClr val="D3DBDE"/>
            </a:solidFill>
            <a:prstDash val="solid"/>
          </a:ln>
        </p:spPr>
      </p:sp>
      <p:sp>
        <p:nvSpPr>
          <p:cNvPr id="17" name="Shape 15"/>
          <p:cNvSpPr/>
          <p:nvPr/>
        </p:nvSpPr>
        <p:spPr>
          <a:xfrm>
            <a:off x="868680" y="4005072"/>
            <a:ext cx="292608" cy="274320"/>
          </a:xfrm>
          <a:prstGeom prst="roundRect">
            <a:avLst>
              <a:gd name="adj" fmla="val 33333"/>
            </a:avLst>
          </a:prstGeom>
          <a:solidFill>
            <a:srgbClr val="5A6B73"/>
          </a:solidFill>
          <a:ln w="12700">
            <a:solidFill>
              <a:srgbClr val="5A6B73"/>
            </a:solidFill>
            <a:prstDash val="solid"/>
          </a:ln>
        </p:spPr>
      </p:sp>
      <p:sp>
        <p:nvSpPr>
          <p:cNvPr id="18" name="Text 16"/>
          <p:cNvSpPr/>
          <p:nvPr/>
        </p:nvSpPr>
        <p:spPr>
          <a:xfrm>
            <a:off x="868680" y="4005072"/>
            <a:ext cx="29260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1298448" y="3959352"/>
            <a:ext cx="5669280" cy="365760"/>
          </a:xfrm>
          <a:prstGeom prst="rect">
            <a:avLst/>
          </a:prstGeom>
          <a:noFill/>
          <a:ln/>
        </p:spPr>
        <p:txBody>
          <a:bodyPr wrap="square" lIns="0" tIns="0" rIns="0" bIns="0" rtlCol="0" anchor="ctr"/>
          <a:lstStyle/>
          <a:p>
            <a:pPr indent="0" marL="0">
              <a:buNone/>
            </a:pPr>
            <a:r>
              <a:rPr lang="en-US" sz="1400" b="1" dirty="0">
                <a:solidFill>
                  <a:srgbClr val="12303F"/>
                </a:solidFill>
                <a:latin typeface="Cambria" pitchFamily="34" charset="0"/>
                <a:ea typeface="Cambria" pitchFamily="34" charset="-122"/>
                <a:cs typeface="Cambria" pitchFamily="34" charset="-120"/>
              </a:rPr>
              <a:t>Synthetic queries, real passages</a:t>
            </a:r>
            <a:endParaRPr lang="en-US" sz="1400" dirty="0"/>
          </a:p>
        </p:txBody>
      </p:sp>
      <p:sp>
        <p:nvSpPr>
          <p:cNvPr id="20" name="Text 18"/>
          <p:cNvSpPr/>
          <p:nvPr/>
        </p:nvSpPr>
        <p:spPr>
          <a:xfrm>
            <a:off x="1298448" y="4315968"/>
            <a:ext cx="9966960" cy="457200"/>
          </a:xfrm>
          <a:prstGeom prst="rect">
            <a:avLst/>
          </a:prstGeom>
          <a:noFill/>
          <a:ln/>
        </p:spPr>
        <p:txBody>
          <a:bodyPr wrap="square" lIns="0" tIns="0" rIns="0" bIns="0" rtlCol="0" anchor="ctr"/>
          <a:lstStyle/>
          <a:p>
            <a:pPr indent="0" marL="0">
              <a:buNone/>
            </a:pPr>
            <a:r>
              <a:rPr lang="en-US" sz="1150" dirty="0">
                <a:solidFill>
                  <a:srgbClr val="5A6B73"/>
                </a:solidFill>
                <a:latin typeface="Calibri" pitchFamily="34" charset="0"/>
                <a:ea typeface="Calibri" pitchFamily="34" charset="-122"/>
                <a:cs typeface="Calibri" pitchFamily="34" charset="-120"/>
              </a:rPr>
              <a:t>Queries were generated by LLaMA 3.1 70B, not written by clinicians. The passages are real clinical text; the information needs are modelled.</a:t>
            </a:r>
            <a:endParaRPr lang="en-US" sz="1150" dirty="0"/>
          </a:p>
        </p:txBody>
      </p:sp>
      <p:sp>
        <p:nvSpPr>
          <p:cNvPr id="21" name="Shape 19"/>
          <p:cNvSpPr/>
          <p:nvPr/>
        </p:nvSpPr>
        <p:spPr>
          <a:xfrm>
            <a:off x="640080" y="4974336"/>
            <a:ext cx="10881360" cy="1005840"/>
          </a:xfrm>
          <a:prstGeom prst="roundRect">
            <a:avLst>
              <a:gd name="adj" fmla="val 4545"/>
            </a:avLst>
          </a:prstGeom>
          <a:solidFill>
            <a:srgbClr val="F4F6F7"/>
          </a:solidFill>
          <a:ln w="12700">
            <a:solidFill>
              <a:srgbClr val="D3DBDE"/>
            </a:solidFill>
            <a:prstDash val="solid"/>
          </a:ln>
        </p:spPr>
      </p:sp>
      <p:sp>
        <p:nvSpPr>
          <p:cNvPr id="22" name="Shape 20"/>
          <p:cNvSpPr/>
          <p:nvPr/>
        </p:nvSpPr>
        <p:spPr>
          <a:xfrm>
            <a:off x="868680" y="5138928"/>
            <a:ext cx="292608" cy="274320"/>
          </a:xfrm>
          <a:prstGeom prst="roundRect">
            <a:avLst>
              <a:gd name="adj" fmla="val 33333"/>
            </a:avLst>
          </a:prstGeom>
          <a:solidFill>
            <a:srgbClr val="5A6B73"/>
          </a:solidFill>
          <a:ln w="12700">
            <a:solidFill>
              <a:srgbClr val="5A6B73"/>
            </a:solidFill>
            <a:prstDash val="solid"/>
          </a:ln>
        </p:spPr>
      </p:sp>
      <p:sp>
        <p:nvSpPr>
          <p:cNvPr id="23" name="Text 21"/>
          <p:cNvSpPr/>
          <p:nvPr/>
        </p:nvSpPr>
        <p:spPr>
          <a:xfrm>
            <a:off x="868680" y="5138928"/>
            <a:ext cx="29260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1298448" y="5093208"/>
            <a:ext cx="5669280" cy="365760"/>
          </a:xfrm>
          <a:prstGeom prst="rect">
            <a:avLst/>
          </a:prstGeom>
          <a:noFill/>
          <a:ln/>
        </p:spPr>
        <p:txBody>
          <a:bodyPr wrap="square" lIns="0" tIns="0" rIns="0" bIns="0" rtlCol="0" anchor="ctr"/>
          <a:lstStyle/>
          <a:p>
            <a:pPr indent="0" marL="0">
              <a:buNone/>
            </a:pPr>
            <a:r>
              <a:rPr lang="en-US" sz="1400" b="1" dirty="0">
                <a:solidFill>
                  <a:srgbClr val="12303F"/>
                </a:solidFill>
                <a:latin typeface="Cambria" pitchFamily="34" charset="0"/>
                <a:ea typeface="Cambria" pitchFamily="34" charset="-122"/>
                <a:cs typeface="Cambria" pitchFamily="34" charset="-120"/>
              </a:rPr>
              <a:t>One judge, one threshold</a:t>
            </a:r>
            <a:endParaRPr lang="en-US" sz="1400" dirty="0"/>
          </a:p>
        </p:txBody>
      </p:sp>
      <p:sp>
        <p:nvSpPr>
          <p:cNvPr id="25" name="Text 23"/>
          <p:cNvSpPr/>
          <p:nvPr/>
        </p:nvSpPr>
        <p:spPr>
          <a:xfrm>
            <a:off x="1298448" y="5449824"/>
            <a:ext cx="9966960" cy="457200"/>
          </a:xfrm>
          <a:prstGeom prst="rect">
            <a:avLst/>
          </a:prstGeom>
          <a:noFill/>
          <a:ln/>
        </p:spPr>
        <p:txBody>
          <a:bodyPr wrap="square" lIns="0" tIns="0" rIns="0" bIns="0" rtlCol="0" anchor="ctr"/>
          <a:lstStyle/>
          <a:p>
            <a:pPr indent="0" marL="0">
              <a:buNone/>
            </a:pPr>
            <a:r>
              <a:rPr lang="en-US" sz="1150" dirty="0">
                <a:solidFill>
                  <a:srgbClr val="5A6B73"/>
                </a:solidFill>
                <a:latin typeface="Calibri" pitchFamily="34" charset="0"/>
                <a:ea typeface="Calibri" pitchFamily="34" charset="-122"/>
                <a:cs typeface="Calibri" pitchFamily="34" charset="-120"/>
              </a:rPr>
              <a:t>Faithfulness rests on a single NLI model at a validated threshold. We report kappa against human labels so the reader can discount accordingly.</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303F"/>
        </a:solidFill>
      </p:bgPr>
    </p:bg>
    <p:spTree>
      <p:nvGrpSpPr>
        <p:cNvPr id="1" name=""/>
        <p:cNvGrpSpPr/>
        <p:nvPr/>
      </p:nvGrpSpPr>
      <p:grpSpPr>
        <a:xfrm>
          <a:off x="0" y="0"/>
          <a:ext cx="0" cy="0"/>
          <a:chOff x="0" y="0"/>
          <a:chExt cx="0" cy="0"/>
        </a:xfrm>
      </p:grpSpPr>
      <p:sp>
        <p:nvSpPr>
          <p:cNvPr id="2" name="Text 0"/>
          <p:cNvSpPr/>
          <p:nvPr/>
        </p:nvSpPr>
        <p:spPr>
          <a:xfrm>
            <a:off x="10698480" y="6355080"/>
            <a:ext cx="822960" cy="274320"/>
          </a:xfrm>
          <a:prstGeom prst="rect">
            <a:avLst/>
          </a:prstGeom>
          <a:noFill/>
          <a:ln/>
        </p:spPr>
        <p:txBody>
          <a:bodyPr wrap="square" lIns="0" tIns="0" rIns="0" bIns="0" rtlCol="0" anchor="ctr"/>
          <a:lstStyle/>
          <a:p>
            <a:pPr algn="r" indent="0" marL="0">
              <a:buNone/>
            </a:pPr>
            <a:r>
              <a:rPr lang="en-US" sz="950" dirty="0">
                <a:solidFill>
                  <a:srgbClr val="6F8894"/>
                </a:solidFill>
                <a:latin typeface="Calibri" pitchFamily="34" charset="0"/>
                <a:ea typeface="Calibri" pitchFamily="34" charset="-122"/>
                <a:cs typeface="Calibri" pitchFamily="34" charset="-120"/>
              </a:rPr>
              <a:t>23 / 23</a:t>
            </a:r>
            <a:endParaRPr lang="en-US" sz="950" dirty="0"/>
          </a:p>
        </p:txBody>
      </p:sp>
      <p:sp>
        <p:nvSpPr>
          <p:cNvPr id="3" name="Text 1"/>
          <p:cNvSpPr/>
          <p:nvPr/>
        </p:nvSpPr>
        <p:spPr>
          <a:xfrm>
            <a:off x="914400" y="914400"/>
            <a:ext cx="7315200" cy="274320"/>
          </a:xfrm>
          <a:prstGeom prst="rect">
            <a:avLst/>
          </a:prstGeom>
          <a:noFill/>
          <a:ln/>
        </p:spPr>
        <p:txBody>
          <a:bodyPr wrap="square" lIns="0" tIns="0" rIns="0" bIns="0" rtlCol="0" anchor="ctr"/>
          <a:lstStyle/>
          <a:p>
            <a:pPr indent="0" marL="0">
              <a:buNone/>
            </a:pPr>
            <a:r>
              <a:rPr lang="en-US" sz="1100" b="1" spc="250" kern="0" dirty="0">
                <a:solidFill>
                  <a:srgbClr val="D6EAE9"/>
                </a:solidFill>
                <a:latin typeface="Calibri" pitchFamily="34" charset="0"/>
                <a:ea typeface="Calibri" pitchFamily="34" charset="-122"/>
                <a:cs typeface="Calibri" pitchFamily="34" charset="-120"/>
              </a:rPr>
              <a:t>7. CONCLUSION</a:t>
            </a:r>
            <a:endParaRPr lang="en-US" sz="1100" dirty="0"/>
          </a:p>
        </p:txBody>
      </p:sp>
      <p:sp>
        <p:nvSpPr>
          <p:cNvPr id="4" name="Text 2"/>
          <p:cNvSpPr/>
          <p:nvPr/>
        </p:nvSpPr>
        <p:spPr>
          <a:xfrm>
            <a:off x="914400" y="1280160"/>
            <a:ext cx="91440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Conclusions and Future Work</a:t>
            </a:r>
            <a:endParaRPr lang="en-US" sz="3800" dirty="0"/>
          </a:p>
        </p:txBody>
      </p:sp>
      <p:sp>
        <p:nvSpPr>
          <p:cNvPr id="5" name="Shape 3"/>
          <p:cNvSpPr/>
          <p:nvPr/>
        </p:nvSpPr>
        <p:spPr>
          <a:xfrm>
            <a:off x="914400" y="2340864"/>
            <a:ext cx="310896" cy="274320"/>
          </a:xfrm>
          <a:prstGeom prst="roundRect">
            <a:avLst>
              <a:gd name="adj" fmla="val 33333"/>
            </a:avLst>
          </a:prstGeom>
          <a:solidFill>
            <a:srgbClr val="0E7C7B"/>
          </a:solidFill>
          <a:ln w="12700">
            <a:solidFill>
              <a:srgbClr val="0E7C7B"/>
            </a:solidFill>
            <a:prstDash val="solid"/>
          </a:ln>
        </p:spPr>
      </p:sp>
      <p:sp>
        <p:nvSpPr>
          <p:cNvPr id="6" name="Text 4"/>
          <p:cNvSpPr/>
          <p:nvPr/>
        </p:nvSpPr>
        <p:spPr>
          <a:xfrm>
            <a:off x="914400" y="2340864"/>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371600" y="2286000"/>
            <a:ext cx="49377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Retrieval gain is the easy half</a:t>
            </a:r>
            <a:endParaRPr lang="en-US" sz="1550" dirty="0"/>
          </a:p>
        </p:txBody>
      </p:sp>
      <p:sp>
        <p:nvSpPr>
          <p:cNvPr id="8" name="Text 6"/>
          <p:cNvSpPr/>
          <p:nvPr/>
        </p:nvSpPr>
        <p:spPr>
          <a:xfrm>
            <a:off x="6446520" y="2267712"/>
            <a:ext cx="4800600" cy="731520"/>
          </a:xfrm>
          <a:prstGeom prst="rect">
            <a:avLst/>
          </a:prstGeom>
          <a:noFill/>
          <a:ln/>
        </p:spPr>
        <p:txBody>
          <a:bodyPr wrap="square" lIns="0" tIns="0" rIns="0" bIns="0" rtlCol="0" anchor="ctr"/>
          <a:lstStyle/>
          <a:p>
            <a:pPr indent="0" marL="0">
              <a:buNone/>
            </a:pPr>
            <a:r>
              <a:rPr lang="en-US" sz="1200" dirty="0">
                <a:solidFill>
                  <a:srgbClr val="AFC4CC"/>
                </a:solidFill>
                <a:latin typeface="Calibri" pitchFamily="34" charset="0"/>
                <a:ea typeface="Calibri" pitchFamily="34" charset="-122"/>
                <a:cs typeface="Calibri" pitchFamily="34" charset="-120"/>
              </a:rPr>
              <a:t>Domain adaptation improves in-domain retrieval, and we can point at the abbreviations where it happens.</a:t>
            </a:r>
            <a:endParaRPr lang="en-US" sz="1200" dirty="0"/>
          </a:p>
        </p:txBody>
      </p:sp>
      <p:sp>
        <p:nvSpPr>
          <p:cNvPr id="9" name="Shape 7"/>
          <p:cNvSpPr/>
          <p:nvPr/>
        </p:nvSpPr>
        <p:spPr>
          <a:xfrm>
            <a:off x="914400" y="3300984"/>
            <a:ext cx="310896" cy="274320"/>
          </a:xfrm>
          <a:prstGeom prst="roundRect">
            <a:avLst>
              <a:gd name="adj" fmla="val 33333"/>
            </a:avLst>
          </a:prstGeom>
          <a:solidFill>
            <a:srgbClr val="0E7C7B"/>
          </a:solidFill>
          <a:ln w="12700">
            <a:solidFill>
              <a:srgbClr val="0E7C7B"/>
            </a:solidFill>
            <a:prstDash val="solid"/>
          </a:ln>
        </p:spPr>
      </p:sp>
      <p:sp>
        <p:nvSpPr>
          <p:cNvPr id="10" name="Text 8"/>
          <p:cNvSpPr/>
          <p:nvPr/>
        </p:nvSpPr>
        <p:spPr>
          <a:xfrm>
            <a:off x="914400" y="3300984"/>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1371600" y="3246120"/>
            <a:ext cx="49377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The downstream question is the interesting one</a:t>
            </a:r>
            <a:endParaRPr lang="en-US" sz="1550" dirty="0"/>
          </a:p>
        </p:txBody>
      </p:sp>
      <p:sp>
        <p:nvSpPr>
          <p:cNvPr id="12" name="Text 10"/>
          <p:cNvSpPr/>
          <p:nvPr/>
        </p:nvSpPr>
        <p:spPr>
          <a:xfrm>
            <a:off x="6446520" y="3227832"/>
            <a:ext cx="4800600" cy="731520"/>
          </a:xfrm>
          <a:prstGeom prst="rect">
            <a:avLst/>
          </a:prstGeom>
          <a:noFill/>
          <a:ln/>
        </p:spPr>
        <p:txBody>
          <a:bodyPr wrap="square" lIns="0" tIns="0" rIns="0" bIns="0" rtlCol="0" anchor="ctr"/>
          <a:lstStyle/>
          <a:p>
            <a:pPr indent="0" marL="0">
              <a:buNone/>
            </a:pPr>
            <a:r>
              <a:rPr lang="en-US" sz="1200" dirty="0">
                <a:solidFill>
                  <a:srgbClr val="AFC4CC"/>
                </a:solidFill>
                <a:latin typeface="Calibri" pitchFamily="34" charset="0"/>
                <a:ea typeface="Calibri" pitchFamily="34" charset="-122"/>
                <a:cs typeface="Calibri" pitchFamily="34" charset="-120"/>
              </a:rPr>
              <a:t>Whether that gain reaches the user is a separate empirical question, and abstention is what decides how to read the answer.</a:t>
            </a:r>
            <a:endParaRPr lang="en-US" sz="1200" dirty="0"/>
          </a:p>
        </p:txBody>
      </p:sp>
      <p:sp>
        <p:nvSpPr>
          <p:cNvPr id="13" name="Shape 11"/>
          <p:cNvSpPr/>
          <p:nvPr/>
        </p:nvSpPr>
        <p:spPr>
          <a:xfrm>
            <a:off x="914400" y="4261104"/>
            <a:ext cx="310896" cy="274320"/>
          </a:xfrm>
          <a:prstGeom prst="roundRect">
            <a:avLst>
              <a:gd name="adj" fmla="val 33333"/>
            </a:avLst>
          </a:prstGeom>
          <a:solidFill>
            <a:srgbClr val="0E7C7B"/>
          </a:solidFill>
          <a:ln w="12700">
            <a:solidFill>
              <a:srgbClr val="0E7C7B"/>
            </a:solidFill>
            <a:prstDash val="solid"/>
          </a:ln>
        </p:spPr>
      </p:sp>
      <p:sp>
        <p:nvSpPr>
          <p:cNvPr id="14" name="Text 12"/>
          <p:cNvSpPr/>
          <p:nvPr/>
        </p:nvSpPr>
        <p:spPr>
          <a:xfrm>
            <a:off x="914400" y="4261104"/>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371600" y="4206240"/>
            <a:ext cx="49377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Thresholds belong to the data</a:t>
            </a:r>
            <a:endParaRPr lang="en-US" sz="1550" dirty="0"/>
          </a:p>
        </p:txBody>
      </p:sp>
      <p:sp>
        <p:nvSpPr>
          <p:cNvPr id="16" name="Text 14"/>
          <p:cNvSpPr/>
          <p:nvPr/>
        </p:nvSpPr>
        <p:spPr>
          <a:xfrm>
            <a:off x="6446520" y="4187952"/>
            <a:ext cx="4800600" cy="731520"/>
          </a:xfrm>
          <a:prstGeom prst="rect">
            <a:avLst/>
          </a:prstGeom>
          <a:noFill/>
          <a:ln/>
        </p:spPr>
        <p:txBody>
          <a:bodyPr wrap="square" lIns="0" tIns="0" rIns="0" bIns="0" rtlCol="0" anchor="ctr"/>
          <a:lstStyle/>
          <a:p>
            <a:pPr indent="0" marL="0">
              <a:buNone/>
            </a:pPr>
            <a:r>
              <a:rPr lang="en-US" sz="1200" dirty="0">
                <a:solidFill>
                  <a:srgbClr val="AFC4CC"/>
                </a:solidFill>
                <a:latin typeface="Calibri" pitchFamily="34" charset="0"/>
                <a:ea typeface="Calibri" pitchFamily="34" charset="-122"/>
                <a:cs typeface="Calibri" pitchFamily="34" charset="-120"/>
              </a:rPr>
              <a:t>Every cut we made — 0.71, 0.95, minimum token count — was read off distributions, and every one is recorded in config and reproducible from a manifest.</a:t>
            </a:r>
            <a:endParaRPr lang="en-US" sz="1200" dirty="0"/>
          </a:p>
        </p:txBody>
      </p:sp>
      <p:sp>
        <p:nvSpPr>
          <p:cNvPr id="17" name="Shape 15"/>
          <p:cNvSpPr/>
          <p:nvPr/>
        </p:nvSpPr>
        <p:spPr>
          <a:xfrm>
            <a:off x="914400" y="5221224"/>
            <a:ext cx="310896" cy="274320"/>
          </a:xfrm>
          <a:prstGeom prst="roundRect">
            <a:avLst>
              <a:gd name="adj" fmla="val 33333"/>
            </a:avLst>
          </a:prstGeom>
          <a:solidFill>
            <a:srgbClr val="0E7C7B"/>
          </a:solidFill>
          <a:ln w="12700">
            <a:solidFill>
              <a:srgbClr val="0E7C7B"/>
            </a:solidFill>
            <a:prstDash val="solid"/>
          </a:ln>
        </p:spPr>
      </p:sp>
      <p:sp>
        <p:nvSpPr>
          <p:cNvPr id="18" name="Text 16"/>
          <p:cNvSpPr/>
          <p:nvPr/>
        </p:nvSpPr>
        <p:spPr>
          <a:xfrm>
            <a:off x="914400" y="5221224"/>
            <a:ext cx="310896"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7"/>
          <p:cNvSpPr/>
          <p:nvPr/>
        </p:nvSpPr>
        <p:spPr>
          <a:xfrm>
            <a:off x="1371600" y="5166360"/>
            <a:ext cx="4937760" cy="36576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It drops into production unchanged</a:t>
            </a:r>
            <a:endParaRPr lang="en-US" sz="1550" dirty="0"/>
          </a:p>
        </p:txBody>
      </p:sp>
      <p:sp>
        <p:nvSpPr>
          <p:cNvPr id="20" name="Text 18"/>
          <p:cNvSpPr/>
          <p:nvPr/>
        </p:nvSpPr>
        <p:spPr>
          <a:xfrm>
            <a:off x="6446520" y="5148072"/>
            <a:ext cx="4800600" cy="731520"/>
          </a:xfrm>
          <a:prstGeom prst="rect">
            <a:avLst/>
          </a:prstGeom>
          <a:noFill/>
          <a:ln/>
        </p:spPr>
        <p:txBody>
          <a:bodyPr wrap="square" lIns="0" tIns="0" rIns="0" bIns="0" rtlCol="0" anchor="ctr"/>
          <a:lstStyle/>
          <a:p>
            <a:pPr indent="0" marL="0">
              <a:buNone/>
            </a:pPr>
            <a:r>
              <a:rPr lang="en-US" sz="1200" dirty="0">
                <a:solidFill>
                  <a:srgbClr val="AFC4CC"/>
                </a:solidFill>
                <a:latin typeface="Calibri" pitchFamily="34" charset="0"/>
                <a:ea typeface="Calibri" pitchFamily="34" charset="-122"/>
                <a:cs typeface="Calibri" pitchFamily="34" charset="-120"/>
              </a:rPr>
              <a:t>Same dimension, same metric, same collection contract, reranking inside the access filter.</a:t>
            </a:r>
            <a:endParaRPr lang="en-US" sz="1200" dirty="0"/>
          </a:p>
        </p:txBody>
      </p:sp>
      <p:sp>
        <p:nvSpPr>
          <p:cNvPr id="21" name="Text 19"/>
          <p:cNvSpPr/>
          <p:nvPr/>
        </p:nvSpPr>
        <p:spPr>
          <a:xfrm>
            <a:off x="914400" y="6126480"/>
            <a:ext cx="7315200" cy="365760"/>
          </a:xfrm>
          <a:prstGeom prst="rect">
            <a:avLst/>
          </a:prstGeom>
          <a:noFill/>
          <a:ln/>
        </p:spPr>
        <p:txBody>
          <a:bodyPr wrap="square" lIns="0" tIns="0" rIns="0" bIns="0" rtlCol="0" anchor="ctr"/>
          <a:lstStyle/>
          <a:p>
            <a:pPr indent="0" marL="0">
              <a:buNone/>
            </a:pPr>
            <a:r>
              <a:rPr lang="en-US" sz="1400" b="1" dirty="0">
                <a:solidFill>
                  <a:srgbClr val="D6EAE9"/>
                </a:solidFill>
                <a:latin typeface="Calibri" pitchFamily="34" charset="0"/>
                <a:ea typeface="Calibri" pitchFamily="34" charset="-122"/>
                <a:cs typeface="Calibri" pitchFamily="34" charset="-120"/>
              </a:rPr>
              <a:t>Thank you —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2026-08-10T16:53:47Z</dcterms:created>
  <dcterms:modified xsi:type="dcterms:W3CDTF">2026-08-10T16:53:47Z</dcterms:modified>
</cp:coreProperties>
</file>